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12192000" cy="6858000"/>
  <p:embeddedFontLst>
    <p:embeddedFont>
      <p:font typeface="Liter"/>
      <p:regular r:id="rId29"/>
    </p:embeddedFont>
    <p:embeddedFont>
      <p:font typeface="Quattrocento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8E2E27-CC16-46E3-9E23-D9872AA83DDE}">
  <a:tblStyle styleId="{268E2E27-CC16-46E3-9E23-D9872AA83D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i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.fntdata"/><Relationship Id="rId30" Type="http://schemas.openxmlformats.org/officeDocument/2006/relationships/font" Target="fonts/QuattrocentoSans-regular.fntdata"/><Relationship Id="rId11" Type="http://schemas.openxmlformats.org/officeDocument/2006/relationships/slide" Target="slides/slide6.xml"/><Relationship Id="rId33" Type="http://schemas.openxmlformats.org/officeDocument/2006/relationships/font" Target="fonts/QuattrocentoSans-boldItalic.fntdata"/><Relationship Id="rId10" Type="http://schemas.openxmlformats.org/officeDocument/2006/relationships/slide" Target="slides/slide5.xml"/><Relationship Id="rId32" Type="http://schemas.openxmlformats.org/officeDocument/2006/relationships/font" Target="fonts/Quattrocento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support.microsoft.com/en-us/windows/common-file-name-extensions-in-windows-da4a4430-8e76-89c5-59f7-1cdbbc75cb0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upport.microsoft.com/en-us/windows/common-file-name-extensions-in-windows-da4a4430-8e76-89c5-59f7-1cdbbc75cb01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upport.microsoft.com/en-us/windows/common-file-name-extensions-in-windows-da4a4430-8e76-89c5-59f7-1cdbbc75cb0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earn.microsoft.com/en-us/windows/win32/shell/fa-file-type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arn.microsoft.com/en-us/windows/win32/fileio/naming-a-fil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n-us/troubleshoot/windows-server/backup-and-storage/cannot-delete-file-folder-on-ntfs-file-system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arn.microsoft.com/en-us/windows-server/administration/windows-commands/attrib" TargetMode="External"/><Relationship Id="rId4" Type="http://schemas.openxmlformats.org/officeDocument/2006/relationships/hyperlink" Target="https://learn.microsoft.com/en-us/windows-server/administration/windows-commands/icacl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learn.microsoft.com/en-us/windows-server/storage/disk-management/overview-of-disk-managemen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arn.microsoft.com/en-us/windows-server/storage/file-server/ntfs-overview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arn.microsoft.com/en-us/windows/win32/fileio/naming-a-fil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upport.microsoft.com/en-us/windows/hardware/safely-remove-hardware-in-window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learn.microsoft.com/en-us/windows-server/administration/windows-commands/windows-command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earn.microsoft.com/en-us/powershell/scripting/overview?view=powershell-7.5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learn.microsoft.com/en-us/windows-server/administration/windows-commands/windows-commands" TargetMode="External"/><Relationship Id="rId4" Type="http://schemas.openxmlformats.org/officeDocument/2006/relationships/hyperlink" Target="https://learn.microsoft.com/en-us/powershell/module/microsoft.powershell.management/?view=powershell-7.5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earn.microsoft.com" TargetMode="External"/><Relationship Id="rId4" Type="http://schemas.openxmlformats.org/officeDocument/2006/relationships/hyperlink" Target="https://www.professormesser.com/free-a-plus-training/220-1102/220-1102-video/220-1102-training-course/" TargetMode="External"/><Relationship Id="rId5" Type="http://schemas.openxmlformats.org/officeDocument/2006/relationships/hyperlink" Target="https://www.comptia.org/certifications/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711200" y="4826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DATA SYSTEMS ADMINISTRATOR · ENTRY-LEVEL COURSE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2" name="Google Shape;12;p3"/>
          <p:cNvSpPr txBox="1"/>
          <p:nvPr/>
        </p:nvSpPr>
        <p:spPr>
          <a:xfrm>
            <a:off x="660400" y="914400"/>
            <a:ext cx="6858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WINDOWS</a:t>
            </a:r>
            <a:endParaRPr b="0" i="0" sz="5900" u="none" cap="none" strike="noStrike"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FUNDAMENTALS</a:t>
            </a:r>
            <a:endParaRPr b="0" i="0" sz="5900" u="none" cap="none" strike="noStrike"/>
          </a:p>
        </p:txBody>
      </p:sp>
      <p:sp>
        <p:nvSpPr>
          <p:cNvPr id="13" name="Google Shape;13;p3"/>
          <p:cNvSpPr txBox="1"/>
          <p:nvPr/>
        </p:nvSpPr>
        <p:spPr>
          <a:xfrm>
            <a:off x="711200" y="3556000"/>
            <a:ext cx="54610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Files, folders, drives, paths —</a:t>
            </a:r>
            <a:endParaRPr b="0" i="0" sz="17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sng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your first commands.</a:t>
            </a:r>
            <a:endParaRPr b="0" i="0" sz="1700" u="none" cap="none" strike="noStrike"/>
          </a:p>
        </p:txBody>
      </p:sp>
      <p:sp>
        <p:nvSpPr>
          <p:cNvPr id="14" name="Google Shape;14;p3"/>
          <p:cNvSpPr txBox="1"/>
          <p:nvPr/>
        </p:nvSpPr>
        <p:spPr>
          <a:xfrm>
            <a:off x="711200" y="49276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4 TOPICS · 1 HANDS-ON LAB · 0 PREREQUISITES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5" name="Google Shape;15;p3"/>
          <p:cNvSpPr/>
          <p:nvPr/>
        </p:nvSpPr>
        <p:spPr>
          <a:xfrm>
            <a:off x="7302500" y="635000"/>
            <a:ext cx="4127500" cy="22860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9334500" y="2260600"/>
            <a:ext cx="2349500" cy="1714500"/>
          </a:xfrm>
          <a:custGeom>
            <a:rect b="b" l="l" r="r" t="t"/>
            <a:pathLst>
              <a:path extrusionOk="0" h="73" w="100">
                <a:moveTo>
                  <a:pt x="0" y="0"/>
                </a:moveTo>
                <a:lnTo>
                  <a:pt x="100" y="0"/>
                </a:lnTo>
                <a:lnTo>
                  <a:pt x="50" y="73"/>
                </a:lnTo>
                <a:close/>
              </a:path>
            </a:pathLst>
          </a:custGeom>
          <a:solidFill>
            <a:srgbClr val="2557D6"/>
          </a:solid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>
            <a:off x="7302500" y="2667000"/>
            <a:ext cx="2222500" cy="1270000"/>
          </a:xfrm>
          <a:prstGeom prst="ellipse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0642600" y="4140200"/>
            <a:ext cx="787400" cy="508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711200" y="64262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FOR RECENT HIGH-SCHOOL GRADUATES · NO EXPERIENCE NEEDED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  <p:sp>
        <p:nvSpPr>
          <p:cNvPr id="20" name="Google Shape;20;p3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/>
        </p:nvSpPr>
        <p:spPr>
          <a:xfrm>
            <a:off x="711200" y="482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COURSE MAP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6" name="Google Shape;26;p4"/>
          <p:cNvSpPr txBox="1"/>
          <p:nvPr/>
        </p:nvSpPr>
        <p:spPr>
          <a:xfrm>
            <a:off x="711200" y="787400"/>
            <a:ext cx="889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FOUR STOPS. ONE NEW SKILL.</a:t>
            </a:r>
            <a:br>
              <a:rPr b="1" i="0" lang="en-US" sz="4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000" u="none" cap="none" strike="noStrike"/>
          </a:p>
        </p:txBody>
      </p:sp>
      <p:sp>
        <p:nvSpPr>
          <p:cNvPr id="27" name="Google Shape;27;p4"/>
          <p:cNvSpPr txBox="1"/>
          <p:nvPr/>
        </p:nvSpPr>
        <p:spPr>
          <a:xfrm>
            <a:off x="711200" y="19304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b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200" u="none" cap="none" strike="noStrike"/>
          </a:p>
        </p:txBody>
      </p:sp>
      <p:sp>
        <p:nvSpPr>
          <p:cNvPr id="28" name="Google Shape;28;p4"/>
          <p:cNvSpPr txBox="1"/>
          <p:nvPr/>
        </p:nvSpPr>
        <p:spPr>
          <a:xfrm>
            <a:off x="1905000" y="19558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FILE TYPES</a:t>
            </a:r>
            <a:b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100" u="none" cap="none" strike="noStrike"/>
          </a:p>
        </p:txBody>
      </p:sp>
      <p:sp>
        <p:nvSpPr>
          <p:cNvPr id="29" name="Google Shape;29;p4"/>
          <p:cNvSpPr txBox="1"/>
          <p:nvPr/>
        </p:nvSpPr>
        <p:spPr>
          <a:xfrm>
            <a:off x="1905000" y="23622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 any file name and know what it will do.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30" name="Google Shape;30;p4"/>
          <p:cNvSpPr txBox="1"/>
          <p:nvPr/>
        </p:nvSpPr>
        <p:spPr>
          <a:xfrm>
            <a:off x="7620000" y="20574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skill · spot .exe, .zip, .iso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say what each is for</a:t>
            </a:r>
            <a:endParaRPr b="0" i="0" sz="1200" u="none" cap="none" strike="noStrike"/>
          </a:p>
        </p:txBody>
      </p:sp>
      <p:sp>
        <p:nvSpPr>
          <p:cNvPr id="31" name="Google Shape;31;p4"/>
          <p:cNvSpPr/>
          <p:nvPr/>
        </p:nvSpPr>
        <p:spPr>
          <a:xfrm>
            <a:off x="711200" y="28448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711200" y="31242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b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200" u="none" cap="none" strike="noStrike"/>
          </a:p>
        </p:txBody>
      </p:sp>
      <p:sp>
        <p:nvSpPr>
          <p:cNvPr id="33" name="Google Shape;33;p4"/>
          <p:cNvSpPr txBox="1"/>
          <p:nvPr/>
        </p:nvSpPr>
        <p:spPr>
          <a:xfrm>
            <a:off x="1905000" y="31496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FILES &amp; FOLDERS</a:t>
            </a:r>
            <a:b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100" u="none" cap="none" strike="noStrike"/>
          </a:p>
        </p:txBody>
      </p:sp>
      <p:sp>
        <p:nvSpPr>
          <p:cNvPr id="34" name="Google Shape;34;p4"/>
          <p:cNvSpPr txBox="1"/>
          <p:nvPr/>
        </p:nvSpPr>
        <p:spPr>
          <a:xfrm>
            <a:off x="1905000" y="3556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Create, name, move, and inspect anything.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35" name="Google Shape;35;p4"/>
          <p:cNvSpPr txBox="1"/>
          <p:nvPr/>
        </p:nvSpPr>
        <p:spPr>
          <a:xfrm>
            <a:off x="7620000" y="32512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skill · manage files by rule,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by guesswork</a:t>
            </a:r>
            <a:endParaRPr b="0" i="0" sz="1200" u="none" cap="none" strike="noStrike"/>
          </a:p>
        </p:txBody>
      </p:sp>
      <p:sp>
        <p:nvSpPr>
          <p:cNvPr id="36" name="Google Shape;36;p4"/>
          <p:cNvSpPr/>
          <p:nvPr/>
        </p:nvSpPr>
        <p:spPr>
          <a:xfrm>
            <a:off x="711200" y="40386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711200" y="43180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b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200" u="none" cap="none" strike="noStrike"/>
          </a:p>
        </p:txBody>
      </p:sp>
      <p:sp>
        <p:nvSpPr>
          <p:cNvPr id="38" name="Google Shape;38;p4"/>
          <p:cNvSpPr txBox="1"/>
          <p:nvPr/>
        </p:nvSpPr>
        <p:spPr>
          <a:xfrm>
            <a:off x="1905000" y="43434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DRIVES &amp; PATHS</a:t>
            </a:r>
            <a:b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100" u="none" cap="none" strike="noStrike"/>
          </a:p>
        </p:txBody>
      </p:sp>
      <p:sp>
        <p:nvSpPr>
          <p:cNvPr id="39" name="Google Shape;39;p4"/>
          <p:cNvSpPr txBox="1"/>
          <p:nvPr/>
        </p:nvSpPr>
        <p:spPr>
          <a:xfrm>
            <a:off x="1905000" y="47498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Navigate disks, USB sticks, and addresses.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40" name="Google Shape;40;p4"/>
          <p:cNvSpPr txBox="1"/>
          <p:nvPr/>
        </p:nvSpPr>
        <p:spPr>
          <a:xfrm>
            <a:off x="7620000" y="44450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skill · find any file fast and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eject media safely</a:t>
            </a:r>
            <a:endParaRPr b="0" i="0" sz="1200" u="none" cap="none" strike="noStrike"/>
          </a:p>
        </p:txBody>
      </p:sp>
      <p:sp>
        <p:nvSpPr>
          <p:cNvPr id="41" name="Google Shape;41;p4"/>
          <p:cNvSpPr/>
          <p:nvPr/>
        </p:nvSpPr>
        <p:spPr>
          <a:xfrm>
            <a:off x="711200" y="52324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711200" y="5511800"/>
            <a:ext cx="1016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br>
              <a:rPr b="1" i="0" lang="en-US" sz="4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200" u="none" cap="none" strike="noStrike"/>
          </a:p>
        </p:txBody>
      </p:sp>
      <p:sp>
        <p:nvSpPr>
          <p:cNvPr id="43" name="Google Shape;43;p4"/>
          <p:cNvSpPr txBox="1"/>
          <p:nvPr/>
        </p:nvSpPr>
        <p:spPr>
          <a:xfrm>
            <a:off x="1905000" y="5537200"/>
            <a:ext cx="508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COMMAND LINE</a:t>
            </a:r>
            <a:br>
              <a:rPr b="1" i="0" lang="en-US" sz="2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100" u="none" cap="none" strike="noStrike"/>
          </a:p>
        </p:txBody>
      </p:sp>
      <p:sp>
        <p:nvSpPr>
          <p:cNvPr id="44" name="Google Shape;44;p4"/>
          <p:cNvSpPr txBox="1"/>
          <p:nvPr/>
        </p:nvSpPr>
        <p:spPr>
          <a:xfrm>
            <a:off x="1905000" y="5943600"/>
            <a:ext cx="558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 your first CMD and PowerShell commands.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45" name="Google Shape;45;p4"/>
          <p:cNvSpPr txBox="1"/>
          <p:nvPr/>
        </p:nvSpPr>
        <p:spPr>
          <a:xfrm>
            <a:off x="7620000" y="5638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skill · do file jobs with dir, cd,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 — and a cmdlet</a:t>
            </a:r>
            <a:endParaRPr b="0" i="0" sz="1200" u="none" cap="none" strike="noStrike"/>
          </a:p>
        </p:txBody>
      </p:sp>
      <p:sp>
        <p:nvSpPr>
          <p:cNvPr id="46" name="Google Shape;46;p4"/>
          <p:cNvSpPr txBox="1"/>
          <p:nvPr/>
        </p:nvSpPr>
        <p:spPr>
          <a:xfrm>
            <a:off x="711200" y="6451600"/>
            <a:ext cx="330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WINDOWS FUNDAMENTALS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  <p:sp>
        <p:nvSpPr>
          <p:cNvPr id="47" name="Google Shape;47;p4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/>
        </p:nvSpPr>
        <p:spPr>
          <a:xfrm>
            <a:off x="711200" y="609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01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53" name="Google Shape;53;p5"/>
          <p:cNvSpPr txBox="1"/>
          <p:nvPr/>
        </p:nvSpPr>
        <p:spPr>
          <a:xfrm>
            <a:off x="609600" y="1397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01</a:t>
            </a:r>
            <a:b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6500" u="none" cap="none" strike="noStrike"/>
          </a:p>
        </p:txBody>
      </p:sp>
      <p:sp>
        <p:nvSpPr>
          <p:cNvPr id="54" name="Google Shape;54;p5"/>
          <p:cNvSpPr txBox="1"/>
          <p:nvPr/>
        </p:nvSpPr>
        <p:spPr>
          <a:xfrm>
            <a:off x="4064000" y="1778000"/>
            <a:ext cx="7366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UNDERSTANDING</a:t>
            </a:r>
            <a:endParaRPr b="0" i="0" sz="46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FILE TYPES</a:t>
            </a:r>
            <a:endParaRPr b="0" i="0" sz="4600" u="none" cap="none" strike="noStrike"/>
          </a:p>
        </p:txBody>
      </p:sp>
      <p:sp>
        <p:nvSpPr>
          <p:cNvPr id="55" name="Google Shape;55;p5"/>
          <p:cNvSpPr txBox="1"/>
          <p:nvPr/>
        </p:nvSpPr>
        <p:spPr>
          <a:xfrm>
            <a:off x="4089400" y="3683000"/>
            <a:ext cx="6604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.exe, .zip, and .iso actually mean —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why Windows reads the label before you do.</a:t>
            </a:r>
            <a:endParaRPr b="0" i="0" sz="1600" u="none" cap="none" strike="noStrike"/>
          </a:p>
        </p:txBody>
      </p:sp>
      <p:sp>
        <p:nvSpPr>
          <p:cNvPr id="56" name="Google Shape;56;p5"/>
          <p:cNvSpPr/>
          <p:nvPr/>
        </p:nvSpPr>
        <p:spPr>
          <a:xfrm>
            <a:off x="4089400" y="4724400"/>
            <a:ext cx="812800" cy="127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/>
        </p:nvSpPr>
        <p:spPr>
          <a:xfrm>
            <a:off x="711200" y="4826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01 · FILE TYPES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63" name="Google Shape;63;p6"/>
          <p:cNvSpPr txBox="1"/>
          <p:nvPr/>
        </p:nvSpPr>
        <p:spPr>
          <a:xfrm>
            <a:off x="711200" y="787400"/>
            <a:ext cx="1041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extension is a label Windows actually reads</a:t>
            </a:r>
            <a:br>
              <a:rPr b="1" i="0" lang="en-US" sz="3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300" u="none" cap="none" strike="noStrike"/>
          </a:p>
        </p:txBody>
      </p:sp>
      <p:sp>
        <p:nvSpPr>
          <p:cNvPr id="64" name="Google Shape;64;p6"/>
          <p:cNvSpPr txBox="1"/>
          <p:nvPr/>
        </p:nvSpPr>
        <p:spPr>
          <a:xfrm>
            <a:off x="1524000" y="1676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report</a:t>
            </a:r>
            <a:br>
              <a:rPr b="1" i="0" lang="en-US" sz="5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5400" u="none" cap="none" strike="noStrike"/>
          </a:p>
        </p:txBody>
      </p:sp>
      <p:sp>
        <p:nvSpPr>
          <p:cNvPr id="65" name="Google Shape;65;p6"/>
          <p:cNvSpPr txBox="1"/>
          <p:nvPr/>
        </p:nvSpPr>
        <p:spPr>
          <a:xfrm>
            <a:off x="4724400" y="1676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.docx</a:t>
            </a:r>
            <a:br>
              <a:rPr b="1" i="0" lang="en-US" sz="5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5400" u="none" cap="none" strike="noStrike"/>
          </a:p>
        </p:txBody>
      </p:sp>
      <p:sp>
        <p:nvSpPr>
          <p:cNvPr id="66" name="Google Shape;66;p6"/>
          <p:cNvSpPr txBox="1"/>
          <p:nvPr/>
        </p:nvSpPr>
        <p:spPr>
          <a:xfrm>
            <a:off x="1524000" y="2692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the name you choose</a:t>
            </a:r>
            <a:b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67" name="Google Shape;67;p6"/>
          <p:cNvSpPr txBox="1"/>
          <p:nvPr/>
        </p:nvSpPr>
        <p:spPr>
          <a:xfrm>
            <a:off x="4724400" y="2692400"/>
            <a:ext cx="330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the type Windows reads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68" name="Google Shape;68;p6"/>
          <p:cNvSpPr/>
          <p:nvPr/>
        </p:nvSpPr>
        <p:spPr>
          <a:xfrm>
            <a:off x="711200" y="32004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11200" y="35814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 txBox="1"/>
          <p:nvPr/>
        </p:nvSpPr>
        <p:spPr>
          <a:xfrm>
            <a:off x="1016000" y="34798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 uses the extension to pick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icon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you see and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 that opens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file when you double-click it.</a:t>
            </a:r>
            <a:endParaRPr b="0" i="0" sz="1500" u="none" cap="none" strike="noStrike"/>
          </a:p>
        </p:txBody>
      </p:sp>
      <p:sp>
        <p:nvSpPr>
          <p:cNvPr id="71" name="Google Shape;71;p6"/>
          <p:cNvSpPr/>
          <p:nvPr/>
        </p:nvSpPr>
        <p:spPr>
          <a:xfrm>
            <a:off x="711200" y="43180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 txBox="1"/>
          <p:nvPr/>
        </p:nvSpPr>
        <p:spPr>
          <a:xfrm>
            <a:off x="1016000" y="42164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Extensions are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hidden by default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Turn them on: File Explorer →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View → Show → File name extensions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5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711200" y="50546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1016000" y="49530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Renaming </a:t>
            </a:r>
            <a:r>
              <a:rPr b="0" i="1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holiday.zip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</a:t>
            </a:r>
            <a:r>
              <a:rPr b="0" i="1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holiday.exe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does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convert it. The inside of the file never changes.</a:t>
            </a:r>
            <a:endParaRPr b="0" i="0" sz="1500" u="none" cap="none" strike="noStrike"/>
          </a:p>
        </p:txBody>
      </p:sp>
      <p:sp>
        <p:nvSpPr>
          <p:cNvPr id="75" name="Google Shape;75;p6"/>
          <p:cNvSpPr/>
          <p:nvPr/>
        </p:nvSpPr>
        <p:spPr>
          <a:xfrm>
            <a:off x="711200" y="5791200"/>
            <a:ext cx="8382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711200" y="5791200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TRY IT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77" name="Google Shape;77;p6"/>
          <p:cNvSpPr txBox="1"/>
          <p:nvPr/>
        </p:nvSpPr>
        <p:spPr>
          <a:xfrm>
            <a:off x="1701800" y="57912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extensions on, then open your Downloads folder and look again.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78" name="Google Shape;78;p6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Support — Common file name extensions in Windows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(2025)</a:t>
            </a:r>
            <a:endParaRPr b="0" i="0" sz="1000" u="none" cap="none" strike="noStrike"/>
          </a:p>
        </p:txBody>
      </p:sp>
      <p:sp>
        <p:nvSpPr>
          <p:cNvPr id="79" name="Google Shape;79;p6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"/>
          <p:cNvSpPr txBox="1"/>
          <p:nvPr/>
        </p:nvSpPr>
        <p:spPr>
          <a:xfrm>
            <a:off x="711200" y="4826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01 · FILE TYPES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85" name="Google Shape;85;p7"/>
          <p:cNvSpPr txBox="1"/>
          <p:nvPr/>
        </p:nvSpPr>
        <p:spPr>
          <a:xfrm>
            <a:off x="711200" y="787400"/>
            <a:ext cx="635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THE USUAL SUSPECTS</a:t>
            </a:r>
            <a:br>
              <a:rPr b="1" i="0" lang="en-US" sz="40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000" u="none" cap="none" strike="noStrike"/>
          </a:p>
        </p:txBody>
      </p:sp>
      <p:sp>
        <p:nvSpPr>
          <p:cNvPr id="86" name="Google Shape;86;p7"/>
          <p:cNvSpPr txBox="1"/>
          <p:nvPr/>
        </p:nvSpPr>
        <p:spPr>
          <a:xfrm>
            <a:off x="711200" y="1498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families you will meet every day.</a:t>
            </a:r>
            <a:b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400" u="none" cap="none" strike="noStrike"/>
          </a:p>
        </p:txBody>
      </p:sp>
      <p:sp>
        <p:nvSpPr>
          <p:cNvPr id="87" name="Google Shape;87;p7"/>
          <p:cNvSpPr txBox="1"/>
          <p:nvPr/>
        </p:nvSpPr>
        <p:spPr>
          <a:xfrm>
            <a:off x="711200" y="21590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PROGRAMS</a:t>
            </a:r>
            <a:b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88" name="Google Shape;88;p7"/>
          <p:cNvSpPr txBox="1"/>
          <p:nvPr/>
        </p:nvSpPr>
        <p:spPr>
          <a:xfrm>
            <a:off x="711200" y="2489200"/>
            <a:ext cx="431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.exe</a:t>
            </a:r>
            <a:br>
              <a:rPr b="1" i="0" lang="en-US" sz="6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6600" u="none" cap="none" strike="noStrike"/>
          </a:p>
        </p:txBody>
      </p:sp>
      <p:sp>
        <p:nvSpPr>
          <p:cNvPr id="89" name="Google Shape;89;p7"/>
          <p:cNvSpPr txBox="1"/>
          <p:nvPr/>
        </p:nvSpPr>
        <p:spPr>
          <a:xfrm>
            <a:off x="711200" y="37084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.msi  .bat</a:t>
            </a:r>
            <a:br>
              <a:rPr b="1" i="0" lang="en-US" sz="2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200" u="none" cap="none" strike="noStrike"/>
          </a:p>
        </p:txBody>
      </p:sp>
      <p:sp>
        <p:nvSpPr>
          <p:cNvPr id="90" name="Google Shape;90;p7"/>
          <p:cNvSpPr txBox="1"/>
          <p:nvPr/>
        </p:nvSpPr>
        <p:spPr>
          <a:xfrm>
            <a:off x="711200" y="41910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They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</a:t>
            </a: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things — installers,</a:t>
            </a:r>
            <a:endParaRPr b="0" i="0" sz="1300" u="none" cap="none" strike="noStrike"/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apps, and command scripts.</a:t>
            </a:r>
            <a:endParaRPr b="0" i="0" sz="1300" u="none" cap="none" strike="noStrike"/>
          </a:p>
        </p:txBody>
      </p:sp>
      <p:sp>
        <p:nvSpPr>
          <p:cNvPr id="91" name="Google Shape;91;p7"/>
          <p:cNvSpPr txBox="1"/>
          <p:nvPr/>
        </p:nvSpPr>
        <p:spPr>
          <a:xfrm>
            <a:off x="711200" y="50546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CONTAINERS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92" name="Google Shape;92;p7"/>
          <p:cNvSpPr txBox="1"/>
          <p:nvPr/>
        </p:nvSpPr>
        <p:spPr>
          <a:xfrm>
            <a:off x="711200" y="5359400"/>
            <a:ext cx="45720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.zip  .rar  .iso  .cab</a:t>
            </a:r>
            <a:br>
              <a:rPr b="1" i="0" lang="en-US" sz="2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600" u="none" cap="none" strike="noStrike"/>
          </a:p>
        </p:txBody>
      </p:sp>
      <p:sp>
        <p:nvSpPr>
          <p:cNvPr id="93" name="Google Shape;93;p7"/>
          <p:cNvSpPr txBox="1"/>
          <p:nvPr/>
        </p:nvSpPr>
        <p:spPr>
          <a:xfrm>
            <a:off x="711200" y="58674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They pack things — open or extract first.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94" name="Google Shape;94;p7"/>
          <p:cNvSpPr/>
          <p:nvPr/>
        </p:nvSpPr>
        <p:spPr>
          <a:xfrm>
            <a:off x="5588000" y="2159000"/>
            <a:ext cx="25400" cy="39624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 txBox="1"/>
          <p:nvPr/>
        </p:nvSpPr>
        <p:spPr>
          <a:xfrm>
            <a:off x="6045200" y="2159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DOCUMENTS</a:t>
            </a:r>
            <a:b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96" name="Google Shape;96;p7"/>
          <p:cNvSpPr txBox="1"/>
          <p:nvPr/>
        </p:nvSpPr>
        <p:spPr>
          <a:xfrm>
            <a:off x="6045200" y="2489200"/>
            <a:ext cx="533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.txt  .csv  .pdf</a:t>
            </a:r>
            <a:endParaRPr b="0" i="0" sz="22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.docx  .xlsx  .pptx</a:t>
            </a:r>
            <a:endParaRPr b="0" i="0" sz="2200" u="none" cap="none" strike="noStrike"/>
          </a:p>
        </p:txBody>
      </p:sp>
      <p:sp>
        <p:nvSpPr>
          <p:cNvPr id="97" name="Google Shape;97;p7"/>
          <p:cNvSpPr txBox="1"/>
          <p:nvPr/>
        </p:nvSpPr>
        <p:spPr>
          <a:xfrm>
            <a:off x="6045200" y="34036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read and edit them — school and office staples.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98" name="Google Shape;98;p7"/>
          <p:cNvSpPr/>
          <p:nvPr/>
        </p:nvSpPr>
        <p:spPr>
          <a:xfrm>
            <a:off x="6045200" y="3835400"/>
            <a:ext cx="5435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 txBox="1"/>
          <p:nvPr/>
        </p:nvSpPr>
        <p:spPr>
          <a:xfrm>
            <a:off x="6045200" y="4064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MEDIA</a:t>
            </a:r>
            <a:br>
              <a:rPr b="1" i="0" lang="en-US" sz="1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00" name="Google Shape;100;p7"/>
          <p:cNvSpPr txBox="1"/>
          <p:nvPr/>
        </p:nvSpPr>
        <p:spPr>
          <a:xfrm>
            <a:off x="6045200" y="4368800"/>
            <a:ext cx="533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.jpg  .png  .mp3  .mp4</a:t>
            </a:r>
            <a:br>
              <a:rPr b="1" i="0" lang="en-US" sz="2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200" u="none" cap="none" strike="noStrike"/>
          </a:p>
        </p:txBody>
      </p:sp>
      <p:sp>
        <p:nvSpPr>
          <p:cNvPr id="101" name="Google Shape;101;p7"/>
          <p:cNvSpPr txBox="1"/>
          <p:nvPr/>
        </p:nvSpPr>
        <p:spPr>
          <a:xfrm>
            <a:off x="6045200" y="4826000"/>
            <a:ext cx="5334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watch and listen — photos, music, videos.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102" name="Google Shape;102;p7"/>
          <p:cNvSpPr/>
          <p:nvPr/>
        </p:nvSpPr>
        <p:spPr>
          <a:xfrm>
            <a:off x="6045200" y="5257800"/>
            <a:ext cx="5435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6045200" y="548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SYSTEM</a:t>
            </a:r>
            <a:br>
              <a:rPr b="1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04" name="Google Shape;104;p7"/>
          <p:cNvSpPr txBox="1"/>
          <p:nvPr/>
        </p:nvSpPr>
        <p:spPr>
          <a:xfrm>
            <a:off x="6045200" y="57912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.dll  .sys</a:t>
            </a:r>
            <a:br>
              <a:rPr b="1" i="0" lang="en-US" sz="2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2200" u="none" cap="none" strike="noStrike"/>
          </a:p>
        </p:txBody>
      </p:sp>
      <p:sp>
        <p:nvSpPr>
          <p:cNvPr id="105" name="Google Shape;105;p7"/>
          <p:cNvSpPr txBox="1"/>
          <p:nvPr/>
        </p:nvSpPr>
        <p:spPr>
          <a:xfrm>
            <a:off x="8382000" y="5816600"/>
            <a:ext cx="3098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Windows' own parts —</a:t>
            </a:r>
            <a:endParaRPr b="0" i="0" sz="13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leave them alone.</a:t>
            </a:r>
            <a:endParaRPr b="0" i="0" sz="1300" u="none" cap="none" strike="noStrike"/>
          </a:p>
        </p:txBody>
      </p:sp>
      <p:sp>
        <p:nvSpPr>
          <p:cNvPr id="106" name="Google Shape;106;p7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Support — Common file name extensions in Windows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(2025)</a:t>
            </a:r>
            <a:endParaRPr b="0" i="0" sz="1000" u="none" cap="none" strike="noStrike"/>
          </a:p>
        </p:txBody>
      </p:sp>
      <p:sp>
        <p:nvSpPr>
          <p:cNvPr id="107" name="Google Shape;107;p7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05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/>
        </p:nvSpPr>
        <p:spPr>
          <a:xfrm>
            <a:off x="711200" y="4826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01 · FILE TYPES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13" name="Google Shape;113;p8"/>
          <p:cNvSpPr txBox="1"/>
          <p:nvPr/>
        </p:nvSpPr>
        <p:spPr>
          <a:xfrm>
            <a:off x="711200" y="7874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.zip packs it small. .iso clones the whole disc.</a:t>
            </a:r>
            <a:b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200" u="none" cap="none" strike="noStrike"/>
          </a:p>
        </p:txBody>
      </p:sp>
      <p:sp>
        <p:nvSpPr>
          <p:cNvPr id="114" name="Google Shape;114;p8"/>
          <p:cNvSpPr txBox="1"/>
          <p:nvPr/>
        </p:nvSpPr>
        <p:spPr>
          <a:xfrm>
            <a:off x="711200" y="1778000"/>
            <a:ext cx="3810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.zip</a:t>
            </a:r>
            <a:br>
              <a:rPr b="1" i="0" lang="en-US" sz="6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6600" u="none" cap="none" strike="noStrike"/>
          </a:p>
        </p:txBody>
      </p:sp>
      <p:sp>
        <p:nvSpPr>
          <p:cNvPr id="115" name="Google Shape;115;p8"/>
          <p:cNvSpPr txBox="1"/>
          <p:nvPr/>
        </p:nvSpPr>
        <p:spPr>
          <a:xfrm>
            <a:off x="7112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THINK: A SUITCASE</a:t>
            </a:r>
            <a:b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116" name="Google Shape;116;p8"/>
          <p:cNvSpPr txBox="1"/>
          <p:nvPr/>
        </p:nvSpPr>
        <p:spPr>
          <a:xfrm>
            <a:off x="711200" y="3327400"/>
            <a:ext cx="4826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Squeezes files smaller so they are easier to store and send.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Extract first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right-click → Extract All before you actually use what is inside.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 opens .zip by itself; .rar needs an extra tool.</a:t>
            </a:r>
            <a:endParaRPr b="0" i="0" sz="1500" u="none" cap="none" strike="noStrike"/>
          </a:p>
        </p:txBody>
      </p:sp>
      <p:sp>
        <p:nvSpPr>
          <p:cNvPr id="117" name="Google Shape;117;p8"/>
          <p:cNvSpPr/>
          <p:nvPr/>
        </p:nvSpPr>
        <p:spPr>
          <a:xfrm>
            <a:off x="6070600" y="1905000"/>
            <a:ext cx="25400" cy="3175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6604000" y="1778000"/>
            <a:ext cx="3810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.iso</a:t>
            </a:r>
            <a:br>
              <a:rPr b="1" i="0" lang="en-US" sz="66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6600" u="none" cap="none" strike="noStrike"/>
          </a:p>
        </p:txBody>
      </p:sp>
      <p:sp>
        <p:nvSpPr>
          <p:cNvPr id="119" name="Google Shape;119;p8"/>
          <p:cNvSpPr txBox="1"/>
          <p:nvPr/>
        </p:nvSpPr>
        <p:spPr>
          <a:xfrm>
            <a:off x="66040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THINK: A PHOTOCOPY OF A WHOLE DISC</a:t>
            </a:r>
            <a:b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120" name="Google Shape;120;p8"/>
          <p:cNvSpPr txBox="1"/>
          <p:nvPr/>
        </p:nvSpPr>
        <p:spPr>
          <a:xfrm>
            <a:off x="6604000" y="3327400"/>
            <a:ext cx="48768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exact image of a CD or DVD, packed into one file.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Double-click to mount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Windows pretends it is a real disc drive with its own letter.</a:t>
            </a:r>
            <a:endParaRPr b="0" i="0" sz="15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is how Windows install media is usually shared.</a:t>
            </a:r>
            <a:endParaRPr b="0" i="0" sz="1500" u="none" cap="none" strike="noStrike"/>
          </a:p>
        </p:txBody>
      </p:sp>
      <p:sp>
        <p:nvSpPr>
          <p:cNvPr id="121" name="Google Shape;121;p8"/>
          <p:cNvSpPr/>
          <p:nvPr/>
        </p:nvSpPr>
        <p:spPr>
          <a:xfrm>
            <a:off x="711200" y="53086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711200" y="5537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Also in the family:</a:t>
            </a: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.cab — Microsoft's own "cabinet" archives, used for Windows updates and drivers. You will see them, but rarely open them yourself.</a:t>
            </a:r>
            <a:endParaRPr b="0" i="0" sz="1300" u="none" cap="none" strike="noStrike"/>
          </a:p>
        </p:txBody>
      </p:sp>
      <p:sp>
        <p:nvSpPr>
          <p:cNvPr id="123" name="Google Shape;123;p8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Support — Common file name extensions in Windows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(2025)</a:t>
            </a:r>
            <a:endParaRPr b="0" i="0" sz="1000" u="none" cap="none" strike="noStrike"/>
          </a:p>
        </p:txBody>
      </p:sp>
      <p:sp>
        <p:nvSpPr>
          <p:cNvPr id="124" name="Google Shape;124;p8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06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/>
        </p:nvSpPr>
        <p:spPr>
          <a:xfrm>
            <a:off x="711200" y="482600"/>
            <a:ext cx="4318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01 · FILE TYPES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30" name="Google Shape;130;p9"/>
          <p:cNvSpPr txBox="1"/>
          <p:nvPr/>
        </p:nvSpPr>
        <p:spPr>
          <a:xfrm>
            <a:off x="711200" y="787400"/>
            <a:ext cx="914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Double-click means "run this."</a:t>
            </a:r>
            <a:b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800" u="none" cap="none" strike="noStrike"/>
          </a:p>
        </p:txBody>
      </p:sp>
      <p:sp>
        <p:nvSpPr>
          <p:cNvPr id="131" name="Google Shape;131;p9"/>
          <p:cNvSpPr/>
          <p:nvPr/>
        </p:nvSpPr>
        <p:spPr>
          <a:xfrm>
            <a:off x="711200" y="18542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 txBox="1"/>
          <p:nvPr/>
        </p:nvSpPr>
        <p:spPr>
          <a:xfrm>
            <a:off x="1016000" y="17526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.exe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.msi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are programs and installers — when they open, they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things to the computer.</a:t>
            </a:r>
            <a:endParaRPr b="0" i="0" sz="1500" u="none" cap="none" strike="noStrike"/>
          </a:p>
        </p:txBody>
      </p:sp>
      <p:sp>
        <p:nvSpPr>
          <p:cNvPr id="133" name="Google Shape;133;p9"/>
          <p:cNvSpPr/>
          <p:nvPr/>
        </p:nvSpPr>
        <p:spPr>
          <a:xfrm>
            <a:off x="711200" y="25908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1016000" y="2489200"/>
            <a:ext cx="104648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.bat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.cmd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are scripts: plain text files full of commands that run one after another.</a:t>
            </a:r>
            <a:endParaRPr b="0" i="0" sz="1500" u="none" cap="none" strike="noStrike"/>
          </a:p>
        </p:txBody>
      </p:sp>
      <p:sp>
        <p:nvSpPr>
          <p:cNvPr id="135" name="Google Shape;135;p9"/>
          <p:cNvSpPr/>
          <p:nvPr/>
        </p:nvSpPr>
        <p:spPr>
          <a:xfrm>
            <a:off x="711200" y="32766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 txBox="1"/>
          <p:nvPr/>
        </p:nvSpPr>
        <p:spPr>
          <a:xfrm>
            <a:off x="711200" y="3530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THE CLASSIC TRICK</a:t>
            </a:r>
            <a:b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137" name="Google Shape;137;p9"/>
          <p:cNvSpPr txBox="1"/>
          <p:nvPr/>
        </p:nvSpPr>
        <p:spPr>
          <a:xfrm>
            <a:off x="711200" y="3886200"/>
            <a:ext cx="584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photo.jpg</a:t>
            </a:r>
            <a:r>
              <a:rPr b="1" i="0" lang="en-US" sz="2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.exe</a:t>
            </a:r>
            <a:endParaRPr b="0" i="0" sz="2600" u="none" cap="none" strike="noStrike"/>
          </a:p>
        </p:txBody>
      </p:sp>
      <p:sp>
        <p:nvSpPr>
          <p:cNvPr id="138" name="Google Shape;138;p9"/>
          <p:cNvSpPr txBox="1"/>
          <p:nvPr/>
        </p:nvSpPr>
        <p:spPr>
          <a:xfrm>
            <a:off x="711200" y="4521200"/>
            <a:ext cx="609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extensions hidden, Windows shows only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photo.jpg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the dangerous .exe stays invisible.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Attackers rename malware this way and email it as a "picture" or "invoice".</a:t>
            </a:r>
            <a:endParaRPr b="0" i="0" sz="1400" u="none" cap="none" strike="noStrike"/>
          </a:p>
        </p:txBody>
      </p:sp>
      <p:sp>
        <p:nvSpPr>
          <p:cNvPr id="139" name="Google Shape;139;p9"/>
          <p:cNvSpPr/>
          <p:nvPr/>
        </p:nvSpPr>
        <p:spPr>
          <a:xfrm>
            <a:off x="7442200" y="3683000"/>
            <a:ext cx="25400" cy="2032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7899400" y="3683000"/>
            <a:ext cx="3581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THE RULE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41" name="Google Shape;141;p9"/>
          <p:cNvSpPr txBox="1"/>
          <p:nvPr/>
        </p:nvSpPr>
        <p:spPr>
          <a:xfrm>
            <a:off x="7899400" y="4038600"/>
            <a:ext cx="35814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run executables from sources you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trust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Unexpected attachment? Weird download?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Stop and ask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before double-clicking.</a:t>
            </a:r>
            <a:endParaRPr b="0" i="0" sz="1400" u="none" cap="none" strike="noStrike"/>
          </a:p>
        </p:txBody>
      </p:sp>
      <p:sp>
        <p:nvSpPr>
          <p:cNvPr id="142" name="Google Shape;142;p9"/>
          <p:cNvSpPr/>
          <p:nvPr/>
        </p:nvSpPr>
        <p:spPr>
          <a:xfrm>
            <a:off x="711200" y="5892800"/>
            <a:ext cx="13970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711200" y="5892800"/>
            <a:ext cx="1397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QUICK CHECK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144" name="Google Shape;144;p9"/>
          <p:cNvSpPr txBox="1"/>
          <p:nvPr/>
        </p:nvSpPr>
        <p:spPr>
          <a:xfrm>
            <a:off x="2286000" y="5892800"/>
            <a:ext cx="812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file shows up as invoice.pdf.exe — what is its real type?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145" name="Google Shape;145;p9"/>
          <p:cNvSpPr txBox="1"/>
          <p:nvPr/>
        </p:nvSpPr>
        <p:spPr>
          <a:xfrm>
            <a:off x="711200" y="64262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File Types (Win32)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; Pooj &amp; Patil, file-upload security study (2016)</a:t>
            </a:r>
            <a:endParaRPr b="0" i="0" sz="1000" u="none" cap="none" strike="noStrike"/>
          </a:p>
        </p:txBody>
      </p:sp>
      <p:sp>
        <p:nvSpPr>
          <p:cNvPr id="146" name="Google Shape;146;p9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07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/>
        </p:nvSpPr>
        <p:spPr>
          <a:xfrm>
            <a:off x="711200" y="609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02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52" name="Google Shape;152;p10"/>
          <p:cNvSpPr txBox="1"/>
          <p:nvPr/>
        </p:nvSpPr>
        <p:spPr>
          <a:xfrm>
            <a:off x="609600" y="1397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02</a:t>
            </a:r>
            <a:b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6500" u="none" cap="none" strike="noStrike"/>
          </a:p>
        </p:txBody>
      </p:sp>
      <p:sp>
        <p:nvSpPr>
          <p:cNvPr id="153" name="Google Shape;153;p10"/>
          <p:cNvSpPr txBox="1"/>
          <p:nvPr/>
        </p:nvSpPr>
        <p:spPr>
          <a:xfrm>
            <a:off x="4064000" y="1778000"/>
            <a:ext cx="741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FILES &amp; FOLDERS</a:t>
            </a:r>
            <a:endParaRPr b="0" i="0" sz="46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IN ACTION</a:t>
            </a:r>
            <a:endParaRPr b="0" i="0" sz="4600" u="none" cap="none" strike="noStrike"/>
          </a:p>
        </p:txBody>
      </p:sp>
      <p:sp>
        <p:nvSpPr>
          <p:cNvPr id="154" name="Google Shape;154;p10"/>
          <p:cNvSpPr txBox="1"/>
          <p:nvPr/>
        </p:nvSpPr>
        <p:spPr>
          <a:xfrm>
            <a:off x="4089400" y="3683000"/>
            <a:ext cx="6604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it. Name it. Move it.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read its ID card — Properties.</a:t>
            </a:r>
            <a:endParaRPr b="0" i="0" sz="1600" u="none" cap="none" strike="noStrike"/>
          </a:p>
        </p:txBody>
      </p:sp>
      <p:sp>
        <p:nvSpPr>
          <p:cNvPr id="155" name="Google Shape;155;p10"/>
          <p:cNvSpPr/>
          <p:nvPr/>
        </p:nvSpPr>
        <p:spPr>
          <a:xfrm>
            <a:off x="4089400" y="4724400"/>
            <a:ext cx="812800" cy="127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08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02 · FILES &amp; FOLDERS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62" name="Google Shape;162;p11"/>
          <p:cNvSpPr txBox="1"/>
          <p:nvPr/>
        </p:nvSpPr>
        <p:spPr>
          <a:xfrm>
            <a:off x="711200" y="787400"/>
            <a:ext cx="914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Windows has house rules for names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163" name="Google Shape;163;p11"/>
          <p:cNvSpPr txBox="1"/>
          <p:nvPr/>
        </p:nvSpPr>
        <p:spPr>
          <a:xfrm>
            <a:off x="711200" y="1752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NEVER IN A FILE NAME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64" name="Google Shape;164;p11"/>
          <p:cNvSpPr txBox="1"/>
          <p:nvPr/>
        </p:nvSpPr>
        <p:spPr>
          <a:xfrm>
            <a:off x="711200" y="2057400"/>
            <a:ext cx="107696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\  /  :  *  ?  "  &lt;  &gt;  |</a:t>
            </a:r>
            <a:br>
              <a:rPr b="1" i="0" lang="en-US" sz="4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400" u="none" cap="none" strike="noStrike"/>
          </a:p>
        </p:txBody>
      </p:sp>
      <p:sp>
        <p:nvSpPr>
          <p:cNvPr id="165" name="Google Shape;165;p11"/>
          <p:cNvSpPr/>
          <p:nvPr/>
        </p:nvSpPr>
        <p:spPr>
          <a:xfrm>
            <a:off x="711200" y="30988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711200" y="34798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1016000" y="3378200"/>
            <a:ext cx="1046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Reserved names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are off-limits too: CON, PRN, AUX, NUL, COM1–COM9, LPT1–LPT9. Windows owns these words.</a:t>
            </a:r>
            <a:endParaRPr b="0" i="0" sz="1500" u="none" cap="none" strike="noStrike"/>
          </a:p>
        </p:txBody>
      </p:sp>
      <p:sp>
        <p:nvSpPr>
          <p:cNvPr id="168" name="Google Shape;168;p11"/>
          <p:cNvSpPr/>
          <p:nvPr/>
        </p:nvSpPr>
        <p:spPr>
          <a:xfrm>
            <a:off x="711200" y="41910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1016000" y="4089400"/>
            <a:ext cx="1046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Length limit: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full path — every folder plus the file name — should stay under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260 characters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500" u="none" cap="none" strike="noStrike"/>
          </a:p>
        </p:txBody>
      </p:sp>
      <p:sp>
        <p:nvSpPr>
          <p:cNvPr id="170" name="Google Shape;170;p11"/>
          <p:cNvSpPr/>
          <p:nvPr/>
        </p:nvSpPr>
        <p:spPr>
          <a:xfrm>
            <a:off x="711200" y="4902200"/>
            <a:ext cx="114300" cy="1143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"/>
          <p:cNvSpPr txBox="1"/>
          <p:nvPr/>
        </p:nvSpPr>
        <p:spPr>
          <a:xfrm>
            <a:off x="1016000" y="4800600"/>
            <a:ext cx="10464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Capital letters don't matter: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Report.docx and REPORT.docx are the same file to Windows.</a:t>
            </a:r>
            <a:endParaRPr b="0" i="0" sz="1500" u="none" cap="none" strike="noStrike"/>
          </a:p>
        </p:txBody>
      </p:sp>
      <p:sp>
        <p:nvSpPr>
          <p:cNvPr id="172" name="Google Shape;172;p11"/>
          <p:cNvSpPr/>
          <p:nvPr/>
        </p:nvSpPr>
        <p:spPr>
          <a:xfrm>
            <a:off x="711200" y="5689600"/>
            <a:ext cx="12192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 txBox="1"/>
          <p:nvPr/>
        </p:nvSpPr>
        <p:spPr>
          <a:xfrm>
            <a:off x="711200" y="56896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SAFE HABIT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174" name="Google Shape;174;p11"/>
          <p:cNvSpPr txBox="1"/>
          <p:nvPr/>
        </p:nvSpPr>
        <p:spPr>
          <a:xfrm>
            <a:off x="2108200" y="5689600"/>
            <a:ext cx="889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Stick to letters, numbers, spaces, hyphens ( - ) and underscores ( _ ) — always legal.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175" name="Google Shape;175;p11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Naming Files, Paths, and Namespaces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(2023)</a:t>
            </a:r>
            <a:endParaRPr b="0" i="0" sz="1000" u="none" cap="none" strike="noStrike"/>
          </a:p>
        </p:txBody>
      </p:sp>
      <p:sp>
        <p:nvSpPr>
          <p:cNvPr id="176" name="Google Shape;176;p11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09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02 · FILES &amp; FOLDERS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82" name="Google Shape;182;p12"/>
          <p:cNvSpPr txBox="1"/>
          <p:nvPr/>
        </p:nvSpPr>
        <p:spPr>
          <a:xfrm>
            <a:off x="711200" y="787400"/>
            <a:ext cx="1076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Create, move, rename, delete —</a:t>
            </a:r>
            <a:endParaRPr b="0" i="0" sz="310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and why a file sometimes refuses</a:t>
            </a:r>
            <a:endParaRPr b="0" i="0" sz="3100" u="none" cap="none" strike="noStrike"/>
          </a:p>
        </p:txBody>
      </p:sp>
      <p:sp>
        <p:nvSpPr>
          <p:cNvPr id="183" name="Google Shape;183;p12"/>
          <p:cNvSpPr txBox="1"/>
          <p:nvPr/>
        </p:nvSpPr>
        <p:spPr>
          <a:xfrm>
            <a:off x="711200" y="2133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THE FIVE MOVES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84" name="Google Shape;184;p12"/>
          <p:cNvSpPr txBox="1"/>
          <p:nvPr/>
        </p:nvSpPr>
        <p:spPr>
          <a:xfrm>
            <a:off x="711200" y="2489200"/>
            <a:ext cx="5080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folder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right-click → New, or Ctrl+Shift+N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Ctrl+C, then Ctrl+V — original stays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Move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Ctrl+X, then Ctrl+V — or drag it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Rename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select it, press F2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Delete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Delete key → Recycle Bin (undoable)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Shift+Delete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· skips the Bin — gone for good</a:t>
            </a:r>
            <a:endParaRPr b="0" i="0" sz="1400" u="none" cap="none" strike="noStrike"/>
          </a:p>
        </p:txBody>
      </p:sp>
      <p:sp>
        <p:nvSpPr>
          <p:cNvPr id="185" name="Google Shape;185;p12"/>
          <p:cNvSpPr/>
          <p:nvPr/>
        </p:nvSpPr>
        <p:spPr>
          <a:xfrm>
            <a:off x="6299200" y="2260600"/>
            <a:ext cx="25400" cy="37592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 txBox="1"/>
          <p:nvPr/>
        </p:nvSpPr>
        <p:spPr>
          <a:xfrm>
            <a:off x="6807200" y="21336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WHEN A FILE FIGHTS BACK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87" name="Google Shape;187;p12"/>
          <p:cNvSpPr txBox="1"/>
          <p:nvPr/>
        </p:nvSpPr>
        <p:spPr>
          <a:xfrm>
            <a:off x="6807200" y="2489200"/>
            <a:ext cx="46736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It's open in an app.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Locked files can't move or delete — close the app first.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path is too long.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Shorten folder names, or move it closer to the drive root.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 lack permission.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Some folders need an admin — that's normal, not a bug.</a:t>
            </a:r>
            <a:endParaRPr b="0" i="0" sz="1400" u="none" cap="none" strike="noStrike"/>
          </a:p>
        </p:txBody>
      </p:sp>
      <p:sp>
        <p:nvSpPr>
          <p:cNvPr id="188" name="Google Shape;188;p12"/>
          <p:cNvSpPr txBox="1"/>
          <p:nvPr/>
        </p:nvSpPr>
        <p:spPr>
          <a:xfrm>
            <a:off x="6807200" y="5664200"/>
            <a:ext cx="46736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Technician's order:</a:t>
            </a:r>
            <a:r>
              <a:rPr b="0" i="0" lang="en-US" sz="13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close it → shorten it → check permissions.</a:t>
            </a:r>
            <a:endParaRPr b="0" i="0" sz="1300" u="none" cap="none" strike="noStrike"/>
          </a:p>
        </p:txBody>
      </p:sp>
      <p:sp>
        <p:nvSpPr>
          <p:cNvPr id="189" name="Google Shape;189;p12"/>
          <p:cNvSpPr txBox="1"/>
          <p:nvPr/>
        </p:nvSpPr>
        <p:spPr>
          <a:xfrm>
            <a:off x="711200" y="64262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Can't delete files on an NTFS file system</a:t>
            </a:r>
            <a:endParaRPr b="0" i="0" sz="1000" u="none" cap="none" strike="noStrike"/>
          </a:p>
        </p:txBody>
      </p:sp>
      <p:sp>
        <p:nvSpPr>
          <p:cNvPr id="190" name="Google Shape;190;p12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10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02 · FILES &amp; FOLDERS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196" name="Google Shape;196;p13"/>
          <p:cNvSpPr txBox="1"/>
          <p:nvPr/>
        </p:nvSpPr>
        <p:spPr>
          <a:xfrm>
            <a:off x="711200" y="7874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Properties is the file's ID card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197" name="Google Shape;197;p13"/>
          <p:cNvSpPr txBox="1"/>
          <p:nvPr/>
        </p:nvSpPr>
        <p:spPr>
          <a:xfrm>
            <a:off x="711200" y="1473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Right-click any file → Properties. Two tabs matter most.</a:t>
            </a:r>
            <a:b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400" u="none" cap="none" strike="noStrike"/>
          </a:p>
        </p:txBody>
      </p:sp>
      <p:sp>
        <p:nvSpPr>
          <p:cNvPr id="198" name="Google Shape;198;p13"/>
          <p:cNvSpPr txBox="1"/>
          <p:nvPr/>
        </p:nvSpPr>
        <p:spPr>
          <a:xfrm>
            <a:off x="711200" y="2032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GENERAL TAB · FACTS &amp; FLAGS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199" name="Google Shape;199;p13"/>
          <p:cNvSpPr txBox="1"/>
          <p:nvPr/>
        </p:nvSpPr>
        <p:spPr>
          <a:xfrm>
            <a:off x="711200" y="2387600"/>
            <a:ext cx="5080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facts: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file type, location, size, and when it was created and last modified.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flags (attributes):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Read-only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look, don't edit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Hidden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invisible unless you choose to show hidden items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attrib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command shows the same flags in CMD.</a:t>
            </a:r>
            <a:endParaRPr b="0" i="0" sz="1400" u="none" cap="none" strike="noStrike"/>
          </a:p>
        </p:txBody>
      </p:sp>
      <p:sp>
        <p:nvSpPr>
          <p:cNvPr id="200" name="Google Shape;200;p13"/>
          <p:cNvSpPr/>
          <p:nvPr/>
        </p:nvSpPr>
        <p:spPr>
          <a:xfrm>
            <a:off x="6299200" y="2159000"/>
            <a:ext cx="25400" cy="2921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6807200" y="20320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SECURITY TAB · WHO MAY DO WHAT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02" name="Google Shape;202;p13"/>
          <p:cNvSpPr txBox="1"/>
          <p:nvPr/>
        </p:nvSpPr>
        <p:spPr>
          <a:xfrm>
            <a:off x="6807200" y="2387600"/>
            <a:ext cx="46736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NTFS permissions decide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can do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open and view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Write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change the contents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Modify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change and delete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control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everything, including permissions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icacls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command shows the same list in CMD.</a:t>
            </a:r>
            <a:endParaRPr b="0" i="0" sz="1400" u="none" cap="none" strike="noStrike"/>
          </a:p>
        </p:txBody>
      </p:sp>
      <p:sp>
        <p:nvSpPr>
          <p:cNvPr id="203" name="Google Shape;203;p13"/>
          <p:cNvSpPr/>
          <p:nvPr/>
        </p:nvSpPr>
        <p:spPr>
          <a:xfrm>
            <a:off x="711200" y="53340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 txBox="1"/>
          <p:nvPr/>
        </p:nvSpPr>
        <p:spPr>
          <a:xfrm>
            <a:off x="711200" y="5562600"/>
            <a:ext cx="10769600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Don't mix them up: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attributes (read-only, hidden) describe the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file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Permissions describe what </a:t>
            </a: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people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may do with it.</a:t>
            </a:r>
            <a:endParaRPr b="0" i="0" sz="1500" u="none" cap="none" strike="noStrike"/>
          </a:p>
        </p:txBody>
      </p:sp>
      <p:sp>
        <p:nvSpPr>
          <p:cNvPr id="205" name="Google Shape;205;p13"/>
          <p:cNvSpPr txBox="1"/>
          <p:nvPr/>
        </p:nvSpPr>
        <p:spPr>
          <a:xfrm>
            <a:off x="711200" y="64262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Sources: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attrib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;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4"/>
              </a:rPr>
              <a:t>Microsoft Learn — icacls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(2023)</a:t>
            </a:r>
            <a:endParaRPr b="0" i="0" sz="1000" u="none" cap="none" strike="noStrike"/>
          </a:p>
        </p:txBody>
      </p:sp>
      <p:sp>
        <p:nvSpPr>
          <p:cNvPr id="206" name="Google Shape;206;p13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11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 txBox="1"/>
          <p:nvPr/>
        </p:nvSpPr>
        <p:spPr>
          <a:xfrm>
            <a:off x="711200" y="609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03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12" name="Google Shape;212;p14"/>
          <p:cNvSpPr txBox="1"/>
          <p:nvPr/>
        </p:nvSpPr>
        <p:spPr>
          <a:xfrm>
            <a:off x="609600" y="1397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03</a:t>
            </a:r>
            <a:b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6500" u="none" cap="none" strike="noStrike"/>
          </a:p>
        </p:txBody>
      </p:sp>
      <p:sp>
        <p:nvSpPr>
          <p:cNvPr id="213" name="Google Shape;213;p14"/>
          <p:cNvSpPr txBox="1"/>
          <p:nvPr/>
        </p:nvSpPr>
        <p:spPr>
          <a:xfrm>
            <a:off x="4064000" y="1778000"/>
            <a:ext cx="741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DRIVES, MEDIA</a:t>
            </a:r>
            <a:endParaRPr b="0" i="0" sz="46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&amp; PATHS</a:t>
            </a:r>
            <a:endParaRPr b="0" i="0" sz="4600" u="none" cap="none" strike="noStrike"/>
          </a:p>
        </p:txBody>
      </p:sp>
      <p:sp>
        <p:nvSpPr>
          <p:cNvPr id="214" name="Google Shape;214;p14"/>
          <p:cNvSpPr txBox="1"/>
          <p:nvPr/>
        </p:nvSpPr>
        <p:spPr>
          <a:xfrm>
            <a:off x="4089400" y="3683000"/>
            <a:ext cx="6604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things live — disks, USB sticks,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the addresses that find them.</a:t>
            </a:r>
            <a:endParaRPr b="0" i="0" sz="1600" u="none" cap="none" strike="noStrike"/>
          </a:p>
        </p:txBody>
      </p:sp>
      <p:sp>
        <p:nvSpPr>
          <p:cNvPr id="215" name="Google Shape;215;p14"/>
          <p:cNvSpPr/>
          <p:nvPr/>
        </p:nvSpPr>
        <p:spPr>
          <a:xfrm>
            <a:off x="4089400" y="4724400"/>
            <a:ext cx="812800" cy="127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4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12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03 · DRIVES &amp; PATHS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22" name="Google Shape;222;p15"/>
          <p:cNvSpPr txBox="1"/>
          <p:nvPr/>
        </p:nvSpPr>
        <p:spPr>
          <a:xfrm>
            <a:off x="711200" y="787400"/>
            <a:ext cx="914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One disk can wear many letters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223" name="Google Shape;223;p15"/>
          <p:cNvSpPr txBox="1"/>
          <p:nvPr/>
        </p:nvSpPr>
        <p:spPr>
          <a:xfrm>
            <a:off x="711200" y="1905000"/>
            <a:ext cx="5080000" cy="31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physical disk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the hardware inside (or plugged into) the computer.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 gets split into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partitions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the usable sections Windows calls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volumes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volume gets a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drive letter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C:, D:, E: …</a:t>
            </a:r>
            <a:endParaRPr b="0" i="0" sz="14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C: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where Windows and your installed programs live, by default.</a:t>
            </a:r>
            <a:endParaRPr b="0" i="0" sz="1400" u="none" cap="none" strike="noStrike"/>
          </a:p>
        </p:txBody>
      </p:sp>
      <p:sp>
        <p:nvSpPr>
          <p:cNvPr id="224" name="Google Shape;224;p15"/>
          <p:cNvSpPr txBox="1"/>
          <p:nvPr/>
        </p:nvSpPr>
        <p:spPr>
          <a:xfrm>
            <a:off x="711200" y="5257800"/>
            <a:ext cx="5080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tool:</a:t>
            </a: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Disk Management (diskmgmt.msc) — view disks, assign letters, initialize new drives.</a:t>
            </a:r>
            <a:endParaRPr b="0" i="0" sz="1300" u="none" cap="none" strike="noStrike"/>
          </a:p>
        </p:txBody>
      </p:sp>
      <p:sp>
        <p:nvSpPr>
          <p:cNvPr id="225" name="Google Shape;225;p15"/>
          <p:cNvSpPr/>
          <p:nvPr/>
        </p:nvSpPr>
        <p:spPr>
          <a:xfrm>
            <a:off x="6604000" y="1905000"/>
            <a:ext cx="4876800" cy="8128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5"/>
          <p:cNvSpPr txBox="1"/>
          <p:nvPr/>
        </p:nvSpPr>
        <p:spPr>
          <a:xfrm>
            <a:off x="6604000" y="1905000"/>
            <a:ext cx="4876800" cy="8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PHYSICAL DISK</a:t>
            </a:r>
            <a:br>
              <a:rPr b="1" i="0" lang="en-US" sz="15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500" u="none" cap="none" strike="noStrike"/>
          </a:p>
        </p:txBody>
      </p:sp>
      <p:sp>
        <p:nvSpPr>
          <p:cNvPr id="227" name="Google Shape;227;p15"/>
          <p:cNvSpPr/>
          <p:nvPr/>
        </p:nvSpPr>
        <p:spPr>
          <a:xfrm>
            <a:off x="8978900" y="2819400"/>
            <a:ext cx="127000" cy="381000"/>
          </a:xfrm>
          <a:custGeom>
            <a:rect b="b" l="l" r="r" t="t"/>
            <a:pathLst>
              <a:path extrusionOk="0" h="30" w="10">
                <a:moveTo>
                  <a:pt x="5" y="0"/>
                </a:moveTo>
                <a:lnTo>
                  <a:pt x="5" y="30"/>
                </a:lnTo>
              </a:path>
            </a:pathLst>
          </a:custGeom>
          <a:noFill/>
          <a:ln cap="rnd" cmpd="sng" w="25400">
            <a:solidFill>
              <a:srgbClr val="171717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228" name="Google Shape;228;p15"/>
          <p:cNvSpPr/>
          <p:nvPr/>
        </p:nvSpPr>
        <p:spPr>
          <a:xfrm>
            <a:off x="6604000" y="3302000"/>
            <a:ext cx="1498600" cy="7112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8293100" y="3302000"/>
            <a:ext cx="1498600" cy="7112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9982200" y="3302000"/>
            <a:ext cx="1498600" cy="711200"/>
          </a:xfrm>
          <a:prstGeom prst="rect">
            <a:avLst/>
          </a:prstGeom>
          <a:solidFill>
            <a:srgbClr val="E8A7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6604000" y="40894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PARTITIONS (VOLUMES)</a:t>
            </a:r>
            <a:br>
              <a:rPr b="0" i="0" lang="en-US" sz="11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232" name="Google Shape;232;p15"/>
          <p:cNvSpPr/>
          <p:nvPr/>
        </p:nvSpPr>
        <p:spPr>
          <a:xfrm>
            <a:off x="8978900" y="4368800"/>
            <a:ext cx="127000" cy="355600"/>
          </a:xfrm>
          <a:custGeom>
            <a:rect b="b" l="l" r="r" t="t"/>
            <a:pathLst>
              <a:path extrusionOk="0" h="28" w="10">
                <a:moveTo>
                  <a:pt x="5" y="0"/>
                </a:moveTo>
                <a:lnTo>
                  <a:pt x="5" y="28"/>
                </a:lnTo>
              </a:path>
            </a:pathLst>
          </a:custGeom>
          <a:noFill/>
          <a:ln cap="rnd" cmpd="sng" w="25400">
            <a:solidFill>
              <a:srgbClr val="171717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233" name="Google Shape;233;p15"/>
          <p:cNvSpPr txBox="1"/>
          <p:nvPr/>
        </p:nvSpPr>
        <p:spPr>
          <a:xfrm>
            <a:off x="6604000" y="4826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C:</a:t>
            </a:r>
            <a:br>
              <a:rPr b="1" i="0" lang="en-US" sz="3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234" name="Google Shape;234;p15"/>
          <p:cNvSpPr txBox="1"/>
          <p:nvPr/>
        </p:nvSpPr>
        <p:spPr>
          <a:xfrm>
            <a:off x="8293100" y="4826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D:</a:t>
            </a:r>
            <a:br>
              <a:rPr b="1" i="0" lang="en-US" sz="3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235" name="Google Shape;235;p15"/>
          <p:cNvSpPr txBox="1"/>
          <p:nvPr/>
        </p:nvSpPr>
        <p:spPr>
          <a:xfrm>
            <a:off x="9982200" y="4826000"/>
            <a:ext cx="14986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E:</a:t>
            </a:r>
            <a:br>
              <a:rPr b="1" i="0" lang="en-US" sz="36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236" name="Google Shape;236;p15"/>
          <p:cNvSpPr txBox="1"/>
          <p:nvPr/>
        </p:nvSpPr>
        <p:spPr>
          <a:xfrm>
            <a:off x="6604000" y="5664200"/>
            <a:ext cx="487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Plug in a USB stick — it simply takes</a:t>
            </a:r>
            <a:endParaRPr b="0" i="0" sz="1200" u="none" cap="none" strike="noStrike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next free letter.</a:t>
            </a:r>
            <a:endParaRPr b="0" i="0" sz="1200" u="none" cap="none" strike="noStrike"/>
          </a:p>
        </p:txBody>
      </p:sp>
      <p:sp>
        <p:nvSpPr>
          <p:cNvPr id="237" name="Google Shape;237;p15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Overview of Disk Management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(2024)</a:t>
            </a:r>
            <a:endParaRPr b="0" i="0" sz="1000" u="none" cap="none" strike="noStrike"/>
          </a:p>
        </p:txBody>
      </p:sp>
      <p:sp>
        <p:nvSpPr>
          <p:cNvPr id="238" name="Google Shape;238;p15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13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03 · DRIVES &amp; PATHS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44" name="Google Shape;244;p16"/>
          <p:cNvSpPr txBox="1"/>
          <p:nvPr/>
        </p:nvSpPr>
        <p:spPr>
          <a:xfrm>
            <a:off x="711200" y="787400"/>
            <a:ext cx="1041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NTFS, FAT32, exFAT — same shelf, different rules</a:t>
            </a:r>
            <a:br>
              <a:rPr b="1" i="0" lang="en-US" sz="33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300" u="none" cap="none" strike="noStrike"/>
          </a:p>
        </p:txBody>
      </p:sp>
      <p:sp>
        <p:nvSpPr>
          <p:cNvPr id="245" name="Google Shape;245;p16"/>
          <p:cNvSpPr txBox="1"/>
          <p:nvPr/>
        </p:nvSpPr>
        <p:spPr>
          <a:xfrm>
            <a:off x="711200" y="14224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file system is the set of rules a drive uses to store files. You choose one when formatting.</a:t>
            </a:r>
            <a:b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400" u="none" cap="none" strike="noStrike"/>
          </a:p>
        </p:txBody>
      </p:sp>
      <p:graphicFrame>
        <p:nvGraphicFramePr>
          <p:cNvPr id="246" name="Google Shape;246;p16"/>
          <p:cNvGraphicFramePr/>
          <p:nvPr/>
        </p:nvGraphicFramePr>
        <p:xfrm>
          <a:off x="711200" y="193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{268E2E27-CC16-46E3-9E23-D9872AA83DDE}</a:tableStyleId>
              </a:tblPr>
              <a:tblGrid>
                <a:gridCol w="2369300"/>
                <a:gridCol w="3015500"/>
                <a:gridCol w="2584700"/>
                <a:gridCol w="2800100"/>
              </a:tblGrid>
              <a:tr h="60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FILE SYSTEM</a:t>
                      </a:r>
                      <a:br>
                        <a:rPr b="1" lang="en-US" sz="1600">
                          <a:solidFill>
                            <a:srgbClr val="171717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NTFS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FAT32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rgbClr val="F05A38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exFAT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USED FOR</a:t>
                      </a:r>
                      <a:br>
                        <a:rPr b="1" lang="en-US" sz="1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 Windows system drive (C:)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Old devices, small sticks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Modern USB sticks &amp; SD cards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05A38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BIGGEST FILE</a:t>
                      </a:r>
                      <a:br>
                        <a:rPr b="1" lang="en-US" sz="1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Huge — no practical limit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 GB max</a:t>
                      </a: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 — a real limit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Huge — no practical limit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5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SUPERPOWER</a:t>
                      </a:r>
                      <a:br>
                        <a:rPr b="1" lang="en-US" sz="1200">
                          <a:solidFill>
                            <a:srgbClr val="B8B0A4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Permissions + journaling (self-repair)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Works on almost everything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Big files + works everywhere</a:t>
                      </a:r>
                      <a:br>
                        <a:rPr lang="en-US" sz="1300">
                          <a:solidFill>
                            <a:srgbClr val="171717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</a:b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8B0A4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0A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16"/>
          <p:cNvSpPr/>
          <p:nvPr/>
        </p:nvSpPr>
        <p:spPr>
          <a:xfrm>
            <a:off x="711200" y="5384800"/>
            <a:ext cx="13462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 txBox="1"/>
          <p:nvPr/>
        </p:nvSpPr>
        <p:spPr>
          <a:xfrm>
            <a:off x="711200" y="5384800"/>
            <a:ext cx="134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REMEMBER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249" name="Google Shape;249;p16"/>
          <p:cNvSpPr txBox="1"/>
          <p:nvPr/>
        </p:nvSpPr>
        <p:spPr>
          <a:xfrm>
            <a:off x="2235200" y="53848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Formatting a USB stick for class or work? Pick exFAT — big files, works on Windows and Mac.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250" name="Google Shape;250;p16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NTFS overview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(2023)</a:t>
            </a:r>
            <a:endParaRPr b="0" i="0" sz="1000" u="none" cap="none" strike="noStrike"/>
          </a:p>
        </p:txBody>
      </p:sp>
      <p:sp>
        <p:nvSpPr>
          <p:cNvPr id="251" name="Google Shape;251;p16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14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03 · DRIVES &amp; PATHS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57" name="Google Shape;257;p17"/>
          <p:cNvSpPr txBox="1"/>
          <p:nvPr/>
        </p:nvSpPr>
        <p:spPr>
          <a:xfrm>
            <a:off x="711200" y="787400"/>
            <a:ext cx="1016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Every file has an address — learn to read it</a:t>
            </a:r>
            <a:br>
              <a:rPr b="1" i="0" lang="en-US" sz="3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400" u="none" cap="none" strike="noStrike"/>
          </a:p>
        </p:txBody>
      </p:sp>
      <p:sp>
        <p:nvSpPr>
          <p:cNvPr id="258" name="Google Shape;258;p17"/>
          <p:cNvSpPr txBox="1"/>
          <p:nvPr/>
        </p:nvSpPr>
        <p:spPr>
          <a:xfrm>
            <a:off x="711200" y="1752600"/>
            <a:ext cx="107696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C:\</a:t>
            </a:r>
            <a:r>
              <a:rPr b="1" i="0" lang="en-US" sz="3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Users\Ava\Documents\</a:t>
            </a:r>
            <a:r>
              <a:rPr b="1" i="0" lang="en-US" sz="3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report.docx</a:t>
            </a:r>
            <a:endParaRPr b="0" i="0" sz="3200" u="none" cap="none" strike="noStrike"/>
          </a:p>
        </p:txBody>
      </p:sp>
      <p:sp>
        <p:nvSpPr>
          <p:cNvPr id="259" name="Google Shape;259;p17"/>
          <p:cNvSpPr txBox="1"/>
          <p:nvPr/>
        </p:nvSpPr>
        <p:spPr>
          <a:xfrm>
            <a:off x="711200" y="25146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drive letter</a:t>
            </a: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　·　</a:t>
            </a:r>
            <a:r>
              <a:rPr b="0" i="0" lang="en-US" sz="12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folders, separated by \</a:t>
            </a:r>
            <a:r>
              <a:rPr b="0" i="0" lang="en-US" sz="12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　·　</a:t>
            </a:r>
            <a:r>
              <a:rPr b="0" i="0" lang="en-US" sz="12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the file itself</a:t>
            </a:r>
            <a:endParaRPr b="0" i="0" sz="1200" u="none" cap="none" strike="noStrike"/>
          </a:p>
        </p:txBody>
      </p:sp>
      <p:sp>
        <p:nvSpPr>
          <p:cNvPr id="260" name="Google Shape;260;p17"/>
          <p:cNvSpPr/>
          <p:nvPr/>
        </p:nvSpPr>
        <p:spPr>
          <a:xfrm>
            <a:off x="711200" y="29972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 txBox="1"/>
          <p:nvPr/>
        </p:nvSpPr>
        <p:spPr>
          <a:xfrm>
            <a:off x="711200" y="3276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ABSOLUTE PATH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62" name="Google Shape;262;p17"/>
          <p:cNvSpPr txBox="1"/>
          <p:nvPr/>
        </p:nvSpPr>
        <p:spPr>
          <a:xfrm>
            <a:off x="711200" y="3606800"/>
            <a:ext cx="3302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full address, starting at the drive letter.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C:\Users\Ava\Documents\report.docx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Works from anywhere.</a:t>
            </a:r>
            <a:endParaRPr b="0" i="0" sz="1300" u="none" cap="none" strike="noStrike"/>
          </a:p>
        </p:txBody>
      </p:sp>
      <p:sp>
        <p:nvSpPr>
          <p:cNvPr id="263" name="Google Shape;263;p17"/>
          <p:cNvSpPr/>
          <p:nvPr/>
        </p:nvSpPr>
        <p:spPr>
          <a:xfrm>
            <a:off x="4470400" y="3352800"/>
            <a:ext cx="25400" cy="1778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927600" y="3276600"/>
            <a:ext cx="3048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RELATIVE PATH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65" name="Google Shape;265;p17"/>
          <p:cNvSpPr txBox="1"/>
          <p:nvPr/>
        </p:nvSpPr>
        <p:spPr>
          <a:xfrm>
            <a:off x="4927600" y="3606800"/>
            <a:ext cx="279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Directions from where you are standing.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Documents\report.docx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works if you're already in C:\Users\Ava.</a:t>
            </a:r>
            <a:endParaRPr b="0" i="0" sz="1300" u="none" cap="none" strike="noStrike"/>
          </a:p>
        </p:txBody>
      </p:sp>
      <p:sp>
        <p:nvSpPr>
          <p:cNvPr id="266" name="Google Shape;266;p17"/>
          <p:cNvSpPr/>
          <p:nvPr/>
        </p:nvSpPr>
        <p:spPr>
          <a:xfrm>
            <a:off x="8178800" y="3352800"/>
            <a:ext cx="25400" cy="1778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8636000" y="3276600"/>
            <a:ext cx="2844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UNC PATH · NETWORK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68" name="Google Shape;268;p17"/>
          <p:cNvSpPr txBox="1"/>
          <p:nvPr/>
        </p:nvSpPr>
        <p:spPr>
          <a:xfrm>
            <a:off x="8636000" y="3606800"/>
            <a:ext cx="2844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address on another computer.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\\SERVER\share\file.txt</a:t>
            </a:r>
            <a:endParaRPr b="0" i="0" sz="13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backslashes = "find this machine on the network".</a:t>
            </a:r>
            <a:endParaRPr b="0" i="0" sz="1300" u="none" cap="none" strike="noStrike"/>
          </a:p>
        </p:txBody>
      </p:sp>
      <p:sp>
        <p:nvSpPr>
          <p:cNvPr id="269" name="Google Shape;269;p17"/>
          <p:cNvSpPr/>
          <p:nvPr/>
        </p:nvSpPr>
        <p:spPr>
          <a:xfrm>
            <a:off x="711200" y="5689600"/>
            <a:ext cx="13462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711200" y="5689600"/>
            <a:ext cx="134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REMEMBER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271" name="Google Shape;271;p17"/>
          <p:cNvSpPr txBox="1"/>
          <p:nvPr/>
        </p:nvSpPr>
        <p:spPr>
          <a:xfrm>
            <a:off x="2235200" y="56896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260-character limit applies to the whole path — deep folder nests cause problems.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272" name="Google Shape;272;p17"/>
          <p:cNvSpPr txBox="1"/>
          <p:nvPr/>
        </p:nvSpPr>
        <p:spPr>
          <a:xfrm>
            <a:off x="711200" y="6426200"/>
            <a:ext cx="9144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Naming Files, Paths, and Namespaces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(2023)</a:t>
            </a:r>
            <a:endParaRPr b="0" i="0" sz="1000" u="none" cap="none" strike="noStrike"/>
          </a:p>
        </p:txBody>
      </p:sp>
      <p:sp>
        <p:nvSpPr>
          <p:cNvPr id="273" name="Google Shape;273;p17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15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03 · DRIVES &amp; PATHS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79" name="Google Shape;279;p18"/>
          <p:cNvSpPr txBox="1"/>
          <p:nvPr/>
        </p:nvSpPr>
        <p:spPr>
          <a:xfrm>
            <a:off x="711200" y="7874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Eject first. Your files will thank you.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280" name="Google Shape;280;p18"/>
          <p:cNvSpPr txBox="1"/>
          <p:nvPr/>
        </p:nvSpPr>
        <p:spPr>
          <a:xfrm>
            <a:off x="711200" y="1879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WHY EJECTING MATTERS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81" name="Google Shape;281;p18"/>
          <p:cNvSpPr txBox="1"/>
          <p:nvPr/>
        </p:nvSpPr>
        <p:spPr>
          <a:xfrm>
            <a:off x="711200" y="2235200"/>
            <a:ext cx="5080000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Windows doesn't always write to a USB stick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immediately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it holds data in a cache to work faster.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Pull the stick out mid-write, and the file can end up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half-written and corrupted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400" u="none" cap="none" strike="noStrike"/>
          </a:p>
        </p:txBody>
      </p:sp>
      <p:sp>
        <p:nvSpPr>
          <p:cNvPr id="282" name="Google Shape;282;p18"/>
          <p:cNvSpPr txBox="1"/>
          <p:nvPr/>
        </p:nvSpPr>
        <p:spPr>
          <a:xfrm>
            <a:off x="711200" y="4191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THE SAFE ROUTINE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83" name="Google Shape;283;p18"/>
          <p:cNvSpPr txBox="1"/>
          <p:nvPr/>
        </p:nvSpPr>
        <p:spPr>
          <a:xfrm>
            <a:off x="711200" y="4546600"/>
            <a:ext cx="508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· Click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Safely Remove Hardware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the taskbar corner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· Choose your device, wait for the "safe to remove" message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· Only then pull it out</a:t>
            </a:r>
            <a:endParaRPr b="0" i="0" sz="1400" u="none" cap="none" strike="noStrike"/>
          </a:p>
        </p:txBody>
      </p:sp>
      <p:sp>
        <p:nvSpPr>
          <p:cNvPr id="284" name="Google Shape;284;p18"/>
          <p:cNvSpPr/>
          <p:nvPr/>
        </p:nvSpPr>
        <p:spPr>
          <a:xfrm>
            <a:off x="6299200" y="2006600"/>
            <a:ext cx="25400" cy="4064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6807200" y="18796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"DEVICE IS IN USE"?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86" name="Google Shape;286;p18"/>
          <p:cNvSpPr txBox="1"/>
          <p:nvPr/>
        </p:nvSpPr>
        <p:spPr>
          <a:xfrm>
            <a:off x="6807200" y="2235200"/>
            <a:ext cx="4673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Something still has a file open on the stick.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Close its files and apps, then eject again. Don't just yank it.</a:t>
            </a:r>
            <a:endParaRPr b="0" i="0" sz="1400" u="none" cap="none" strike="noStrike"/>
          </a:p>
        </p:txBody>
      </p:sp>
      <p:sp>
        <p:nvSpPr>
          <p:cNvPr id="287" name="Google Shape;287;p18"/>
          <p:cNvSpPr txBox="1"/>
          <p:nvPr/>
        </p:nvSpPr>
        <p:spPr>
          <a:xfrm>
            <a:off x="6807200" y="37592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TECHNICIAN'S WARNING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288" name="Google Shape;288;p18"/>
          <p:cNvSpPr txBox="1"/>
          <p:nvPr/>
        </p:nvSpPr>
        <p:spPr>
          <a:xfrm>
            <a:off x="6807200" y="4114800"/>
            <a:ext cx="4673600" cy="1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Never plug in a USB drive you found.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Unknown sticks are a classic malware delivery trick — attackers leave infected drives where people will pick them up.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 one at work or school? Hand it to IT. Don't "check what's on it".</a:t>
            </a:r>
            <a:endParaRPr b="0" i="0" sz="1400" u="none" cap="none" strike="noStrike"/>
          </a:p>
        </p:txBody>
      </p:sp>
      <p:sp>
        <p:nvSpPr>
          <p:cNvPr id="289" name="Google Shape;289;p18"/>
          <p:cNvSpPr txBox="1"/>
          <p:nvPr/>
        </p:nvSpPr>
        <p:spPr>
          <a:xfrm>
            <a:off x="711200" y="6426200"/>
            <a:ext cx="10160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Sources: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Support — Safely remove hardware in Windows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; Pham et al., USB malware study (2010)</a:t>
            </a:r>
            <a:endParaRPr b="0" i="0" sz="1000" u="none" cap="none" strike="noStrike"/>
          </a:p>
        </p:txBody>
      </p:sp>
      <p:sp>
        <p:nvSpPr>
          <p:cNvPr id="290" name="Google Shape;290;p18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16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"/>
          <p:cNvSpPr txBox="1"/>
          <p:nvPr/>
        </p:nvSpPr>
        <p:spPr>
          <a:xfrm>
            <a:off x="711200" y="6096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04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296" name="Google Shape;296;p19"/>
          <p:cNvSpPr txBox="1"/>
          <p:nvPr/>
        </p:nvSpPr>
        <p:spPr>
          <a:xfrm>
            <a:off x="609600" y="1397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04</a:t>
            </a:r>
            <a:br>
              <a:rPr b="1" i="0" lang="en-US" sz="165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6500" u="none" cap="none" strike="noStrike"/>
          </a:p>
        </p:txBody>
      </p:sp>
      <p:sp>
        <p:nvSpPr>
          <p:cNvPr id="297" name="Google Shape;297;p19"/>
          <p:cNvSpPr txBox="1"/>
          <p:nvPr/>
        </p:nvSpPr>
        <p:spPr>
          <a:xfrm>
            <a:off x="4064000" y="1778000"/>
            <a:ext cx="7416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THE COMMAND</a:t>
            </a:r>
            <a:endParaRPr b="0" i="0" sz="4600" u="none" cap="none" strike="noStrike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LINE</a:t>
            </a:r>
            <a:endParaRPr b="0" i="0" sz="4600" u="none" cap="none" strike="noStrike"/>
          </a:p>
        </p:txBody>
      </p:sp>
      <p:sp>
        <p:nvSpPr>
          <p:cNvPr id="298" name="Google Shape;298;p19"/>
          <p:cNvSpPr txBox="1"/>
          <p:nvPr/>
        </p:nvSpPr>
        <p:spPr>
          <a:xfrm>
            <a:off x="4089400" y="3683000"/>
            <a:ext cx="6604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CMD and PowerShell —</a:t>
            </a:r>
            <a:endParaRPr b="0" i="0" sz="1600" u="none" cap="none" strike="noStrike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jobs, no clicking.</a:t>
            </a:r>
            <a:endParaRPr b="0" i="0" sz="1600" u="none" cap="none" strike="noStrike"/>
          </a:p>
        </p:txBody>
      </p:sp>
      <p:sp>
        <p:nvSpPr>
          <p:cNvPr id="299" name="Google Shape;299;p19"/>
          <p:cNvSpPr/>
          <p:nvPr/>
        </p:nvSpPr>
        <p:spPr>
          <a:xfrm>
            <a:off x="4089400" y="4724400"/>
            <a:ext cx="812800" cy="1270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17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04 · COMMAND LINE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306" name="Google Shape;306;p20"/>
          <p:cNvSpPr txBox="1"/>
          <p:nvPr/>
        </p:nvSpPr>
        <p:spPr>
          <a:xfrm>
            <a:off x="711200" y="787400"/>
            <a:ext cx="914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CMD: a few words do the work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307" name="Google Shape;307;p20"/>
          <p:cNvSpPr txBox="1"/>
          <p:nvPr/>
        </p:nvSpPr>
        <p:spPr>
          <a:xfrm>
            <a:off x="711200" y="14986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it: press Win + R, type cmd, hit Enter.</a:t>
            </a:r>
            <a:b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400" u="none" cap="none" strike="noStrike"/>
          </a:p>
        </p:txBody>
      </p:sp>
      <p:sp>
        <p:nvSpPr>
          <p:cNvPr id="308" name="Google Shape;308;p20"/>
          <p:cNvSpPr/>
          <p:nvPr/>
        </p:nvSpPr>
        <p:spPr>
          <a:xfrm>
            <a:off x="711200" y="1955800"/>
            <a:ext cx="5334000" cy="3302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965200" y="2184400"/>
            <a:ext cx="4826000" cy="2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C:\Users\Ava&gt;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dir</a:t>
            </a:r>
            <a:endParaRPr b="0" i="0" sz="1400" u="none" cap="none" strike="noStrike"/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C:\Users\Ava&gt;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cd Documents</a:t>
            </a:r>
            <a:endParaRPr b="0" i="0" sz="1400" u="none" cap="none" strike="noStrike"/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C:\Users\Ava\Documents&gt;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md Project</a:t>
            </a:r>
            <a:endParaRPr b="0" i="0" sz="1400" u="none" cap="none" strike="noStrike"/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C:\Users\Ava\Documents&gt;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copy notes.txt Project\</a:t>
            </a:r>
            <a:endParaRPr b="0" i="0" sz="1400" u="none" cap="none" strike="noStrike"/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C:\Users\Ava\Documents&gt;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ren notes.txt old-notes.txt</a:t>
            </a:r>
            <a:endParaRPr b="0" i="0" sz="1400" u="none" cap="none" strike="noStrike"/>
          </a:p>
          <a:p>
            <a:pPr indent="0" lvl="0" marL="0" marR="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C:\Users\Ava\Documents&gt;</a:t>
            </a:r>
            <a:r>
              <a:rPr b="0" i="0" lang="en-US" sz="1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 dir /?</a:t>
            </a:r>
            <a:endParaRPr b="0" i="0" sz="1400" u="none" cap="none" strike="noStrike"/>
          </a:p>
        </p:txBody>
      </p:sp>
      <p:sp>
        <p:nvSpPr>
          <p:cNvPr id="310" name="Google Shape;310;p20"/>
          <p:cNvSpPr txBox="1"/>
          <p:nvPr/>
        </p:nvSpPr>
        <p:spPr>
          <a:xfrm>
            <a:off x="711200" y="53848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Type a command, press Enter, read what it says back.</a:t>
            </a:r>
            <a:br>
              <a:rPr b="0" i="0" lang="en-US" sz="12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200" u="none" cap="none" strike="noStrike"/>
          </a:p>
        </p:txBody>
      </p:sp>
      <p:sp>
        <p:nvSpPr>
          <p:cNvPr id="311" name="Google Shape;311;p20"/>
          <p:cNvSpPr txBox="1"/>
          <p:nvPr/>
        </p:nvSpPr>
        <p:spPr>
          <a:xfrm>
            <a:off x="6807200" y="1955800"/>
            <a:ext cx="4673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STARTER VOCABULARY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12" name="Google Shape;312;p20"/>
          <p:cNvSpPr txBox="1"/>
          <p:nvPr/>
        </p:nvSpPr>
        <p:spPr>
          <a:xfrm>
            <a:off x="6807200" y="2311400"/>
            <a:ext cx="4673600" cy="3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list what's here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change folder (cd .. goes up)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make a folder ·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rd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remove it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/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move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duplicate / relocate files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delete · </a:t>
            </a: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rename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clear the screen</a:t>
            </a:r>
            <a:endParaRPr b="0" i="0" sz="1400" u="none" cap="none" strike="noStrike"/>
          </a:p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command /?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built-in help for anything</a:t>
            </a:r>
            <a:endParaRPr b="0" i="0" sz="1400" u="none" cap="none" strike="noStrike"/>
          </a:p>
        </p:txBody>
      </p:sp>
      <p:sp>
        <p:nvSpPr>
          <p:cNvPr id="313" name="Google Shape;313;p20"/>
          <p:cNvSpPr/>
          <p:nvPr/>
        </p:nvSpPr>
        <p:spPr>
          <a:xfrm>
            <a:off x="6807200" y="5740400"/>
            <a:ext cx="13462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6807200" y="5740400"/>
            <a:ext cx="134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REMEMBER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315" name="Google Shape;315;p20"/>
          <p:cNvSpPr txBox="1"/>
          <p:nvPr/>
        </p:nvSpPr>
        <p:spPr>
          <a:xfrm>
            <a:off x="8331200" y="5740400"/>
            <a:ext cx="3149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 and /? will never hurt anything.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316" name="Google Shape;316;p20"/>
          <p:cNvSpPr txBox="1"/>
          <p:nvPr/>
        </p:nvSpPr>
        <p:spPr>
          <a:xfrm>
            <a:off x="711200" y="64262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Windows Commands (A–Z)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(2024)</a:t>
            </a:r>
            <a:endParaRPr b="0" i="0" sz="1000" u="none" cap="none" strike="noStrike"/>
          </a:p>
        </p:txBody>
      </p:sp>
      <p:sp>
        <p:nvSpPr>
          <p:cNvPr id="317" name="Google Shape;317;p20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18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04 · COMMAND LINE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323" name="Google Shape;323;p21"/>
          <p:cNvSpPr txBox="1"/>
          <p:nvPr/>
        </p:nvSpPr>
        <p:spPr>
          <a:xfrm>
            <a:off x="711200" y="787400"/>
            <a:ext cx="9652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PowerShell: same idea, superpowers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324" name="Google Shape;324;p21"/>
          <p:cNvSpPr txBox="1"/>
          <p:nvPr/>
        </p:nvSpPr>
        <p:spPr>
          <a:xfrm>
            <a:off x="711200" y="19050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CMD SAYS</a:t>
            </a:r>
            <a:br>
              <a:rPr b="1" i="0" lang="en-US" sz="13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25" name="Google Shape;325;p21"/>
          <p:cNvSpPr txBox="1"/>
          <p:nvPr/>
        </p:nvSpPr>
        <p:spPr>
          <a:xfrm>
            <a:off x="711200" y="22606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dir</a:t>
            </a:r>
            <a:endParaRPr b="0" i="0" sz="17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copy notes.txt Project\</a:t>
            </a:r>
            <a:endParaRPr b="0" i="0" sz="1700" u="none" cap="none" strike="noStrike"/>
          </a:p>
        </p:txBody>
      </p:sp>
      <p:sp>
        <p:nvSpPr>
          <p:cNvPr id="326" name="Google Shape;326;p21"/>
          <p:cNvSpPr/>
          <p:nvPr/>
        </p:nvSpPr>
        <p:spPr>
          <a:xfrm>
            <a:off x="3048000" y="3200400"/>
            <a:ext cx="762000" cy="127000"/>
          </a:xfrm>
          <a:custGeom>
            <a:rect b="b" l="l" r="r" t="t"/>
            <a:pathLst>
              <a:path extrusionOk="0" h="10" w="60">
                <a:moveTo>
                  <a:pt x="0" y="5"/>
                </a:moveTo>
                <a:lnTo>
                  <a:pt x="60" y="5"/>
                </a:lnTo>
              </a:path>
            </a:pathLst>
          </a:custGeom>
          <a:noFill/>
          <a:ln cap="rnd" cmpd="sng" w="25400">
            <a:solidFill>
              <a:srgbClr val="171717"/>
            </a:solidFill>
            <a:prstDash val="solid"/>
            <a:round/>
            <a:headEnd len="sm" w="sm" type="none"/>
            <a:tailEnd len="med" w="med" type="stealth"/>
          </a:ln>
        </p:spPr>
      </p:sp>
      <p:sp>
        <p:nvSpPr>
          <p:cNvPr id="327" name="Google Shape;327;p21"/>
          <p:cNvSpPr txBox="1"/>
          <p:nvPr/>
        </p:nvSpPr>
        <p:spPr>
          <a:xfrm>
            <a:off x="711200" y="35814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POWERSHELL SAYS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28" name="Google Shape;328;p21"/>
          <p:cNvSpPr txBox="1"/>
          <p:nvPr/>
        </p:nvSpPr>
        <p:spPr>
          <a:xfrm>
            <a:off x="711200" y="39370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Get-ChildItem</a:t>
            </a:r>
            <a:endParaRPr b="0" i="0" sz="17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Copy-Item notes.txt Project\</a:t>
            </a:r>
            <a:endParaRPr b="0" i="0" sz="1700" u="none" cap="none" strike="noStrike"/>
          </a:p>
        </p:txBody>
      </p:sp>
      <p:sp>
        <p:nvSpPr>
          <p:cNvPr id="329" name="Google Shape;329;p21"/>
          <p:cNvSpPr txBox="1"/>
          <p:nvPr/>
        </p:nvSpPr>
        <p:spPr>
          <a:xfrm>
            <a:off x="711200" y="48768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Cmdlets read like sentences: </a:t>
            </a: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Verb-Noun</a:t>
            </a: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Learn the pattern once, guess commands forever.</a:t>
            </a:r>
            <a:endParaRPr b="0" i="0" sz="1300" u="none" cap="none" strike="noStrike"/>
          </a:p>
        </p:txBody>
      </p:sp>
      <p:sp>
        <p:nvSpPr>
          <p:cNvPr id="330" name="Google Shape;330;p21"/>
          <p:cNvSpPr/>
          <p:nvPr/>
        </p:nvSpPr>
        <p:spPr>
          <a:xfrm>
            <a:off x="6553200" y="2006600"/>
            <a:ext cx="25400" cy="3683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7010400" y="19050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WHY ADMINS LOVE IT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32" name="Google Shape;332;p21"/>
          <p:cNvSpPr txBox="1"/>
          <p:nvPr/>
        </p:nvSpPr>
        <p:spPr>
          <a:xfrm>
            <a:off x="7010400" y="2260600"/>
            <a:ext cx="4470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CMD passes text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between commands.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PowerShell passes objects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real, structured data — so commands can chain into pipelines that automate whole jobs.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Scripts: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.bat for CMD, .ps1 for PowerShell.</a:t>
            </a:r>
            <a:endParaRPr b="0" i="0" sz="14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Get-Help</a:t>
            </a:r>
            <a:r>
              <a:rPr b="0" i="0" lang="en-US" sz="14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explains any cmdlet — the manual lives inside.</a:t>
            </a:r>
            <a:endParaRPr b="0" i="0" sz="1400" u="none" cap="none" strike="noStrike"/>
          </a:p>
        </p:txBody>
      </p:sp>
      <p:sp>
        <p:nvSpPr>
          <p:cNvPr id="333" name="Google Shape;333;p21"/>
          <p:cNvSpPr/>
          <p:nvPr/>
        </p:nvSpPr>
        <p:spPr>
          <a:xfrm>
            <a:off x="711200" y="5740400"/>
            <a:ext cx="1346200" cy="304800"/>
          </a:xfrm>
          <a:prstGeom prst="rect">
            <a:avLst/>
          </a:prstGeom>
          <a:solidFill>
            <a:srgbClr val="D9F0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711200" y="5740400"/>
            <a:ext cx="1346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REMEMBER</a:t>
            </a:r>
            <a:br>
              <a:rPr b="1" i="0" lang="en-US" sz="11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100" u="none" cap="none" strike="noStrike"/>
          </a:p>
        </p:txBody>
      </p:sp>
      <p:sp>
        <p:nvSpPr>
          <p:cNvPr id="335" name="Google Shape;335;p21"/>
          <p:cNvSpPr txBox="1"/>
          <p:nvPr/>
        </p:nvSpPr>
        <p:spPr>
          <a:xfrm>
            <a:off x="2235200" y="5740400"/>
            <a:ext cx="914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 either/or: both shells are already on every Windows PC — use the right one for the job.</a:t>
            </a:r>
            <a:b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336" name="Google Shape;336;p21"/>
          <p:cNvSpPr txBox="1"/>
          <p:nvPr/>
        </p:nvSpPr>
        <p:spPr>
          <a:xfrm>
            <a:off x="711200" y="64262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What is PowerShell?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 (2025)</a:t>
            </a:r>
            <a:endParaRPr b="0" i="0" sz="1000" u="none" cap="none" strike="noStrike"/>
          </a:p>
        </p:txBody>
      </p:sp>
      <p:sp>
        <p:nvSpPr>
          <p:cNvPr id="337" name="Google Shape;337;p21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19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TOPIC 04 · COMMAND LINE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343" name="Google Shape;343;p22"/>
          <p:cNvSpPr txBox="1"/>
          <p:nvPr/>
        </p:nvSpPr>
        <p:spPr>
          <a:xfrm>
            <a:off x="711200" y="787400"/>
            <a:ext cx="6350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One job, three ways</a:t>
            </a:r>
            <a:br>
              <a:rPr b="1" i="0" lang="en-US" sz="36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600" u="none" cap="none" strike="noStrike"/>
          </a:p>
        </p:txBody>
      </p:sp>
      <p:sp>
        <p:nvSpPr>
          <p:cNvPr id="344" name="Google Shape;344;p22"/>
          <p:cNvSpPr txBox="1"/>
          <p:nvPr/>
        </p:nvSpPr>
        <p:spPr>
          <a:xfrm>
            <a:off x="711200" y="14986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job: create a folder called Invoices and move Q1.xlsx into it.</a:t>
            </a:r>
            <a:br>
              <a:rPr b="0" i="0" lang="en-US" sz="14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400" u="none" cap="none" strike="noStrike"/>
          </a:p>
        </p:txBody>
      </p:sp>
      <p:sp>
        <p:nvSpPr>
          <p:cNvPr id="345" name="Google Shape;345;p22"/>
          <p:cNvSpPr txBox="1"/>
          <p:nvPr/>
        </p:nvSpPr>
        <p:spPr>
          <a:xfrm>
            <a:off x="711200" y="20574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WITH THE MOUSE</a:t>
            </a:r>
            <a:br>
              <a:rPr b="1" i="0" lang="en-US" sz="14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346" name="Google Shape;346;p22"/>
          <p:cNvSpPr txBox="1"/>
          <p:nvPr/>
        </p:nvSpPr>
        <p:spPr>
          <a:xfrm>
            <a:off x="711200" y="2438400"/>
            <a:ext cx="3175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· Right-click empty space → New → Folder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· Type Invoices, press Enter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· Drag Q1.xlsx onto the folder</a:t>
            </a:r>
            <a:endParaRPr b="0" i="0" sz="1300" u="none" cap="none" strike="noStrike"/>
          </a:p>
        </p:txBody>
      </p:sp>
      <p:sp>
        <p:nvSpPr>
          <p:cNvPr id="347" name="Google Shape;347;p22"/>
          <p:cNvSpPr/>
          <p:nvPr/>
        </p:nvSpPr>
        <p:spPr>
          <a:xfrm>
            <a:off x="4318000" y="2184400"/>
            <a:ext cx="25400" cy="2794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4775200" y="20574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IN CMD</a:t>
            </a:r>
            <a:br>
              <a:rPr b="1" i="0" lang="en-US" sz="14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349" name="Google Shape;349;p22"/>
          <p:cNvSpPr txBox="1"/>
          <p:nvPr/>
        </p:nvSpPr>
        <p:spPr>
          <a:xfrm>
            <a:off x="4775200" y="2438400"/>
            <a:ext cx="31750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 Invoices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move Q1.xlsx Invoices\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lines. Done in five seconds.</a:t>
            </a:r>
            <a:endParaRPr b="0" i="0" sz="1300" u="none" cap="none" strike="noStrike"/>
          </a:p>
        </p:txBody>
      </p:sp>
      <p:sp>
        <p:nvSpPr>
          <p:cNvPr id="350" name="Google Shape;350;p22"/>
          <p:cNvSpPr/>
          <p:nvPr/>
        </p:nvSpPr>
        <p:spPr>
          <a:xfrm>
            <a:off x="8382000" y="2184400"/>
            <a:ext cx="25400" cy="2794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8839200" y="205740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IN POWERSHELL</a:t>
            </a:r>
            <a:br>
              <a:rPr b="1" i="0" lang="en-US" sz="14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400" u="none" cap="none" strike="noStrike"/>
          </a:p>
        </p:txBody>
      </p:sp>
      <p:sp>
        <p:nvSpPr>
          <p:cNvPr id="352" name="Google Shape;352;p22"/>
          <p:cNvSpPr txBox="1"/>
          <p:nvPr/>
        </p:nvSpPr>
        <p:spPr>
          <a:xfrm>
            <a:off x="8839200" y="2438400"/>
            <a:ext cx="2641600" cy="2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New-Item -ItemType Directory Invoices</a:t>
            </a:r>
            <a:endParaRPr b="0" i="0" sz="1300" u="none" cap="none" strike="noStrike"/>
          </a:p>
          <a:p>
            <a:pPr indent="0" lvl="0" marL="0" marR="0" rtl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Move-Item Q1.xlsx Invoices\</a:t>
            </a:r>
            <a:endParaRPr b="0" i="0" sz="1300" u="none" cap="none" strike="noStrike"/>
          </a:p>
        </p:txBody>
      </p:sp>
      <p:sp>
        <p:nvSpPr>
          <p:cNvPr id="353" name="Google Shape;353;p22"/>
          <p:cNvSpPr/>
          <p:nvPr/>
        </p:nvSpPr>
        <p:spPr>
          <a:xfrm>
            <a:off x="711200" y="52578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"/>
          <p:cNvSpPr txBox="1"/>
          <p:nvPr/>
        </p:nvSpPr>
        <p:spPr>
          <a:xfrm>
            <a:off x="711200" y="5486400"/>
            <a:ext cx="1076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result, every time.</a:t>
            </a:r>
            <a:r>
              <a:rPr b="0" i="0" lang="en-US" sz="15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one file, the mouse is fine. For a hundred files, or the same job every Monday — typing wins.</a:t>
            </a:r>
            <a:endParaRPr b="0" i="0" sz="1500" u="none" cap="none" strike="noStrike"/>
          </a:p>
        </p:txBody>
      </p:sp>
      <p:sp>
        <p:nvSpPr>
          <p:cNvPr id="355" name="Google Shape;355;p22"/>
          <p:cNvSpPr txBox="1"/>
          <p:nvPr/>
        </p:nvSpPr>
        <p:spPr>
          <a:xfrm>
            <a:off x="711200" y="6426200"/>
            <a:ext cx="96520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Sources: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3"/>
              </a:rPr>
              <a:t>Microsoft Learn — Windows Commands</a:t>
            </a: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; </a:t>
            </a:r>
            <a:r>
              <a:rPr b="0" i="0" lang="en-US" sz="1000" u="sng" cap="none" strike="noStrike">
                <a:solidFill>
                  <a:schemeClr val="hlink"/>
                </a:solidFill>
                <a:latin typeface="Liter"/>
                <a:ea typeface="Liter"/>
                <a:cs typeface="Liter"/>
                <a:sym typeface="Liter"/>
                <a:hlinkClick r:id="rId4"/>
              </a:rPr>
              <a:t>PowerShell Management cmdlets</a:t>
            </a:r>
            <a:endParaRPr b="0" i="0" sz="1000" u="none" cap="none" strike="noStrike"/>
          </a:p>
        </p:txBody>
      </p:sp>
      <p:sp>
        <p:nvSpPr>
          <p:cNvPr id="356" name="Google Shape;356;p22"/>
          <p:cNvSpPr txBox="1"/>
          <p:nvPr/>
        </p:nvSpPr>
        <p:spPr>
          <a:xfrm>
            <a:off x="11430000" y="6426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20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PRACTICE SCENARIO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362" name="Google Shape;362;p23"/>
          <p:cNvSpPr txBox="1"/>
          <p:nvPr/>
        </p:nvSpPr>
        <p:spPr>
          <a:xfrm>
            <a:off x="711200" y="787400"/>
            <a:ext cx="8128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YOUR TURN: THE 15-MINUTE LAB</a:t>
            </a:r>
            <a:b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800" u="none" cap="none" strike="noStrike"/>
          </a:p>
        </p:txBody>
      </p:sp>
      <p:sp>
        <p:nvSpPr>
          <p:cNvPr id="363" name="Google Shape;363;p23"/>
          <p:cNvSpPr txBox="1"/>
          <p:nvPr/>
        </p:nvSpPr>
        <p:spPr>
          <a:xfrm>
            <a:off x="711200" y="14986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 inside your own practice folder — nothing in this lab can break Windows.</a:t>
            </a:r>
            <a:br>
              <a:rPr b="0" i="0" lang="en-US" sz="1300" u="none" cap="none" strike="noStrike">
                <a:solidFill>
                  <a:srgbClr val="B8B0A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300" u="none" cap="none" strike="noStrike"/>
          </a:p>
        </p:txBody>
      </p:sp>
      <p:sp>
        <p:nvSpPr>
          <p:cNvPr id="364" name="Google Shape;364;p23"/>
          <p:cNvSpPr txBox="1"/>
          <p:nvPr/>
        </p:nvSpPr>
        <p:spPr>
          <a:xfrm>
            <a:off x="711200" y="1981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1</a:t>
            </a:r>
            <a:br>
              <a:rPr b="1" i="0" lang="en-US" sz="3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000" u="none" cap="none" strike="noStrike"/>
          </a:p>
        </p:txBody>
      </p:sp>
      <p:sp>
        <p:nvSpPr>
          <p:cNvPr id="365" name="Google Shape;365;p23"/>
          <p:cNvSpPr txBox="1"/>
          <p:nvPr/>
        </p:nvSpPr>
        <p:spPr>
          <a:xfrm>
            <a:off x="1320800" y="19812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on file name extensions, then open Downloads and write down the type of five files you find there.</a:t>
            </a:r>
            <a:endParaRPr b="0" i="0" sz="1300" u="none" cap="none" strike="noStrike"/>
          </a:p>
        </p:txBody>
      </p:sp>
      <p:sp>
        <p:nvSpPr>
          <p:cNvPr id="366" name="Google Shape;366;p23"/>
          <p:cNvSpPr txBox="1"/>
          <p:nvPr/>
        </p:nvSpPr>
        <p:spPr>
          <a:xfrm>
            <a:off x="8128000" y="20574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Done when:</a:t>
            </a: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you can say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each of the five files is for</a:t>
            </a:r>
            <a:endParaRPr b="0" i="0" sz="1200" u="none" cap="none" strike="noStrike"/>
          </a:p>
        </p:txBody>
      </p:sp>
      <p:sp>
        <p:nvSpPr>
          <p:cNvPr id="367" name="Google Shape;367;p23"/>
          <p:cNvSpPr/>
          <p:nvPr/>
        </p:nvSpPr>
        <p:spPr>
          <a:xfrm>
            <a:off x="711200" y="27686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711200" y="2997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2</a:t>
            </a:r>
            <a:br>
              <a:rPr b="1" i="0" lang="en-US" sz="3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000" u="none" cap="none" strike="noStrike"/>
          </a:p>
        </p:txBody>
      </p:sp>
      <p:sp>
        <p:nvSpPr>
          <p:cNvPr id="369" name="Google Shape;369;p23"/>
          <p:cNvSpPr txBox="1"/>
          <p:nvPr/>
        </p:nvSpPr>
        <p:spPr>
          <a:xfrm>
            <a:off x="1320800" y="29972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the mouse, build Projects\2026\Jan, move any file into Jan, and rename it — following the naming rules.</a:t>
            </a:r>
            <a:endParaRPr b="0" i="0" sz="1300" u="none" cap="none" strike="noStrike"/>
          </a:p>
        </p:txBody>
      </p:sp>
      <p:sp>
        <p:nvSpPr>
          <p:cNvPr id="370" name="Google Shape;370;p23"/>
          <p:cNvSpPr txBox="1"/>
          <p:nvPr/>
        </p:nvSpPr>
        <p:spPr>
          <a:xfrm>
            <a:off x="8128000" y="30734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Done when:</a:t>
            </a: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path reads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Projects\2026\Jan\yourfile,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banned characters</a:t>
            </a:r>
            <a:endParaRPr b="0" i="0" sz="1200" u="none" cap="none" strike="noStrike"/>
          </a:p>
        </p:txBody>
      </p:sp>
      <p:sp>
        <p:nvSpPr>
          <p:cNvPr id="371" name="Google Shape;371;p23"/>
          <p:cNvSpPr/>
          <p:nvPr/>
        </p:nvSpPr>
        <p:spPr>
          <a:xfrm>
            <a:off x="711200" y="37846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711200" y="4013200"/>
            <a:ext cx="7112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3</a:t>
            </a:r>
            <a:br>
              <a:rPr b="1" i="0" lang="en-US" sz="30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000" u="none" cap="none" strike="noStrike"/>
          </a:p>
        </p:txBody>
      </p:sp>
      <p:sp>
        <p:nvSpPr>
          <p:cNvPr id="373" name="Google Shape;373;p23"/>
          <p:cNvSpPr txBox="1"/>
          <p:nvPr/>
        </p:nvSpPr>
        <p:spPr>
          <a:xfrm>
            <a:off x="1320800" y="4013200"/>
            <a:ext cx="6604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 task 2 again — no mouse. Use CMD (md, cd, move), then list the result in PowerShell with Get-ChildItem.</a:t>
            </a:r>
            <a:endParaRPr b="0" i="0" sz="1300" u="none" cap="none" strike="noStrike"/>
          </a:p>
        </p:txBody>
      </p:sp>
      <p:sp>
        <p:nvSpPr>
          <p:cNvPr id="374" name="Google Shape;374;p23"/>
          <p:cNvSpPr txBox="1"/>
          <p:nvPr/>
        </p:nvSpPr>
        <p:spPr>
          <a:xfrm>
            <a:off x="8128000" y="4089400"/>
            <a:ext cx="33528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Done when:</a:t>
            </a: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both shells</a:t>
            </a:r>
            <a:endParaRPr b="0" i="0" sz="1200" u="none" cap="none" strike="noStrike"/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557D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show the same folder structure</a:t>
            </a:r>
            <a:endParaRPr b="0" i="0" sz="1200" u="none" cap="none" strike="noStrike"/>
          </a:p>
        </p:txBody>
      </p:sp>
      <p:sp>
        <p:nvSpPr>
          <p:cNvPr id="375" name="Google Shape;375;p23"/>
          <p:cNvSpPr/>
          <p:nvPr/>
        </p:nvSpPr>
        <p:spPr>
          <a:xfrm>
            <a:off x="711200" y="48006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711200" y="5994400"/>
            <a:ext cx="107696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Stuck?</a:t>
            </a:r>
            <a:r>
              <a:rPr b="0" i="0" lang="en-US" sz="13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That's the job — use command /? or Get-Help, then ask. Technicians read manuals.</a:t>
            </a:r>
            <a:endParaRPr b="0" i="0" sz="1300" u="none" cap="none" strike="noStrike"/>
          </a:p>
        </p:txBody>
      </p:sp>
      <p:sp>
        <p:nvSpPr>
          <p:cNvPr id="377" name="Google Shape;377;p23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21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E8D4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4"/>
          <p:cNvSpPr txBox="1"/>
          <p:nvPr/>
        </p:nvSpPr>
        <p:spPr>
          <a:xfrm>
            <a:off x="711200" y="4826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TAKE IT WITH YOU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383" name="Google Shape;383;p24"/>
          <p:cNvSpPr txBox="1"/>
          <p:nvPr/>
        </p:nvSpPr>
        <p:spPr>
          <a:xfrm>
            <a:off x="711200" y="787400"/>
            <a:ext cx="711200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POCKET REFERENCE</a:t>
            </a:r>
            <a:br>
              <a:rPr b="1" i="0" lang="en-US" sz="38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3800" u="none" cap="none" strike="noStrike"/>
          </a:p>
        </p:txBody>
      </p:sp>
      <p:sp>
        <p:nvSpPr>
          <p:cNvPr id="384" name="Google Shape;384;p24"/>
          <p:cNvSpPr txBox="1"/>
          <p:nvPr/>
        </p:nvSpPr>
        <p:spPr>
          <a:xfrm>
            <a:off x="711200" y="1778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NAMES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85" name="Google Shape;385;p24"/>
          <p:cNvSpPr txBox="1"/>
          <p:nvPr/>
        </p:nvSpPr>
        <p:spPr>
          <a:xfrm>
            <a:off x="711200" y="2133600"/>
            <a:ext cx="3175000" cy="3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Banned: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\ / : * ? " &lt; &gt; |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Reserved: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CON, PRN, AUX, NUL, COM1–9, LPT1–9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Limit: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260 characters for the full path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Case: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doesn't matter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Renaming ≠ converting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the inside never changes</a:t>
            </a:r>
            <a:endParaRPr b="0" i="0" sz="1200" u="none" cap="none" strike="noStrike"/>
          </a:p>
        </p:txBody>
      </p:sp>
      <p:sp>
        <p:nvSpPr>
          <p:cNvPr id="386" name="Google Shape;386;p24"/>
          <p:cNvSpPr/>
          <p:nvPr/>
        </p:nvSpPr>
        <p:spPr>
          <a:xfrm>
            <a:off x="4318000" y="1905000"/>
            <a:ext cx="25400" cy="4191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4775200" y="1778000"/>
            <a:ext cx="3175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PLACES</a:t>
            </a:r>
            <a:br>
              <a:rPr b="1" i="0" lang="en-US" sz="13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88" name="Google Shape;388;p24"/>
          <p:cNvSpPr txBox="1"/>
          <p:nvPr/>
        </p:nvSpPr>
        <p:spPr>
          <a:xfrm>
            <a:off x="4775200" y="2133600"/>
            <a:ext cx="3175000" cy="3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C: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Windows and programs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USB stick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takes the next free letter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exFAT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right choice for removable media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\\SERVER\share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network address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Eject first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always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 a USB drive?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hand it to IT, never plug it in</a:t>
            </a:r>
            <a:endParaRPr b="0" i="0" sz="1200" u="none" cap="none" strike="noStrike"/>
          </a:p>
        </p:txBody>
      </p:sp>
      <p:sp>
        <p:nvSpPr>
          <p:cNvPr id="389" name="Google Shape;389;p24"/>
          <p:cNvSpPr/>
          <p:nvPr/>
        </p:nvSpPr>
        <p:spPr>
          <a:xfrm>
            <a:off x="8382000" y="1905000"/>
            <a:ext cx="25400" cy="4191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4"/>
          <p:cNvSpPr txBox="1"/>
          <p:nvPr/>
        </p:nvSpPr>
        <p:spPr>
          <a:xfrm>
            <a:off x="8839200" y="177800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  <a:t>COMMANDS</a:t>
            </a:r>
            <a:br>
              <a:rPr b="1" i="0" lang="en-US" sz="1300" u="none" cap="none" strike="noStrike">
                <a:solidFill>
                  <a:srgbClr val="2557D6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300" u="none" cap="none" strike="noStrike"/>
          </a:p>
        </p:txBody>
      </p:sp>
      <p:sp>
        <p:nvSpPr>
          <p:cNvPr id="391" name="Google Shape;391;p24"/>
          <p:cNvSpPr txBox="1"/>
          <p:nvPr/>
        </p:nvSpPr>
        <p:spPr>
          <a:xfrm>
            <a:off x="8839200" y="2133600"/>
            <a:ext cx="2641600" cy="39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dir · cd · md · rd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 · move · del · ren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command /?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help in CMD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Get-ChildItem · New-Item · Copy-Item · Move-Item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Get-Help</a:t>
            </a:r>
            <a:r>
              <a:rPr b="0" i="0" lang="en-US" sz="1200" u="none" cap="none" strike="noStrike">
                <a:solidFill>
                  <a:srgbClr val="1717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help in PowerShell</a:t>
            </a:r>
            <a:endParaRPr b="0" i="0" sz="1200" u="none" cap="none" strike="noStrike"/>
          </a:p>
        </p:txBody>
      </p:sp>
      <p:sp>
        <p:nvSpPr>
          <p:cNvPr id="392" name="Google Shape;392;p24"/>
          <p:cNvSpPr/>
          <p:nvPr/>
        </p:nvSpPr>
        <p:spPr>
          <a:xfrm>
            <a:off x="711200" y="6273800"/>
            <a:ext cx="10769600" cy="254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11430000" y="64516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22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7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5"/>
          <p:cNvSpPr txBox="1"/>
          <p:nvPr/>
        </p:nvSpPr>
        <p:spPr>
          <a:xfrm>
            <a:off x="711200" y="558800"/>
            <a:ext cx="381000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WRAP-UP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399" name="Google Shape;399;p25"/>
          <p:cNvSpPr txBox="1"/>
          <p:nvPr/>
        </p:nvSpPr>
        <p:spPr>
          <a:xfrm>
            <a:off x="711200" y="889000"/>
            <a:ext cx="7620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  <a:t>YOU CAN NOW…</a:t>
            </a:r>
            <a:br>
              <a:rPr b="1" i="0" lang="en-US" sz="4400" u="none" cap="none" strike="noStrike">
                <a:solidFill>
                  <a:srgbClr val="F3E8D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4400" u="none" cap="none" strike="noStrike"/>
          </a:p>
        </p:txBody>
      </p:sp>
      <p:sp>
        <p:nvSpPr>
          <p:cNvPr id="400" name="Google Shape;400;p25"/>
          <p:cNvSpPr txBox="1"/>
          <p:nvPr/>
        </p:nvSpPr>
        <p:spPr>
          <a:xfrm>
            <a:off x="711200" y="1879600"/>
            <a:ext cx="6604000" cy="2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5A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Read any file name and say what it will do</a:t>
            </a:r>
            <a:endParaRPr b="0" i="0" sz="1500" u="none" cap="none" strike="noStrike"/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5A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Create, name, move, and inspect files and folders</a:t>
            </a:r>
            <a:endParaRPr b="0" i="0" sz="1500" u="none" cap="none" strike="noStrike"/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5A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Find anything on any drive — and eject USB safely</a:t>
            </a:r>
            <a:endParaRPr b="0" i="0" sz="1500" u="none" cap="none" strike="noStrike"/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05A3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■</a:t>
            </a:r>
            <a:r>
              <a:rPr b="0" i="0" lang="en-US" sz="15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Run your first CMD and PowerShell commands</a:t>
            </a:r>
            <a:endParaRPr b="0" i="0" sz="1500" u="none" cap="none" strike="noStrike"/>
          </a:p>
        </p:txBody>
      </p:sp>
      <p:sp>
        <p:nvSpPr>
          <p:cNvPr id="401" name="Google Shape;401;p25"/>
          <p:cNvSpPr/>
          <p:nvPr/>
        </p:nvSpPr>
        <p:spPr>
          <a:xfrm>
            <a:off x="7874000" y="1905000"/>
            <a:ext cx="25400" cy="22860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 txBox="1"/>
          <p:nvPr/>
        </p:nvSpPr>
        <p:spPr>
          <a:xfrm>
            <a:off x="8331200" y="1879600"/>
            <a:ext cx="314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KEEP LEARNING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403" name="Google Shape;403;p25"/>
          <p:cNvSpPr txBox="1"/>
          <p:nvPr/>
        </p:nvSpPr>
        <p:spPr>
          <a:xfrm>
            <a:off x="8331200" y="2209800"/>
            <a:ext cx="3149600" cy="20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3"/>
              </a:rPr>
              <a:t>Microsoft Learn</a:t>
            </a:r>
            <a:r>
              <a:rPr b="0" i="0" lang="en-US" sz="12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free official docs and tutorials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4"/>
              </a:rPr>
              <a:t>Professor Messer</a:t>
            </a:r>
            <a:r>
              <a:rPr b="0" i="0" lang="en-US" sz="12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free CompTIA A+ video course</a:t>
            </a:r>
            <a:endParaRPr b="0" i="0" sz="1200" u="none" cap="none" strike="noStrike"/>
          </a:p>
          <a:p>
            <a:pPr indent="0" lvl="0" marL="0" marR="0" rtl="0" algn="l">
              <a:lnSpc>
                <a:spcPct val="16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sng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5"/>
              </a:rPr>
              <a:t>CompTIA A+ Core 2</a:t>
            </a:r>
            <a:r>
              <a:rPr b="0" i="0" lang="en-US" sz="12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the exam these topics map to</a:t>
            </a:r>
            <a:endParaRPr b="0" i="0" sz="1200" u="none" cap="none" strike="noStrike"/>
          </a:p>
        </p:txBody>
      </p:sp>
      <p:sp>
        <p:nvSpPr>
          <p:cNvPr id="404" name="Google Shape;404;p25"/>
          <p:cNvSpPr/>
          <p:nvPr/>
        </p:nvSpPr>
        <p:spPr>
          <a:xfrm>
            <a:off x="711200" y="4724400"/>
            <a:ext cx="10769600" cy="12700"/>
          </a:xfrm>
          <a:prstGeom prst="rect">
            <a:avLst/>
          </a:prstGeom>
          <a:solidFill>
            <a:srgbClr val="B8B0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711200" y="4978400"/>
            <a:ext cx="254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  <a:t>NEXT CLASS</a:t>
            </a:r>
            <a:br>
              <a:rPr b="1" i="0" lang="en-US" sz="1200" u="none" cap="none" strike="noStrike">
                <a:solidFill>
                  <a:srgbClr val="F05A38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200" u="none" cap="none" strike="noStrike"/>
          </a:p>
        </p:txBody>
      </p:sp>
      <p:sp>
        <p:nvSpPr>
          <p:cNvPr id="406" name="Google Shape;406;p25"/>
          <p:cNvSpPr txBox="1"/>
          <p:nvPr/>
        </p:nvSpPr>
        <p:spPr>
          <a:xfrm>
            <a:off x="711200" y="5257800"/>
            <a:ext cx="8890000" cy="2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Hands-on lab: user folders, permissions, and your first script.</a:t>
            </a:r>
            <a:br>
              <a:rPr b="0" i="0" lang="en-US" sz="1400" u="none" cap="none" strike="noStrike">
                <a:solidFill>
                  <a:srgbClr val="F3E8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endParaRPr b="0" i="0" sz="1400" u="none" cap="none" strike="noStrike"/>
          </a:p>
        </p:txBody>
      </p:sp>
      <p:sp>
        <p:nvSpPr>
          <p:cNvPr id="407" name="Google Shape;407;p25"/>
          <p:cNvSpPr/>
          <p:nvPr/>
        </p:nvSpPr>
        <p:spPr>
          <a:xfrm>
            <a:off x="0" y="5994400"/>
            <a:ext cx="12192000" cy="863600"/>
          </a:xfrm>
          <a:prstGeom prst="rect">
            <a:avLst/>
          </a:prstGeom>
          <a:solidFill>
            <a:srgbClr val="F05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"/>
          <p:cNvSpPr txBox="1"/>
          <p:nvPr/>
        </p:nvSpPr>
        <p:spPr>
          <a:xfrm>
            <a:off x="0" y="5994400"/>
            <a:ext cx="121920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  <a:t>PRACTICE · EXPLORE · ASK QUESTIONS</a:t>
            </a:r>
            <a:br>
              <a:rPr b="1" i="0" lang="en-US" sz="1700" u="none" cap="none" strike="noStrike">
                <a:solidFill>
                  <a:srgbClr val="171717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700" u="none" cap="none" strike="noStrike"/>
          </a:p>
        </p:txBody>
      </p:sp>
      <p:sp>
        <p:nvSpPr>
          <p:cNvPr id="409" name="Google Shape;409;p25"/>
          <p:cNvSpPr txBox="1"/>
          <p:nvPr/>
        </p:nvSpPr>
        <p:spPr>
          <a:xfrm>
            <a:off x="11430000" y="5664200"/>
            <a:ext cx="45720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  <a:t>23</a:t>
            </a:r>
            <a:br>
              <a:rPr b="0" i="0" lang="en-US" sz="1000" u="none" cap="none" strike="noStrike">
                <a:solidFill>
                  <a:srgbClr val="B8B0A4"/>
                </a:solidFill>
                <a:latin typeface="Liter"/>
                <a:ea typeface="Liter"/>
                <a:cs typeface="Liter"/>
                <a:sym typeface="Liter"/>
              </a:rPr>
            </a:br>
            <a:endParaRPr b="0" i="0" sz="10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