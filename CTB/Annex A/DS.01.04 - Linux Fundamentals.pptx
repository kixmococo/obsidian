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12192000" cy="6858000"/>
  <p:embeddedFontLst>
    <p:embeddedFont>
      <p:font typeface="Liter"/>
      <p:regular r:id="rId29"/>
    </p:embeddedFont>
    <p:embeddedFont>
      <p:font typeface="Hedvig Letters Sans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79A9F4-0431-4062-A413-61D582C1E6A1}">
  <a:tblStyle styleId="{C679A9F4-0431-4062-A413-61D582C1E6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HedvigLetters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609600" y="5588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DATA SYSTEMS ADMINISTRATOR · ENTRY LEVEL</a:t>
            </a:r>
            <a:endParaRPr b="0" i="0" sz="1200" u="none" cap="none" strike="noStrike"/>
          </a:p>
        </p:txBody>
      </p:sp>
      <p:sp>
        <p:nvSpPr>
          <p:cNvPr id="12" name="Google Shape;12;p3"/>
          <p:cNvSpPr txBox="1"/>
          <p:nvPr/>
        </p:nvSpPr>
        <p:spPr>
          <a:xfrm>
            <a:off x="558800" y="1092200"/>
            <a:ext cx="8128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LINUX</a:t>
            </a:r>
            <a:endParaRPr b="0" i="0" sz="74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FUNDAMENTALS</a:t>
            </a:r>
            <a:endParaRPr b="0" i="0" sz="7400" u="none" cap="none" strike="noStrike"/>
          </a:p>
        </p:txBody>
      </p:sp>
      <p:sp>
        <p:nvSpPr>
          <p:cNvPr id="13" name="Google Shape;13;p3"/>
          <p:cNvSpPr txBox="1"/>
          <p:nvPr/>
        </p:nvSpPr>
        <p:spPr>
          <a:xfrm>
            <a:off x="609600" y="39624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Files, folders, drives and the command line —</a:t>
            </a:r>
            <a:endParaRPr b="0" i="0" sz="17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sng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one command at a time.</a:t>
            </a:r>
            <a:endParaRPr b="0" i="0" sz="1700" u="none" cap="none" strike="noStrike"/>
          </a:p>
        </p:txBody>
      </p:sp>
      <p:sp>
        <p:nvSpPr>
          <p:cNvPr id="14" name="Google Shape;14;p3"/>
          <p:cNvSpPr txBox="1"/>
          <p:nvPr/>
        </p:nvSpPr>
        <p:spPr>
          <a:xfrm>
            <a:off x="609600" y="4902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No experience needed. Bring curiosity.</a:t>
            </a:r>
            <a:endParaRPr b="0" i="0" sz="1300" u="none" cap="none" strike="noStrike"/>
          </a:p>
        </p:txBody>
      </p:sp>
      <p:sp>
        <p:nvSpPr>
          <p:cNvPr id="15" name="Google Shape;15;p3"/>
          <p:cNvSpPr/>
          <p:nvPr/>
        </p:nvSpPr>
        <p:spPr>
          <a:xfrm>
            <a:off x="7747000" y="787400"/>
            <a:ext cx="3175000" cy="31750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042400" y="2997200"/>
            <a:ext cx="2159000" cy="1905000"/>
          </a:xfrm>
          <a:prstGeom prst="triangle">
            <a:avLst>
              <a:gd fmla="val 50000" name="adj"/>
            </a:avLst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467600" y="4114800"/>
            <a:ext cx="2286000" cy="14732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236200" y="5029200"/>
            <a:ext cx="1346200" cy="8382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609600" y="62484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UNIT 01 · YOUR FIRST STEP INTO SYSTEM ADMINISTRATION</a:t>
            </a:r>
            <a:endParaRPr b="0" i="0" sz="1100" u="none" cap="none" strike="noStrike"/>
          </a:p>
        </p:txBody>
      </p:sp>
      <p:sp>
        <p:nvSpPr>
          <p:cNvPr id="20" name="Google Shape;20;p3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6096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COURSE MAP</a:t>
            </a:r>
            <a:endParaRPr b="0" i="0" sz="1200" u="none" cap="none" strike="noStrike"/>
          </a:p>
        </p:txBody>
      </p:sp>
      <p:sp>
        <p:nvSpPr>
          <p:cNvPr id="26" name="Google Shape;26;p4"/>
          <p:cNvSpPr txBox="1"/>
          <p:nvPr/>
        </p:nvSpPr>
        <p:spPr>
          <a:xfrm>
            <a:off x="609600" y="8128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FIVE STOPS ON THE TOUR</a:t>
            </a:r>
            <a:endParaRPr b="0" i="0" sz="4200" u="none" cap="none" strike="noStrike"/>
          </a:p>
        </p:txBody>
      </p:sp>
      <p:sp>
        <p:nvSpPr>
          <p:cNvPr id="27" name="Google Shape;27;p4"/>
          <p:cNvSpPr txBox="1"/>
          <p:nvPr/>
        </p:nvSpPr>
        <p:spPr>
          <a:xfrm>
            <a:off x="609600" y="2032000"/>
            <a:ext cx="3302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8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05</a:t>
            </a:r>
            <a:endParaRPr b="0" i="0" sz="16800" u="none" cap="none" strike="noStrike"/>
          </a:p>
        </p:txBody>
      </p:sp>
      <p:sp>
        <p:nvSpPr>
          <p:cNvPr id="28" name="Google Shape;28;p4"/>
          <p:cNvSpPr txBox="1"/>
          <p:nvPr/>
        </p:nvSpPr>
        <p:spPr>
          <a:xfrm>
            <a:off x="660400" y="4724400"/>
            <a:ext cx="304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units · from zero</a:t>
            </a:r>
            <a:endParaRPr b="0" i="0" sz="13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to job-ready</a:t>
            </a:r>
            <a:endParaRPr b="0" i="0" sz="1300" u="none" cap="none" strike="noStrike"/>
          </a:p>
        </p:txBody>
      </p:sp>
      <p:sp>
        <p:nvSpPr>
          <p:cNvPr id="29" name="Google Shape;29;p4"/>
          <p:cNvSpPr txBox="1"/>
          <p:nvPr/>
        </p:nvSpPr>
        <p:spPr>
          <a:xfrm>
            <a:off x="4826000" y="20320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200" u="none" cap="none" strike="noStrike"/>
          </a:p>
        </p:txBody>
      </p:sp>
      <p:sp>
        <p:nvSpPr>
          <p:cNvPr id="30" name="Google Shape;30;p4"/>
          <p:cNvSpPr txBox="1"/>
          <p:nvPr/>
        </p:nvSpPr>
        <p:spPr>
          <a:xfrm>
            <a:off x="5537200" y="20320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Linux Fundamentals</a:t>
            </a:r>
            <a:endParaRPr b="0" i="0" sz="1800" u="none" cap="none" strike="noStrike"/>
          </a:p>
        </p:txBody>
      </p:sp>
      <p:sp>
        <p:nvSpPr>
          <p:cNvPr id="31" name="Google Shape;31;p4"/>
          <p:cNvSpPr txBox="1"/>
          <p:nvPr/>
        </p:nvSpPr>
        <p:spPr>
          <a:xfrm>
            <a:off x="5537200" y="23622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What Linux is, and why the terminal matters</a:t>
            </a:r>
            <a:endParaRPr b="0" i="0" sz="13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4826000" y="2743200"/>
            <a:ext cx="6756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4826000" y="28702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200" u="none" cap="none" strike="noStrike"/>
          </a:p>
        </p:txBody>
      </p:sp>
      <p:sp>
        <p:nvSpPr>
          <p:cNvPr id="34" name="Google Shape;34;p4"/>
          <p:cNvSpPr txBox="1"/>
          <p:nvPr/>
        </p:nvSpPr>
        <p:spPr>
          <a:xfrm>
            <a:off x="5537200" y="28702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Understanding File Types</a:t>
            </a:r>
            <a:endParaRPr b="0" i="0" sz="1800" u="none" cap="none" strike="noStrike"/>
          </a:p>
        </p:txBody>
      </p:sp>
      <p:sp>
        <p:nvSpPr>
          <p:cNvPr id="35" name="Google Shape;35;p4"/>
          <p:cNvSpPr txBox="1"/>
          <p:nvPr/>
        </p:nvSpPr>
        <p:spPr>
          <a:xfrm>
            <a:off x="5537200" y="32004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.exe .zip .iso — and what an extension really means</a:t>
            </a:r>
            <a:endParaRPr b="0" i="0" sz="13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4826000" y="3581400"/>
            <a:ext cx="6756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4826000" y="37084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200" u="none" cap="none" strike="noStrike"/>
          </a:p>
        </p:txBody>
      </p:sp>
      <p:sp>
        <p:nvSpPr>
          <p:cNvPr id="38" name="Google Shape;38;p4"/>
          <p:cNvSpPr txBox="1"/>
          <p:nvPr/>
        </p:nvSpPr>
        <p:spPr>
          <a:xfrm>
            <a:off x="5537200" y="37084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Create, Modify &amp; Move Files</a:t>
            </a:r>
            <a:endParaRPr b="0" i="0" sz="1800" u="none" cap="none" strike="noStrike"/>
          </a:p>
        </p:txBody>
      </p:sp>
      <p:sp>
        <p:nvSpPr>
          <p:cNvPr id="39" name="Google Shape;39;p4"/>
          <p:cNvSpPr txBox="1"/>
          <p:nvPr/>
        </p:nvSpPr>
        <p:spPr>
          <a:xfrm>
            <a:off x="5537200" y="40386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touch, mkdir, mv, cp, rm — plus file properties</a:t>
            </a:r>
            <a:endParaRPr b="0" i="0" sz="1300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826000" y="4419600"/>
            <a:ext cx="6756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4826000" y="45466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200" u="none" cap="none" strike="noStrike"/>
          </a:p>
        </p:txBody>
      </p:sp>
      <p:sp>
        <p:nvSpPr>
          <p:cNvPr id="42" name="Google Shape;42;p4"/>
          <p:cNvSpPr txBox="1"/>
          <p:nvPr/>
        </p:nvSpPr>
        <p:spPr>
          <a:xfrm>
            <a:off x="5537200" y="45466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Drives, Media &amp; Paths</a:t>
            </a:r>
            <a:endParaRPr b="0" i="0" sz="1800" u="none" cap="none" strike="noStrike"/>
          </a:p>
        </p:txBody>
      </p:sp>
      <p:sp>
        <p:nvSpPr>
          <p:cNvPr id="43" name="Google Shape;43;p4"/>
          <p:cNvSpPr txBox="1"/>
          <p:nvPr/>
        </p:nvSpPr>
        <p:spPr>
          <a:xfrm>
            <a:off x="5537200" y="48768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One tree, USB sticks, and finding your way</a:t>
            </a:r>
            <a:endParaRPr b="0" i="0" sz="1300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826000" y="5257800"/>
            <a:ext cx="6756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4826000" y="53848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200" u="none" cap="none" strike="noStrike"/>
          </a:p>
        </p:txBody>
      </p:sp>
      <p:sp>
        <p:nvSpPr>
          <p:cNvPr id="46" name="Google Shape;46;p4"/>
          <p:cNvSpPr txBox="1"/>
          <p:nvPr/>
        </p:nvSpPr>
        <p:spPr>
          <a:xfrm>
            <a:off x="5537200" y="5384800"/>
            <a:ext cx="604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Commands: bash · CMD · PowerShell</a:t>
            </a:r>
            <a:endParaRPr b="0" i="0" sz="1800" u="none" cap="none" strike="noStrike"/>
          </a:p>
        </p:txBody>
      </p:sp>
      <p:sp>
        <p:nvSpPr>
          <p:cNvPr id="47" name="Google Shape;47;p4"/>
          <p:cNvSpPr txBox="1"/>
          <p:nvPr/>
        </p:nvSpPr>
        <p:spPr>
          <a:xfrm>
            <a:off x="5537200" y="5715000"/>
            <a:ext cx="604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Three dialects, one idea — plus the power of pipes</a:t>
            </a:r>
            <a:endParaRPr b="0" i="0" sz="1300" u="none" cap="none" strike="noStrike"/>
          </a:p>
        </p:txBody>
      </p:sp>
      <p:sp>
        <p:nvSpPr>
          <p:cNvPr id="48" name="Google Shape;48;p4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A3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/>
        </p:nvSpPr>
        <p:spPr>
          <a:xfrm>
            <a:off x="6096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UNIT 01</a:t>
            </a:r>
            <a:endParaRPr b="0" i="0" sz="1200" u="none" cap="none" strike="noStrike"/>
          </a:p>
        </p:txBody>
      </p:sp>
      <p:sp>
        <p:nvSpPr>
          <p:cNvPr id="54" name="Google Shape;54;p5"/>
          <p:cNvSpPr txBox="1"/>
          <p:nvPr/>
        </p:nvSpPr>
        <p:spPr>
          <a:xfrm>
            <a:off x="558800" y="11684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LINUX</a:t>
            </a:r>
            <a:endParaRPr b="0" i="0" sz="9200" u="none" cap="none" strike="noStrike"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FUNDAMENTALS</a:t>
            </a:r>
            <a:endParaRPr b="0" i="0" sz="9200" u="none" cap="none" strike="noStrike"/>
          </a:p>
        </p:txBody>
      </p:sp>
      <p:sp>
        <p:nvSpPr>
          <p:cNvPr id="55" name="Google Shape;55;p5"/>
          <p:cNvSpPr txBox="1"/>
          <p:nvPr/>
        </p:nvSpPr>
        <p:spPr>
          <a:xfrm>
            <a:off x="609600" y="42672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Meet the operating system that quietly runs the internet.</a:t>
            </a:r>
            <a:endParaRPr b="0" i="0" sz="1800" u="none" cap="none" strike="noStrike"/>
          </a:p>
        </p:txBody>
      </p:sp>
      <p:sp>
        <p:nvSpPr>
          <p:cNvPr id="56" name="Google Shape;56;p5"/>
          <p:cNvSpPr txBox="1"/>
          <p:nvPr/>
        </p:nvSpPr>
        <p:spPr>
          <a:xfrm>
            <a:off x="8890000" y="3810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b="0" i="0" sz="17000" u="none" cap="none" strike="noStrike"/>
          </a:p>
        </p:txBody>
      </p:sp>
      <p:sp>
        <p:nvSpPr>
          <p:cNvPr id="57" name="Google Shape;57;p5"/>
          <p:cNvSpPr/>
          <p:nvPr/>
        </p:nvSpPr>
        <p:spPr>
          <a:xfrm rot="900000">
            <a:off x="10312400" y="965200"/>
            <a:ext cx="914400" cy="914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609600" y="6248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WHAT IT IS · WHERE IT RUNS · YOUR FIRST COMMANDS</a:t>
            </a:r>
            <a:endParaRPr b="0" i="0" sz="1200" u="none" cap="none" strike="noStrike"/>
          </a:p>
        </p:txBody>
      </p:sp>
      <p:sp>
        <p:nvSpPr>
          <p:cNvPr id="59" name="Google Shape;59;p5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LINUX FUNDAMENTALS</a:t>
            </a:r>
            <a:endParaRPr b="0" i="0" sz="1200" u="none" cap="none" strike="noStrike"/>
          </a:p>
        </p:txBody>
      </p:sp>
      <p:sp>
        <p:nvSpPr>
          <p:cNvPr id="65" name="Google Shape;65;p6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PENGUIN UNDER THE HOOD</a:t>
            </a:r>
            <a:endParaRPr b="0" i="0" sz="4000" u="none" cap="none" strike="noStrike"/>
          </a:p>
        </p:txBody>
      </p:sp>
      <p:sp>
        <p:nvSpPr>
          <p:cNvPr id="66" name="Google Shape;66;p6"/>
          <p:cNvSpPr txBox="1"/>
          <p:nvPr/>
        </p:nvSpPr>
        <p:spPr>
          <a:xfrm>
            <a:off x="609600" y="1854200"/>
            <a:ext cx="4953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Linux is a free, open-source operating system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basic software layer that makes a computer usable. Anyone can read its code, improve it, and share it.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Instead of clicking icons, administrators talk to Linux by typing short commands into a terminal, called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shell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</a:t>
            </a:r>
            <a:endParaRPr b="0" i="0" sz="1500" u="none" cap="none" strike="noStrike"/>
          </a:p>
        </p:txBody>
      </p:sp>
      <p:sp>
        <p:nvSpPr>
          <p:cNvPr id="67" name="Google Shape;67;p6"/>
          <p:cNvSpPr txBox="1"/>
          <p:nvPr/>
        </p:nvSpPr>
        <p:spPr>
          <a:xfrm>
            <a:off x="6350000" y="17526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100%</a:t>
            </a:r>
            <a:endParaRPr b="0" i="0" sz="5200" u="none" cap="none" strike="noStrike"/>
          </a:p>
        </p:txBody>
      </p:sp>
      <p:sp>
        <p:nvSpPr>
          <p:cNvPr id="68" name="Google Shape;68;p6"/>
          <p:cNvSpPr txBox="1"/>
          <p:nvPr/>
        </p:nvSpPr>
        <p:spPr>
          <a:xfrm>
            <a:off x="6350000" y="25908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of the world's 500 fastest supercomputers run Linux</a:t>
            </a:r>
            <a:endParaRPr b="0" i="0" sz="13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6350000" y="3200400"/>
            <a:ext cx="48260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6350000" y="34036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557D6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3B+</a:t>
            </a:r>
            <a:endParaRPr b="0" i="0" sz="5200" u="none" cap="none" strike="noStrike"/>
          </a:p>
        </p:txBody>
      </p:sp>
      <p:sp>
        <p:nvSpPr>
          <p:cNvPr id="71" name="Google Shape;71;p6"/>
          <p:cNvSpPr txBox="1"/>
          <p:nvPr/>
        </p:nvSpPr>
        <p:spPr>
          <a:xfrm>
            <a:off x="6350000" y="42418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Android phones and tablets run on a Linux kernel</a:t>
            </a:r>
            <a:endParaRPr b="0" i="0" sz="1300" u="none" cap="none" strike="noStrike"/>
          </a:p>
        </p:txBody>
      </p:sp>
      <p:sp>
        <p:nvSpPr>
          <p:cNvPr id="72" name="Google Shape;72;p6"/>
          <p:cNvSpPr/>
          <p:nvPr/>
        </p:nvSpPr>
        <p:spPr>
          <a:xfrm>
            <a:off x="6350000" y="4851400"/>
            <a:ext cx="48260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6350000" y="50546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$0</a:t>
            </a:r>
            <a:endParaRPr b="0" i="0" sz="5200" u="none" cap="none" strike="noStrike"/>
          </a:p>
        </p:txBody>
      </p:sp>
      <p:sp>
        <p:nvSpPr>
          <p:cNvPr id="74" name="Google Shape;74;p6"/>
          <p:cNvSpPr txBox="1"/>
          <p:nvPr/>
        </p:nvSpPr>
        <p:spPr>
          <a:xfrm>
            <a:off x="6350000" y="58928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what it costs to download, use and share — free as in freedom</a:t>
            </a:r>
            <a:endParaRPr b="0" i="0" sz="1300" u="none" cap="none" strike="noStrike"/>
          </a:p>
        </p:txBody>
      </p:sp>
      <p:sp>
        <p:nvSpPr>
          <p:cNvPr id="75" name="Google Shape;75;p6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LINUX FUNDAMENTALS</a:t>
            </a:r>
            <a:endParaRPr b="0" i="0" sz="1200" u="none" cap="none" strike="noStrike"/>
          </a:p>
        </p:txBody>
      </p:sp>
      <p:sp>
        <p:nvSpPr>
          <p:cNvPr id="81" name="Google Shape;81;p7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EVERY COMMAND IS A SENTENCE</a:t>
            </a:r>
            <a:endParaRPr b="0" i="0" sz="4000" u="none" cap="none" strike="noStrike"/>
          </a:p>
        </p:txBody>
      </p:sp>
      <p:sp>
        <p:nvSpPr>
          <p:cNvPr id="82" name="Google Shape;82;p7"/>
          <p:cNvSpPr/>
          <p:nvPr/>
        </p:nvSpPr>
        <p:spPr>
          <a:xfrm>
            <a:off x="609600" y="1854200"/>
            <a:ext cx="6858000" cy="10668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 txBox="1"/>
          <p:nvPr/>
        </p:nvSpPr>
        <p:spPr>
          <a:xfrm>
            <a:off x="914400" y="2133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student@pc</a:t>
            </a:r>
            <a:r>
              <a:rPr b="1" i="0" lang="en-US" sz="2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:~$ </a:t>
            </a: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ls</a:t>
            </a:r>
            <a:r>
              <a:rPr b="1" i="0" lang="en-US" sz="2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26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-l</a:t>
            </a:r>
            <a:r>
              <a:rPr b="1" i="0" lang="en-US" sz="2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/home</a:t>
            </a:r>
            <a:endParaRPr b="0" i="0" sz="2600" u="none" cap="none" strike="noStrike"/>
          </a:p>
        </p:txBody>
      </p:sp>
      <p:sp>
        <p:nvSpPr>
          <p:cNvPr id="84" name="Google Shape;84;p7"/>
          <p:cNvSpPr txBox="1"/>
          <p:nvPr/>
        </p:nvSpPr>
        <p:spPr>
          <a:xfrm>
            <a:off x="609600" y="3276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verb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: what to do (list files)</a:t>
            </a:r>
            <a:endParaRPr b="0" i="0" sz="1500" u="none" cap="none" strike="noStrike"/>
          </a:p>
        </p:txBody>
      </p:sp>
      <p:sp>
        <p:nvSpPr>
          <p:cNvPr id="85" name="Google Shape;85;p7"/>
          <p:cNvSpPr txBox="1"/>
          <p:nvPr/>
        </p:nvSpPr>
        <p:spPr>
          <a:xfrm>
            <a:off x="609600" y="37084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-l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option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: how to do it (long, detailed list)</a:t>
            </a:r>
            <a:endParaRPr b="0" i="0" sz="1500" u="none" cap="none" strike="noStrike"/>
          </a:p>
        </p:txBody>
      </p:sp>
      <p:sp>
        <p:nvSpPr>
          <p:cNvPr id="86" name="Google Shape;86;p7"/>
          <p:cNvSpPr txBox="1"/>
          <p:nvPr/>
        </p:nvSpPr>
        <p:spPr>
          <a:xfrm>
            <a:off x="609600" y="41402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/home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argument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: where to do it</a:t>
            </a:r>
            <a:endParaRPr b="0" i="0" sz="1500" u="none" cap="none" strike="noStrike"/>
          </a:p>
        </p:txBody>
      </p:sp>
      <p:sp>
        <p:nvSpPr>
          <p:cNvPr id="87" name="Google Shape;87;p7"/>
          <p:cNvSpPr/>
          <p:nvPr/>
        </p:nvSpPr>
        <p:spPr>
          <a:xfrm>
            <a:off x="7874000" y="1854200"/>
            <a:ext cx="12700" cy="30480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8331200" y="18542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STUCK? HELP IS BUILT IN</a:t>
            </a:r>
            <a:endParaRPr b="0" i="0" sz="1700" u="none" cap="none" strike="noStrike"/>
          </a:p>
        </p:txBody>
      </p:sp>
      <p:sp>
        <p:nvSpPr>
          <p:cNvPr id="89" name="Google Shape;89;p7"/>
          <p:cNvSpPr txBox="1"/>
          <p:nvPr/>
        </p:nvSpPr>
        <p:spPr>
          <a:xfrm>
            <a:off x="8331200" y="2311400"/>
            <a:ext cx="3302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man ls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full manual page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ls --help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a quick summary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Tab key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finishes file names for you</a:t>
            </a:r>
            <a:endParaRPr b="0" i="0" sz="1400" u="none" cap="none" strike="noStrike"/>
          </a:p>
        </p:txBody>
      </p:sp>
      <p:sp>
        <p:nvSpPr>
          <p:cNvPr id="90" name="Google Shape;90;p7"/>
          <p:cNvSpPr txBox="1"/>
          <p:nvPr/>
        </p:nvSpPr>
        <p:spPr>
          <a:xfrm>
            <a:off x="609600" y="5969000"/>
            <a:ext cx="812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Typing the Windows command dir in bash sometimes works (it's an alias on some systems) — but learn ls. Trust the man page over a random forum post.</a:t>
            </a:r>
            <a:endParaRPr b="0" i="0" sz="1300" u="none" cap="none" strike="noStrike"/>
          </a:p>
        </p:txBody>
      </p:sp>
      <p:sp>
        <p:nvSpPr>
          <p:cNvPr id="91" name="Google Shape;91;p7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01 · LINUX FUNDAMENTALS</a:t>
            </a:r>
            <a:endParaRPr b="0" i="0" sz="1200" u="none" cap="none" strike="noStrike"/>
          </a:p>
        </p:txBody>
      </p:sp>
      <p:sp>
        <p:nvSpPr>
          <p:cNvPr id="97" name="Google Shape;97;p8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WHY NOT JUST CLICK?</a:t>
            </a:r>
            <a:endParaRPr b="0" i="0" sz="4000" u="none" cap="none" strike="noStrike"/>
          </a:p>
        </p:txBody>
      </p:sp>
      <p:sp>
        <p:nvSpPr>
          <p:cNvPr id="98" name="Google Shape;98;p8"/>
          <p:cNvSpPr txBox="1"/>
          <p:nvPr/>
        </p:nvSpPr>
        <p:spPr>
          <a:xfrm>
            <a:off x="609600" y="1778000"/>
            <a:ext cx="381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500</a:t>
            </a:r>
            <a:endParaRPr b="0" i="0" sz="11000" u="none" cap="none" strike="noStrike"/>
          </a:p>
        </p:txBody>
      </p:sp>
      <p:sp>
        <p:nvSpPr>
          <p:cNvPr id="99" name="Google Shape;99;p8"/>
          <p:cNvSpPr txBox="1"/>
          <p:nvPr/>
        </p:nvSpPr>
        <p:spPr>
          <a:xfrm>
            <a:off x="609600" y="3606800"/>
            <a:ext cx="4191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miles away sits a server with no screen, no mouse, no desktop.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ssh user@server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and you're in. The command line is your hands.</a:t>
            </a:r>
            <a:endParaRPr b="0" i="0" sz="1400" u="none" cap="none" strike="noStrike"/>
          </a:p>
        </p:txBody>
      </p:sp>
      <p:sp>
        <p:nvSpPr>
          <p:cNvPr id="100" name="Google Shape;100;p8"/>
          <p:cNvSpPr txBox="1"/>
          <p:nvPr/>
        </p:nvSpPr>
        <p:spPr>
          <a:xfrm>
            <a:off x="5740400" y="1778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800" u="none" cap="none" strike="noStrike"/>
          </a:p>
        </p:txBody>
      </p:sp>
      <p:sp>
        <p:nvSpPr>
          <p:cNvPr id="101" name="Google Shape;101;p8"/>
          <p:cNvSpPr txBox="1"/>
          <p:nvPr/>
        </p:nvSpPr>
        <p:spPr>
          <a:xfrm>
            <a:off x="6400800" y="1778000"/>
            <a:ext cx="5181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Servers are headless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most have no graphical desktop at all</a:t>
            </a:r>
            <a:endParaRPr b="0" i="0" sz="1400" u="none" cap="none" strike="noStrike"/>
          </a:p>
        </p:txBody>
      </p:sp>
      <p:sp>
        <p:nvSpPr>
          <p:cNvPr id="102" name="Google Shape;102;p8"/>
          <p:cNvSpPr/>
          <p:nvPr/>
        </p:nvSpPr>
        <p:spPr>
          <a:xfrm>
            <a:off x="5740400" y="2438400"/>
            <a:ext cx="58420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5740400" y="2641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800" u="none" cap="none" strike="noStrike"/>
          </a:p>
        </p:txBody>
      </p:sp>
      <p:sp>
        <p:nvSpPr>
          <p:cNvPr id="104" name="Google Shape;104;p8"/>
          <p:cNvSpPr txBox="1"/>
          <p:nvPr/>
        </p:nvSpPr>
        <p:spPr>
          <a:xfrm>
            <a:off x="6400800" y="2641600"/>
            <a:ext cx="5181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Scripts repeat perfectly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three lines beat two hundred clicks</a:t>
            </a:r>
            <a:endParaRPr b="0" i="0" sz="1400" u="none" cap="none" strike="noStrike"/>
          </a:p>
        </p:txBody>
      </p:sp>
      <p:sp>
        <p:nvSpPr>
          <p:cNvPr id="105" name="Google Shape;105;p8"/>
          <p:cNvSpPr/>
          <p:nvPr/>
        </p:nvSpPr>
        <p:spPr>
          <a:xfrm>
            <a:off x="5740400" y="3302000"/>
            <a:ext cx="58420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 txBox="1"/>
          <p:nvPr/>
        </p:nvSpPr>
        <p:spPr>
          <a:xfrm>
            <a:off x="5740400" y="35052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800" u="none" cap="none" strike="noStrike"/>
          </a:p>
        </p:txBody>
      </p:sp>
      <p:sp>
        <p:nvSpPr>
          <p:cNvPr id="107" name="Google Shape;107;p8"/>
          <p:cNvSpPr txBox="1"/>
          <p:nvPr/>
        </p:nvSpPr>
        <p:spPr>
          <a:xfrm>
            <a:off x="6400800" y="3505200"/>
            <a:ext cx="5181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Remote control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fix any machine, from anywhere, over ssh</a:t>
            </a:r>
            <a:endParaRPr b="0" i="0" sz="1400" u="none" cap="none" strike="noStrike"/>
          </a:p>
        </p:txBody>
      </p:sp>
      <p:sp>
        <p:nvSpPr>
          <p:cNvPr id="108" name="Google Shape;108;p8"/>
          <p:cNvSpPr/>
          <p:nvPr/>
        </p:nvSpPr>
        <p:spPr>
          <a:xfrm>
            <a:off x="5740400" y="4165600"/>
            <a:ext cx="58420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5740400" y="43688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800" u="none" cap="none" strike="noStrike"/>
          </a:p>
        </p:txBody>
      </p:sp>
      <p:sp>
        <p:nvSpPr>
          <p:cNvPr id="110" name="Google Shape;110;p8"/>
          <p:cNvSpPr txBox="1"/>
          <p:nvPr/>
        </p:nvSpPr>
        <p:spPr>
          <a:xfrm>
            <a:off x="6400800" y="4368800"/>
            <a:ext cx="5181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It's the job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sysadmin, cloud and security roles expect CLI skills</a:t>
            </a:r>
            <a:endParaRPr b="0" i="0" sz="1400" u="none" cap="none" strike="noStrike"/>
          </a:p>
        </p:txBody>
      </p:sp>
      <p:sp>
        <p:nvSpPr>
          <p:cNvPr id="111" name="Google Shape;111;p8"/>
          <p:cNvSpPr txBox="1"/>
          <p:nvPr/>
        </p:nvSpPr>
        <p:spPr>
          <a:xfrm>
            <a:off x="609600" y="5969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Automation tools like Ansible and Docker are command-line first — this is a career skill, not a history lesson.</a:t>
            </a:r>
            <a:endParaRPr b="0" i="0" sz="1300" u="none" cap="none" strike="noStrike"/>
          </a:p>
        </p:txBody>
      </p:sp>
      <p:sp>
        <p:nvSpPr>
          <p:cNvPr id="112" name="Google Shape;112;p8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/>
        </p:nvSpPr>
        <p:spPr>
          <a:xfrm>
            <a:off x="6096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UNIT 02</a:t>
            </a:r>
            <a:endParaRPr b="0" i="0" sz="1200" u="none" cap="none" strike="noStrike"/>
          </a:p>
        </p:txBody>
      </p:sp>
      <p:sp>
        <p:nvSpPr>
          <p:cNvPr id="118" name="Google Shape;118;p9"/>
          <p:cNvSpPr txBox="1"/>
          <p:nvPr/>
        </p:nvSpPr>
        <p:spPr>
          <a:xfrm>
            <a:off x="558800" y="1168400"/>
            <a:ext cx="9652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UNDERSTANDING</a:t>
            </a:r>
            <a:endParaRPr b="0" i="0" sz="7200" u="none" cap="none" strike="noStrike"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FILE TYPES</a:t>
            </a:r>
            <a:endParaRPr b="0" i="0" sz="7200" u="none" cap="none" strike="noStrike"/>
          </a:p>
        </p:txBody>
      </p:sp>
      <p:sp>
        <p:nvSpPr>
          <p:cNvPr id="119" name="Google Shape;119;p9"/>
          <p:cNvSpPr txBox="1"/>
          <p:nvPr/>
        </p:nvSpPr>
        <p:spPr>
          <a:xfrm>
            <a:off x="609600" y="38862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.exe   .zip   .iso   .sh   .yaml   .log</a:t>
            </a:r>
            <a:endParaRPr b="0" i="0" sz="2200" u="none" cap="none" strike="noStrike"/>
          </a:p>
        </p:txBody>
      </p:sp>
      <p:sp>
        <p:nvSpPr>
          <p:cNvPr id="120" name="Google Shape;120;p9"/>
          <p:cNvSpPr txBox="1"/>
          <p:nvPr/>
        </p:nvSpPr>
        <p:spPr>
          <a:xfrm>
            <a:off x="609600" y="4445000"/>
            <a:ext cx="812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What's actually inside those letters after the dot?</a:t>
            </a:r>
            <a:endParaRPr b="0" i="0" sz="1500" u="none" cap="none" strike="noStrike"/>
          </a:p>
        </p:txBody>
      </p:sp>
      <p:sp>
        <p:nvSpPr>
          <p:cNvPr id="121" name="Google Shape;121;p9"/>
          <p:cNvSpPr txBox="1"/>
          <p:nvPr/>
        </p:nvSpPr>
        <p:spPr>
          <a:xfrm>
            <a:off x="8890000" y="3810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2557D6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b="0" i="0" sz="17000" u="none" cap="none" strike="noStrike"/>
          </a:p>
        </p:txBody>
      </p:sp>
      <p:sp>
        <p:nvSpPr>
          <p:cNvPr id="122" name="Google Shape;122;p9"/>
          <p:cNvSpPr/>
          <p:nvPr/>
        </p:nvSpPr>
        <p:spPr>
          <a:xfrm rot="720000">
            <a:off x="10058400" y="965200"/>
            <a:ext cx="1168400" cy="1168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609600" y="6248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EXTENSIONS VS. CONTENT · PROGRAMS · ARCHIVES · CONFIGS</a:t>
            </a:r>
            <a:endParaRPr b="0" i="0" sz="1200" u="none" cap="none" strike="noStrike"/>
          </a:p>
        </p:txBody>
      </p:sp>
      <p:sp>
        <p:nvSpPr>
          <p:cNvPr id="124" name="Google Shape;124;p9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UNDERSTANDING FILE TYPES</a:t>
            </a:r>
            <a:endParaRPr b="0" i="0" sz="1200" u="none" cap="none" strike="noStrike"/>
          </a:p>
        </p:txBody>
      </p:sp>
      <p:sp>
        <p:nvSpPr>
          <p:cNvPr id="130" name="Google Shape;130;p10"/>
          <p:cNvSpPr txBox="1"/>
          <p:nvPr/>
        </p:nvSpPr>
        <p:spPr>
          <a:xfrm>
            <a:off x="558800" y="812800"/>
            <a:ext cx="1016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EXTENSION IS JUST A NAME TAG</a:t>
            </a:r>
            <a:endParaRPr b="0" i="0" sz="4000" u="none" cap="none" strike="noStrike"/>
          </a:p>
        </p:txBody>
      </p:sp>
      <p:sp>
        <p:nvSpPr>
          <p:cNvPr id="131" name="Google Shape;131;p10"/>
          <p:cNvSpPr txBox="1"/>
          <p:nvPr/>
        </p:nvSpPr>
        <p:spPr>
          <a:xfrm>
            <a:off x="609600" y="1930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notes.txt</a:t>
            </a:r>
            <a:endParaRPr b="0" i="0" sz="3000" u="none" cap="none" strike="noStrike"/>
          </a:p>
        </p:txBody>
      </p:sp>
      <p:sp>
        <p:nvSpPr>
          <p:cNvPr id="132" name="Google Shape;132;p10"/>
          <p:cNvSpPr txBox="1"/>
          <p:nvPr/>
        </p:nvSpPr>
        <p:spPr>
          <a:xfrm>
            <a:off x="609600" y="24892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an ordinary text file</a:t>
            </a:r>
            <a:endParaRPr b="0" i="0" sz="1300" u="none" cap="none" strike="noStrike"/>
          </a:p>
        </p:txBody>
      </p:sp>
      <p:sp>
        <p:nvSpPr>
          <p:cNvPr id="133" name="Google Shape;133;p10"/>
          <p:cNvSpPr/>
          <p:nvPr/>
        </p:nvSpPr>
        <p:spPr>
          <a:xfrm>
            <a:off x="4191000" y="2133600"/>
            <a:ext cx="7620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 txBox="1"/>
          <p:nvPr/>
        </p:nvSpPr>
        <p:spPr>
          <a:xfrm>
            <a:off x="5232400" y="19304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notes.jpg</a:t>
            </a:r>
            <a:endParaRPr b="0" i="0" sz="3000" u="none" cap="none" strike="noStrike"/>
          </a:p>
        </p:txBody>
      </p:sp>
      <p:sp>
        <p:nvSpPr>
          <p:cNvPr id="135" name="Google Shape;135;p10"/>
          <p:cNvSpPr txBox="1"/>
          <p:nvPr/>
        </p:nvSpPr>
        <p:spPr>
          <a:xfrm>
            <a:off x="5232400" y="24892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renamed — but nothing inside changed</a:t>
            </a:r>
            <a:endParaRPr b="0" i="0" sz="1300" u="none" cap="none" strike="noStrike"/>
          </a:p>
        </p:txBody>
      </p:sp>
      <p:sp>
        <p:nvSpPr>
          <p:cNvPr id="136" name="Google Shape;136;p10"/>
          <p:cNvSpPr/>
          <p:nvPr/>
        </p:nvSpPr>
        <p:spPr>
          <a:xfrm>
            <a:off x="8585200" y="2133600"/>
            <a:ext cx="7620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 txBox="1"/>
          <p:nvPr/>
        </p:nvSpPr>
        <p:spPr>
          <a:xfrm>
            <a:off x="9626600" y="1854200"/>
            <a:ext cx="2159000" cy="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$ file notes.jpg</a:t>
            </a:r>
            <a:endParaRPr b="0" i="0" sz="15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→ still ASCII text</a:t>
            </a:r>
            <a:endParaRPr b="0" i="0" sz="1500" u="none" cap="none" strike="noStrike"/>
          </a:p>
        </p:txBody>
      </p:sp>
      <p:sp>
        <p:nvSpPr>
          <p:cNvPr id="138" name="Google Shape;138;p10"/>
          <p:cNvSpPr/>
          <p:nvPr/>
        </p:nvSpPr>
        <p:spPr>
          <a:xfrm>
            <a:off x="609600" y="3124200"/>
            <a:ext cx="109728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609600" y="34544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Linux doesn't trust the name.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It opens the file and reads the first bytes — the </a:t>
            </a:r>
            <a:r>
              <a:rPr b="1" i="0" lang="en-US" sz="1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magic bytes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to learn what it really is.</a:t>
            </a:r>
            <a:endParaRPr b="0" i="0" sz="15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Renaming never converts anything. A .txt called .jpg is still text, and a real photo opened in a text editor shows binary gibberish.</a:t>
            </a:r>
            <a:endParaRPr b="0" i="0" sz="1500" u="none" cap="none" strike="noStrike"/>
          </a:p>
        </p:txBody>
      </p:sp>
      <p:sp>
        <p:nvSpPr>
          <p:cNvPr id="140" name="Google Shape;140;p10"/>
          <p:cNvSpPr/>
          <p:nvPr/>
        </p:nvSpPr>
        <p:spPr>
          <a:xfrm>
            <a:off x="8331200" y="3454400"/>
            <a:ext cx="3251200" cy="16510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 txBox="1"/>
          <p:nvPr/>
        </p:nvSpPr>
        <p:spPr>
          <a:xfrm>
            <a:off x="8585200" y="36830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THINK</a:t>
            </a:r>
            <a:endParaRPr b="0" i="0" sz="1400" u="none" cap="none" strike="noStrike"/>
          </a:p>
          <a:p>
            <a:pPr indent="0" lvl="0" marL="0" marR="0" rtl="0"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If Linux doesn't need extensions, why do we still use them? (For humans — and some apps.)</a:t>
            </a:r>
            <a:endParaRPr b="0" i="0" sz="1400" u="none" cap="none" strike="noStrike"/>
          </a:p>
        </p:txBody>
      </p:sp>
      <p:sp>
        <p:nvSpPr>
          <p:cNvPr id="142" name="Google Shape;142;p10"/>
          <p:cNvSpPr txBox="1"/>
          <p:nvPr/>
        </p:nvSpPr>
        <p:spPr>
          <a:xfrm>
            <a:off x="609600" y="5969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Windows leans on extensions to decide what opens a file. Linux asks the file itself.</a:t>
            </a:r>
            <a:endParaRPr b="0" i="0" sz="1300" u="none" cap="none" strike="noStrike"/>
          </a:p>
        </p:txBody>
      </p:sp>
      <p:sp>
        <p:nvSpPr>
          <p:cNvPr id="143" name="Google Shape;143;p10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UNDERSTANDING FILE TYPES</a:t>
            </a:r>
            <a:endParaRPr b="0" i="0" sz="1200" u="none" cap="none" strike="noStrike"/>
          </a:p>
        </p:txBody>
      </p:sp>
      <p:sp>
        <p:nvSpPr>
          <p:cNvPr id="149" name="Google Shape;149;p11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RUN IT · PACK IT · MOUNT IT</a:t>
            </a:r>
            <a:endParaRPr b="0" i="0" sz="4000" u="none" cap="none" strike="noStrike"/>
          </a:p>
        </p:txBody>
      </p:sp>
      <p:sp>
        <p:nvSpPr>
          <p:cNvPr id="150" name="Google Shape;150;p11"/>
          <p:cNvSpPr txBox="1"/>
          <p:nvPr/>
        </p:nvSpPr>
        <p:spPr>
          <a:xfrm>
            <a:off x="609600" y="1905000"/>
            <a:ext cx="1143000" cy="279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RUN</a:t>
            </a:r>
            <a:endParaRPr b="0" i="0" sz="1300" u="none" cap="none" strike="noStrike"/>
          </a:p>
        </p:txBody>
      </p:sp>
      <p:sp>
        <p:nvSpPr>
          <p:cNvPr id="151" name="Google Shape;151;p11"/>
          <p:cNvSpPr txBox="1"/>
          <p:nvPr/>
        </p:nvSpPr>
        <p:spPr>
          <a:xfrm>
            <a:off x="2032000" y="18034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.exe  /  .sh</a:t>
            </a:r>
            <a:endParaRPr b="0" i="0" sz="3000" u="none" cap="none" strike="noStrike"/>
          </a:p>
        </p:txBody>
      </p:sp>
      <p:sp>
        <p:nvSpPr>
          <p:cNvPr id="152" name="Google Shape;152;p11"/>
          <p:cNvSpPr txBox="1"/>
          <p:nvPr/>
        </p:nvSpPr>
        <p:spPr>
          <a:xfrm>
            <a:off x="6096000" y="1778000"/>
            <a:ext cx="548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Programs.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 .sh script is plain text — give it permission with </a:t>
            </a: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chmod +x run.sh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, then start it with ./run.sh</a:t>
            </a:r>
            <a:endParaRPr b="0" i="0" sz="1400" u="none" cap="none" strike="noStrike"/>
          </a:p>
        </p:txBody>
      </p:sp>
      <p:sp>
        <p:nvSpPr>
          <p:cNvPr id="153" name="Google Shape;153;p11"/>
          <p:cNvSpPr/>
          <p:nvPr/>
        </p:nvSpPr>
        <p:spPr>
          <a:xfrm>
            <a:off x="609600" y="28702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 txBox="1"/>
          <p:nvPr/>
        </p:nvSpPr>
        <p:spPr>
          <a:xfrm>
            <a:off x="609600" y="3352800"/>
            <a:ext cx="1143000" cy="279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PACK</a:t>
            </a:r>
            <a:endParaRPr b="0" i="0" sz="1300" u="none" cap="none" strike="noStrike"/>
          </a:p>
        </p:txBody>
      </p:sp>
      <p:sp>
        <p:nvSpPr>
          <p:cNvPr id="155" name="Google Shape;155;p11"/>
          <p:cNvSpPr txBox="1"/>
          <p:nvPr/>
        </p:nvSpPr>
        <p:spPr>
          <a:xfrm>
            <a:off x="2032000" y="32512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.zip / .tar.gz</a:t>
            </a:r>
            <a:endParaRPr b="0" i="0" sz="3000" u="none" cap="none" strike="noStrike"/>
          </a:p>
        </p:txBody>
      </p:sp>
      <p:sp>
        <p:nvSpPr>
          <p:cNvPr id="156" name="Google Shape;156;p11"/>
          <p:cNvSpPr txBox="1"/>
          <p:nvPr/>
        </p:nvSpPr>
        <p:spPr>
          <a:xfrm>
            <a:off x="6096000" y="3225800"/>
            <a:ext cx="548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Packed suitcases.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tar -xvf bundle.tar.gz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unpacks one. Fun fact: plain .tar bundles but doesn't compress.</a:t>
            </a:r>
            <a:endParaRPr b="0" i="0" sz="1400" u="none" cap="none" strike="noStrike"/>
          </a:p>
        </p:txBody>
      </p:sp>
      <p:sp>
        <p:nvSpPr>
          <p:cNvPr id="157" name="Google Shape;157;p11"/>
          <p:cNvSpPr/>
          <p:nvPr/>
        </p:nvSpPr>
        <p:spPr>
          <a:xfrm>
            <a:off x="609600" y="43180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609600" y="4800600"/>
            <a:ext cx="1143000" cy="2794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MOUNT</a:t>
            </a:r>
            <a:endParaRPr b="0" i="0" sz="1300" u="none" cap="none" strike="noStrike"/>
          </a:p>
        </p:txBody>
      </p:sp>
      <p:sp>
        <p:nvSpPr>
          <p:cNvPr id="159" name="Google Shape;159;p11"/>
          <p:cNvSpPr txBox="1"/>
          <p:nvPr/>
        </p:nvSpPr>
        <p:spPr>
          <a:xfrm>
            <a:off x="2032000" y="4699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.iso</a:t>
            </a:r>
            <a:endParaRPr b="0" i="0" sz="3000" u="none" cap="none" strike="noStrike"/>
          </a:p>
        </p:txBody>
      </p:sp>
      <p:sp>
        <p:nvSpPr>
          <p:cNvPr id="160" name="Google Shape;160;p11"/>
          <p:cNvSpPr txBox="1"/>
          <p:nvPr/>
        </p:nvSpPr>
        <p:spPr>
          <a:xfrm>
            <a:off x="6096000" y="4673600"/>
            <a:ext cx="548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 whole disc in one file.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Mount it to look inside, or write it to a USB stick to install an operating system.</a:t>
            </a:r>
            <a:endParaRPr b="0" i="0" sz="1400" u="none" cap="none" strike="noStrike"/>
          </a:p>
        </p:txBody>
      </p:sp>
      <p:sp>
        <p:nvSpPr>
          <p:cNvPr id="161" name="Google Shape;161;p11"/>
          <p:cNvSpPr txBox="1"/>
          <p:nvPr/>
        </p:nvSpPr>
        <p:spPr>
          <a:xfrm>
            <a:off x="609600" y="5969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Scripts don't run themselves like .exe files — the execute permission and the ./ prefix are doing the work.</a:t>
            </a:r>
            <a:endParaRPr b="0" i="0" sz="1300" u="none" cap="none" strike="noStrike"/>
          </a:p>
        </p:txBody>
      </p:sp>
      <p:sp>
        <p:nvSpPr>
          <p:cNvPr id="162" name="Google Shape;162;p11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/>
        </p:nvSpPr>
        <p:spPr>
          <a:xfrm>
            <a:off x="609600" y="50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02 · UNDERSTANDING FILE TYPES</a:t>
            </a:r>
            <a:endParaRPr b="0" i="0" sz="1200" u="none" cap="none" strike="noStrike"/>
          </a:p>
        </p:txBody>
      </p:sp>
      <p:sp>
        <p:nvSpPr>
          <p:cNvPr id="168" name="Google Shape;168;p12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CONFIGS, LOGS &amp; HIDDEN DOTS</a:t>
            </a:r>
            <a:endParaRPr b="0" i="0" sz="4000" u="none" cap="none" strike="noStrike"/>
          </a:p>
        </p:txBody>
      </p:sp>
      <p:sp>
        <p:nvSpPr>
          <p:cNvPr id="169" name="Google Shape;169;p12"/>
          <p:cNvSpPr txBox="1"/>
          <p:nvPr/>
        </p:nvSpPr>
        <p:spPr>
          <a:xfrm>
            <a:off x="609600" y="18796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000" u="none" cap="none" strike="noStrike"/>
          </a:p>
        </p:txBody>
      </p:sp>
      <p:sp>
        <p:nvSpPr>
          <p:cNvPr id="170" name="Google Shape;170;p12"/>
          <p:cNvSpPr txBox="1"/>
          <p:nvPr/>
        </p:nvSpPr>
        <p:spPr>
          <a:xfrm>
            <a:off x="1320800" y="1879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.yaml / .yml</a:t>
            </a:r>
            <a:endParaRPr b="0" i="0" sz="1800" u="none" cap="none" strike="noStrike"/>
          </a:p>
        </p:txBody>
      </p:sp>
      <p:sp>
        <p:nvSpPr>
          <p:cNvPr id="171" name="Google Shape;171;p12"/>
          <p:cNvSpPr txBox="1"/>
          <p:nvPr/>
        </p:nvSpPr>
        <p:spPr>
          <a:xfrm>
            <a:off x="4318000" y="1854200"/>
            <a:ext cx="726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Settings humans can read — </a:t>
            </a: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indentation is the grammar: spaces, never tabs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. You'll meet it in Docker, Ansible and cloud configs.</a:t>
            </a:r>
            <a:endParaRPr b="0" i="0" sz="1300" u="none" cap="none" strike="noStrike"/>
          </a:p>
        </p:txBody>
      </p:sp>
      <p:sp>
        <p:nvSpPr>
          <p:cNvPr id="172" name="Google Shape;172;p12"/>
          <p:cNvSpPr/>
          <p:nvPr/>
        </p:nvSpPr>
        <p:spPr>
          <a:xfrm>
            <a:off x="609600" y="2590800"/>
            <a:ext cx="109728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609600" y="27940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000" u="none" cap="none" strike="noStrike"/>
          </a:p>
        </p:txBody>
      </p:sp>
      <p:sp>
        <p:nvSpPr>
          <p:cNvPr id="174" name="Google Shape;174;p12"/>
          <p:cNvSpPr txBox="1"/>
          <p:nvPr/>
        </p:nvSpPr>
        <p:spPr>
          <a:xfrm>
            <a:off x="1320800" y="27940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.conf / .log</a:t>
            </a:r>
            <a:endParaRPr b="0" i="0" sz="1800" u="none" cap="none" strike="noStrike"/>
          </a:p>
        </p:txBody>
      </p:sp>
      <p:sp>
        <p:nvSpPr>
          <p:cNvPr id="175" name="Google Shape;175;p12"/>
          <p:cNvSpPr txBox="1"/>
          <p:nvPr/>
        </p:nvSpPr>
        <p:spPr>
          <a:xfrm>
            <a:off x="4318000" y="2768600"/>
            <a:ext cx="726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System settings live in /etc; the system's diary lives in /var/log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. Both are plain text — open them and read.</a:t>
            </a:r>
            <a:endParaRPr b="0" i="0" sz="1300" u="none" cap="none" strike="noStrike"/>
          </a:p>
        </p:txBody>
      </p:sp>
      <p:sp>
        <p:nvSpPr>
          <p:cNvPr id="176" name="Google Shape;176;p12"/>
          <p:cNvSpPr/>
          <p:nvPr/>
        </p:nvSpPr>
        <p:spPr>
          <a:xfrm>
            <a:off x="609600" y="3505200"/>
            <a:ext cx="109728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 txBox="1"/>
          <p:nvPr/>
        </p:nvSpPr>
        <p:spPr>
          <a:xfrm>
            <a:off x="609600" y="37084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000" u="none" cap="none" strike="noStrike"/>
          </a:p>
        </p:txBody>
      </p:sp>
      <p:sp>
        <p:nvSpPr>
          <p:cNvPr id="178" name="Google Shape;178;p12"/>
          <p:cNvSpPr txBox="1"/>
          <p:nvPr/>
        </p:nvSpPr>
        <p:spPr>
          <a:xfrm>
            <a:off x="1320800" y="37084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.deb / .rpm</a:t>
            </a:r>
            <a:endParaRPr b="0" i="0" sz="1800" u="none" cap="none" strike="noStrike"/>
          </a:p>
        </p:txBody>
      </p:sp>
      <p:sp>
        <p:nvSpPr>
          <p:cNvPr id="179" name="Google Shape;179;p12"/>
          <p:cNvSpPr txBox="1"/>
          <p:nvPr/>
        </p:nvSpPr>
        <p:spPr>
          <a:xfrm>
            <a:off x="4318000" y="3683000"/>
            <a:ext cx="72644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Installer packages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the Linux answer to setup.exe, handled by the system's package manager.</a:t>
            </a:r>
            <a:endParaRPr b="0" i="0" sz="1300" u="none" cap="none" strike="noStrike"/>
          </a:p>
        </p:txBody>
      </p:sp>
      <p:sp>
        <p:nvSpPr>
          <p:cNvPr id="180" name="Google Shape;180;p12"/>
          <p:cNvSpPr/>
          <p:nvPr/>
        </p:nvSpPr>
        <p:spPr>
          <a:xfrm>
            <a:off x="609600" y="4419600"/>
            <a:ext cx="109728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609600" y="4622800"/>
            <a:ext cx="558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7B3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000" u="none" cap="none" strike="noStrike"/>
          </a:p>
        </p:txBody>
      </p:sp>
      <p:sp>
        <p:nvSpPr>
          <p:cNvPr id="182" name="Google Shape;182;p12"/>
          <p:cNvSpPr txBox="1"/>
          <p:nvPr/>
        </p:nvSpPr>
        <p:spPr>
          <a:xfrm>
            <a:off x="1320800" y="46228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.bashrc (dotfiles)</a:t>
            </a:r>
            <a:endParaRPr b="0" i="0" sz="1800" u="none" cap="none" strike="noStrike"/>
          </a:p>
        </p:txBody>
      </p:sp>
      <p:sp>
        <p:nvSpPr>
          <p:cNvPr id="183" name="Google Shape;183;p12"/>
          <p:cNvSpPr txBox="1"/>
          <p:nvPr/>
        </p:nvSpPr>
        <p:spPr>
          <a:xfrm>
            <a:off x="4318000" y="4597400"/>
            <a:ext cx="72644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 leading dot means hidden</a:t>
            </a: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plain ls skips them; ls -a reveals your personal settings files.</a:t>
            </a:r>
            <a:endParaRPr b="0" i="0" sz="1300" u="none" cap="none" strike="noStrike"/>
          </a:p>
        </p:txBody>
      </p:sp>
      <p:sp>
        <p:nvSpPr>
          <p:cNvPr id="184" name="Google Shape;184;p12"/>
          <p:cNvSpPr txBox="1"/>
          <p:nvPr/>
        </p:nvSpPr>
        <p:spPr>
          <a:xfrm>
            <a:off x="609600" y="59690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ASK — why would a system hide its own settings files by default?</a:t>
            </a:r>
            <a:endParaRPr b="0" i="0" sz="1300" u="none" cap="none" strike="noStrike"/>
          </a:p>
        </p:txBody>
      </p:sp>
      <p:sp>
        <p:nvSpPr>
          <p:cNvPr id="185" name="Google Shape;185;p12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A3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 txBox="1"/>
          <p:nvPr/>
        </p:nvSpPr>
        <p:spPr>
          <a:xfrm>
            <a:off x="6096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UNIT 03</a:t>
            </a:r>
            <a:endParaRPr b="0" i="0" sz="1200" u="none" cap="none" strike="noStrike"/>
          </a:p>
        </p:txBody>
      </p:sp>
      <p:sp>
        <p:nvSpPr>
          <p:cNvPr id="191" name="Google Shape;191;p13"/>
          <p:cNvSpPr txBox="1"/>
          <p:nvPr/>
        </p:nvSpPr>
        <p:spPr>
          <a:xfrm>
            <a:off x="558800" y="1117600"/>
            <a:ext cx="9144000" cy="3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CREATE,</a:t>
            </a:r>
            <a:endParaRPr b="0" i="0" sz="8600" u="none" cap="none" strike="noStrike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MODIFY &amp;</a:t>
            </a:r>
            <a:endParaRPr b="0" i="0" sz="8600" u="none" cap="none" strike="noStrike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MOVE FILES</a:t>
            </a:r>
            <a:endParaRPr b="0" i="0" sz="8600" u="none" cap="none" strike="noStrike"/>
          </a:p>
        </p:txBody>
      </p:sp>
      <p:sp>
        <p:nvSpPr>
          <p:cNvPr id="192" name="Google Shape;192;p13"/>
          <p:cNvSpPr txBox="1"/>
          <p:nvPr/>
        </p:nvSpPr>
        <p:spPr>
          <a:xfrm>
            <a:off x="609600" y="5029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Touch it, name it, move it — and (carefully) delete it.</a:t>
            </a:r>
            <a:endParaRPr b="0" i="0" sz="1700" u="none" cap="none" strike="noStrike"/>
          </a:p>
        </p:txBody>
      </p:sp>
      <p:sp>
        <p:nvSpPr>
          <p:cNvPr id="193" name="Google Shape;193;p13"/>
          <p:cNvSpPr txBox="1"/>
          <p:nvPr/>
        </p:nvSpPr>
        <p:spPr>
          <a:xfrm>
            <a:off x="8890000" y="3810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b="0" i="0" sz="17000" u="none" cap="none" strike="noStrike"/>
          </a:p>
        </p:txBody>
      </p:sp>
      <p:sp>
        <p:nvSpPr>
          <p:cNvPr id="194" name="Google Shape;194;p13"/>
          <p:cNvSpPr txBox="1"/>
          <p:nvPr/>
        </p:nvSpPr>
        <p:spPr>
          <a:xfrm>
            <a:off x="609600" y="6248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TOUCH · MKDIR · MV · CP · RM · PERMISSIONS</a:t>
            </a:r>
            <a:endParaRPr b="0" i="0" sz="1200" u="none" cap="none" strike="noStrike"/>
          </a:p>
        </p:txBody>
      </p:sp>
      <p:sp>
        <p:nvSpPr>
          <p:cNvPr id="195" name="Google Shape;195;p13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CREATE, MODIFY &amp; MOVE FILES</a:t>
            </a:r>
            <a:endParaRPr b="0" i="0" sz="1200" u="none" cap="none" strike="noStrike"/>
          </a:p>
        </p:txBody>
      </p:sp>
      <p:sp>
        <p:nvSpPr>
          <p:cNvPr id="201" name="Google Shape;201;p14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MAKE SOMETHING FROM NOTHING</a:t>
            </a:r>
            <a:endParaRPr b="0" i="0" sz="4000" u="none" cap="none" strike="noStrike"/>
          </a:p>
        </p:txBody>
      </p:sp>
      <p:sp>
        <p:nvSpPr>
          <p:cNvPr id="202" name="Google Shape;202;p14"/>
          <p:cNvSpPr txBox="1"/>
          <p:nvPr/>
        </p:nvSpPr>
        <p:spPr>
          <a:xfrm>
            <a:off x="609600" y="18796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touch newfile.txt</a:t>
            </a:r>
            <a:endParaRPr b="0" i="0" sz="1700" u="none" cap="none" strike="noStrike"/>
          </a:p>
        </p:txBody>
      </p:sp>
      <p:sp>
        <p:nvSpPr>
          <p:cNvPr id="203" name="Google Shape;203;p14"/>
          <p:cNvSpPr txBox="1"/>
          <p:nvPr/>
        </p:nvSpPr>
        <p:spPr>
          <a:xfrm>
            <a:off x="4318000" y="1905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an empty file appears (also refreshes a file's timestamp)</a:t>
            </a:r>
            <a:endParaRPr b="0" i="0" sz="1300" u="none" cap="none" strike="noStrike"/>
          </a:p>
        </p:txBody>
      </p:sp>
      <p:sp>
        <p:nvSpPr>
          <p:cNvPr id="204" name="Google Shape;204;p14"/>
          <p:cNvSpPr/>
          <p:nvPr/>
        </p:nvSpPr>
        <p:spPr>
          <a:xfrm>
            <a:off x="609600" y="2540000"/>
            <a:ext cx="72644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609600" y="27432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mkdir -p labs/week1</a:t>
            </a:r>
            <a:endParaRPr b="0" i="0" sz="1700" u="none" cap="none" strike="noStrike"/>
          </a:p>
        </p:txBody>
      </p:sp>
      <p:sp>
        <p:nvSpPr>
          <p:cNvPr id="206" name="Google Shape;206;p14"/>
          <p:cNvSpPr txBox="1"/>
          <p:nvPr/>
        </p:nvSpPr>
        <p:spPr>
          <a:xfrm>
            <a:off x="4318000" y="27686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builds nested folders in one shot — the -p does the parents too</a:t>
            </a:r>
            <a:endParaRPr b="0" i="0" sz="1300" u="none" cap="none" strike="noStrike"/>
          </a:p>
        </p:txBody>
      </p:sp>
      <p:sp>
        <p:nvSpPr>
          <p:cNvPr id="207" name="Google Shape;207;p14"/>
          <p:cNvSpPr/>
          <p:nvPr/>
        </p:nvSpPr>
        <p:spPr>
          <a:xfrm>
            <a:off x="609600" y="3403600"/>
            <a:ext cx="72644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609600" y="36068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nano notes.txt</a:t>
            </a:r>
            <a:endParaRPr b="0" i="0" sz="1700" u="none" cap="none" strike="noStrike"/>
          </a:p>
        </p:txBody>
      </p:sp>
      <p:sp>
        <p:nvSpPr>
          <p:cNvPr id="209" name="Google Shape;209;p14"/>
          <p:cNvSpPr txBox="1"/>
          <p:nvPr/>
        </p:nvSpPr>
        <p:spPr>
          <a:xfrm>
            <a:off x="4318000" y="36322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 friendly text editor, right inside the terminal</a:t>
            </a:r>
            <a:endParaRPr b="0" i="0" sz="1300" u="none" cap="none" strike="noStrike"/>
          </a:p>
        </p:txBody>
      </p:sp>
      <p:sp>
        <p:nvSpPr>
          <p:cNvPr id="210" name="Google Shape;210;p14"/>
          <p:cNvSpPr/>
          <p:nvPr/>
        </p:nvSpPr>
        <p:spPr>
          <a:xfrm>
            <a:off x="609600" y="4267200"/>
            <a:ext cx="72644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609600" y="44704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echo "hi" &gt; a.txt</a:t>
            </a:r>
            <a:endParaRPr b="0" i="0" sz="1700" u="none" cap="none" strike="noStrike"/>
          </a:p>
        </p:txBody>
      </p:sp>
      <p:sp>
        <p:nvSpPr>
          <p:cNvPr id="212" name="Google Shape;212;p14"/>
          <p:cNvSpPr txBox="1"/>
          <p:nvPr/>
        </p:nvSpPr>
        <p:spPr>
          <a:xfrm>
            <a:off x="4318000" y="44958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sends text into a file — no editor needed</a:t>
            </a:r>
            <a:endParaRPr b="0" i="0" sz="1300" u="none" cap="none" strike="noStrike"/>
          </a:p>
        </p:txBody>
      </p:sp>
      <p:sp>
        <p:nvSpPr>
          <p:cNvPr id="213" name="Google Shape;213;p14"/>
          <p:cNvSpPr/>
          <p:nvPr/>
        </p:nvSpPr>
        <p:spPr>
          <a:xfrm>
            <a:off x="8432800" y="1879600"/>
            <a:ext cx="3149600" cy="3124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8737600" y="2133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&gt;</a:t>
            </a:r>
            <a:endParaRPr b="0" i="0" sz="4200" u="none" cap="none" strike="noStrike"/>
          </a:p>
        </p:txBody>
      </p:sp>
      <p:sp>
        <p:nvSpPr>
          <p:cNvPr id="215" name="Google Shape;215;p14"/>
          <p:cNvSpPr txBox="1"/>
          <p:nvPr/>
        </p:nvSpPr>
        <p:spPr>
          <a:xfrm>
            <a:off x="8737600" y="28448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overwrites — the old content is gone</a:t>
            </a:r>
            <a:endParaRPr b="0" i="0" sz="1300" u="none" cap="none" strike="noStrike"/>
          </a:p>
        </p:txBody>
      </p:sp>
      <p:sp>
        <p:nvSpPr>
          <p:cNvPr id="216" name="Google Shape;216;p14"/>
          <p:cNvSpPr txBox="1"/>
          <p:nvPr/>
        </p:nvSpPr>
        <p:spPr>
          <a:xfrm>
            <a:off x="8737600" y="3530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D9F04A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&gt;&gt;</a:t>
            </a:r>
            <a:endParaRPr b="0" i="0" sz="4200" u="none" cap="none" strike="noStrike"/>
          </a:p>
        </p:txBody>
      </p:sp>
      <p:sp>
        <p:nvSpPr>
          <p:cNvPr id="217" name="Google Shape;217;p14"/>
          <p:cNvSpPr txBox="1"/>
          <p:nvPr/>
        </p:nvSpPr>
        <p:spPr>
          <a:xfrm>
            <a:off x="8737600" y="4267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appends — adds to the end, safely</a:t>
            </a:r>
            <a:endParaRPr b="0" i="0" sz="1300" u="none" cap="none" strike="noStrike"/>
          </a:p>
        </p:txBody>
      </p:sp>
      <p:sp>
        <p:nvSpPr>
          <p:cNvPr id="218" name="Google Shape;218;p14"/>
          <p:cNvSpPr txBox="1"/>
          <p:nvPr/>
        </p:nvSpPr>
        <p:spPr>
          <a:xfrm>
            <a:off x="609600" y="59690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One wrong &gt; can erase a file you've worked on for hours. Pause before you press Enter.</a:t>
            </a:r>
            <a:endParaRPr b="0" i="0" sz="1300" u="none" cap="none" strike="noStrike"/>
          </a:p>
        </p:txBody>
      </p:sp>
      <p:sp>
        <p:nvSpPr>
          <p:cNvPr id="219" name="Google Shape;219;p14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CREATE, MODIFY &amp; MOVE FILES</a:t>
            </a:r>
            <a:endParaRPr b="0" i="0" sz="1200" u="none" cap="none" strike="noStrike"/>
          </a:p>
        </p:txBody>
      </p:sp>
      <p:sp>
        <p:nvSpPr>
          <p:cNvPr id="225" name="Google Shape;225;p15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mv: ONE TOOL, TWO JOBS</a:t>
            </a:r>
            <a:endParaRPr b="0" i="0" sz="4000" u="none" cap="none" strike="noStrike"/>
          </a:p>
        </p:txBody>
      </p:sp>
      <p:sp>
        <p:nvSpPr>
          <p:cNvPr id="226" name="Google Shape;226;p15"/>
          <p:cNvSpPr txBox="1"/>
          <p:nvPr/>
        </p:nvSpPr>
        <p:spPr>
          <a:xfrm>
            <a:off x="609600" y="1905000"/>
            <a:ext cx="1676400" cy="279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JOB 1 · RENAME</a:t>
            </a:r>
            <a:endParaRPr b="0" i="0" sz="1300" u="none" cap="none" strike="noStrike"/>
          </a:p>
        </p:txBody>
      </p:sp>
      <p:sp>
        <p:nvSpPr>
          <p:cNvPr id="227" name="Google Shape;227;p15"/>
          <p:cNvSpPr txBox="1"/>
          <p:nvPr/>
        </p:nvSpPr>
        <p:spPr>
          <a:xfrm>
            <a:off x="609600" y="23876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mv old.txt new.txt</a:t>
            </a:r>
            <a:endParaRPr b="0" i="0" sz="2800" u="none" cap="none" strike="noStrike"/>
          </a:p>
        </p:txBody>
      </p:sp>
      <p:sp>
        <p:nvSpPr>
          <p:cNvPr id="228" name="Google Shape;228;p15"/>
          <p:cNvSpPr txBox="1"/>
          <p:nvPr/>
        </p:nvSpPr>
        <p:spPr>
          <a:xfrm>
            <a:off x="609600" y="292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same place, new name — instant</a:t>
            </a:r>
            <a:endParaRPr b="0" i="0" sz="1300" u="none" cap="none" strike="noStrike"/>
          </a:p>
        </p:txBody>
      </p:sp>
      <p:sp>
        <p:nvSpPr>
          <p:cNvPr id="229" name="Google Shape;229;p15"/>
          <p:cNvSpPr txBox="1"/>
          <p:nvPr/>
        </p:nvSpPr>
        <p:spPr>
          <a:xfrm>
            <a:off x="6350000" y="1905000"/>
            <a:ext cx="1854200" cy="2794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JOB 2 · RELOCATE</a:t>
            </a:r>
            <a:endParaRPr b="0" i="0" sz="1300" u="none" cap="none" strike="noStrike"/>
          </a:p>
        </p:txBody>
      </p:sp>
      <p:sp>
        <p:nvSpPr>
          <p:cNvPr id="230" name="Google Shape;230;p15"/>
          <p:cNvSpPr txBox="1"/>
          <p:nvPr/>
        </p:nvSpPr>
        <p:spPr>
          <a:xfrm>
            <a:off x="6350000" y="2387600"/>
            <a:ext cx="523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mv notes.txt /tmp/</a:t>
            </a:r>
            <a:endParaRPr b="0" i="0" sz="2800" u="none" cap="none" strike="noStrike"/>
          </a:p>
        </p:txBody>
      </p:sp>
      <p:sp>
        <p:nvSpPr>
          <p:cNvPr id="231" name="Google Shape;231;p15"/>
          <p:cNvSpPr txBox="1"/>
          <p:nvPr/>
        </p:nvSpPr>
        <p:spPr>
          <a:xfrm>
            <a:off x="6350000" y="292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new home, same name</a:t>
            </a:r>
            <a:endParaRPr b="0" i="0" sz="1300" u="none" cap="none" strike="noStrike"/>
          </a:p>
        </p:txBody>
      </p:sp>
      <p:sp>
        <p:nvSpPr>
          <p:cNvPr id="232" name="Google Shape;232;p15"/>
          <p:cNvSpPr/>
          <p:nvPr/>
        </p:nvSpPr>
        <p:spPr>
          <a:xfrm>
            <a:off x="609600" y="3505200"/>
            <a:ext cx="109728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609600" y="3810000"/>
            <a:ext cx="762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There is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no separate "rename" command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mv does both.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mv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overwrites silently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 Use </a:t>
            </a: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mv -i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and it will ask first.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Moving inside one drive is instant; moving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across drives = copy + delete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, so it takes time.</a:t>
            </a:r>
            <a:endParaRPr b="0" i="0" sz="1400" u="none" cap="none" strike="noStrike"/>
          </a:p>
        </p:txBody>
      </p:sp>
      <p:sp>
        <p:nvSpPr>
          <p:cNvPr id="234" name="Google Shape;234;p15"/>
          <p:cNvSpPr/>
          <p:nvPr/>
        </p:nvSpPr>
        <p:spPr>
          <a:xfrm>
            <a:off x="8890000" y="3810000"/>
            <a:ext cx="2692400" cy="165100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9118600" y="4013200"/>
            <a:ext cx="22352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THINK</a:t>
            </a:r>
            <a:endParaRPr b="0" i="0" sz="13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Why is renaming instant, but moving to a USB stick slow?</a:t>
            </a:r>
            <a:endParaRPr b="0" i="0" sz="1300" u="none" cap="none" strike="noStrike"/>
          </a:p>
        </p:txBody>
      </p:sp>
      <p:sp>
        <p:nvSpPr>
          <p:cNvPr id="236" name="Google Shape;236;p15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HANDLE WITH CARE</a:t>
            </a:r>
            <a:endParaRPr b="0" i="0" sz="1200" u="none" cap="none" strike="noStrike"/>
          </a:p>
        </p:txBody>
      </p:sp>
      <p:sp>
        <p:nvSpPr>
          <p:cNvPr id="242" name="Google Shape;242;p16"/>
          <p:cNvSpPr txBox="1"/>
          <p:nvPr/>
        </p:nvSpPr>
        <p:spPr>
          <a:xfrm>
            <a:off x="558800" y="8128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rm IS FOREVER</a:t>
            </a:r>
            <a:endParaRPr b="0" i="0" sz="4800" u="none" cap="none" strike="noStrike"/>
          </a:p>
        </p:txBody>
      </p:sp>
      <p:sp>
        <p:nvSpPr>
          <p:cNvPr id="243" name="Google Shape;243;p16"/>
          <p:cNvSpPr txBox="1"/>
          <p:nvPr/>
        </p:nvSpPr>
        <p:spPr>
          <a:xfrm>
            <a:off x="558800" y="1752600"/>
            <a:ext cx="4064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NO</a:t>
            </a:r>
            <a:endParaRPr b="0" i="0" sz="12800" u="none" cap="none" strike="noStrike"/>
          </a:p>
        </p:txBody>
      </p:sp>
      <p:sp>
        <p:nvSpPr>
          <p:cNvPr id="244" name="Google Shape;244;p16"/>
          <p:cNvSpPr txBox="1"/>
          <p:nvPr/>
        </p:nvSpPr>
        <p:spPr>
          <a:xfrm>
            <a:off x="609600" y="381000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recycle bin. No undo. No trash folder.</a:t>
            </a:r>
            <a:endParaRPr b="0" i="0" sz="1600" u="none" cap="none" strike="noStrike"/>
          </a:p>
          <a:p>
            <a:pPr indent="0" lvl="0" marL="0" marR="0" rtl="0"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GUI deletions go to trash — CLI deletions just go.</a:t>
            </a:r>
            <a:endParaRPr b="0" i="0" sz="1600" u="none" cap="none" strike="noStrike"/>
          </a:p>
        </p:txBody>
      </p:sp>
      <p:sp>
        <p:nvSpPr>
          <p:cNvPr id="245" name="Google Shape;245;p16"/>
          <p:cNvSpPr txBox="1"/>
          <p:nvPr/>
        </p:nvSpPr>
        <p:spPr>
          <a:xfrm>
            <a:off x="5334000" y="1905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cp -r project/ backup/</a:t>
            </a:r>
            <a:endParaRPr b="0" i="0" sz="1600" u="none" cap="none" strike="noStrike"/>
          </a:p>
        </p:txBody>
      </p:sp>
      <p:sp>
        <p:nvSpPr>
          <p:cNvPr id="246" name="Google Shape;246;p16"/>
          <p:cNvSpPr txBox="1"/>
          <p:nvPr/>
        </p:nvSpPr>
        <p:spPr>
          <a:xfrm>
            <a:off x="5334000" y="22352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copy before you risk — -r copies whole folders</a:t>
            </a:r>
            <a:endParaRPr b="0" i="0" sz="1300" u="none" cap="none" strike="noStrike"/>
          </a:p>
        </p:txBody>
      </p:sp>
      <p:sp>
        <p:nvSpPr>
          <p:cNvPr id="247" name="Google Shape;247;p16"/>
          <p:cNvSpPr/>
          <p:nvPr/>
        </p:nvSpPr>
        <p:spPr>
          <a:xfrm>
            <a:off x="5334000" y="2616200"/>
            <a:ext cx="6248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5334000" y="2819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rm -ri olddir/</a:t>
            </a:r>
            <a:endParaRPr b="0" i="0" sz="1600" u="none" cap="none" strike="noStrike"/>
          </a:p>
        </p:txBody>
      </p:sp>
      <p:sp>
        <p:nvSpPr>
          <p:cNvPr id="249" name="Google Shape;249;p16"/>
          <p:cNvSpPr txBox="1"/>
          <p:nvPr/>
        </p:nvSpPr>
        <p:spPr>
          <a:xfrm>
            <a:off x="5334000" y="31496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interactive mode — it asks about every single file</a:t>
            </a:r>
            <a:endParaRPr b="0" i="0" sz="1300" u="none" cap="none" strike="noStrike"/>
          </a:p>
        </p:txBody>
      </p:sp>
      <p:sp>
        <p:nvSpPr>
          <p:cNvPr id="250" name="Google Shape;250;p16"/>
          <p:cNvSpPr/>
          <p:nvPr/>
        </p:nvSpPr>
        <p:spPr>
          <a:xfrm>
            <a:off x="5334000" y="3530600"/>
            <a:ext cx="6248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5334000" y="3733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rmdir emptydir/</a:t>
            </a:r>
            <a:endParaRPr b="0" i="0" sz="1600" u="none" cap="none" strike="noStrike"/>
          </a:p>
        </p:txBody>
      </p:sp>
      <p:sp>
        <p:nvSpPr>
          <p:cNvPr id="252" name="Google Shape;252;p16"/>
          <p:cNvSpPr txBox="1"/>
          <p:nvPr/>
        </p:nvSpPr>
        <p:spPr>
          <a:xfrm>
            <a:off x="5334000" y="4064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only works on empty folders — safe by design</a:t>
            </a:r>
            <a:endParaRPr b="0" i="0" sz="1300" u="none" cap="none" strike="noStrike"/>
          </a:p>
        </p:txBody>
      </p:sp>
      <p:sp>
        <p:nvSpPr>
          <p:cNvPr id="253" name="Google Shape;253;p16"/>
          <p:cNvSpPr/>
          <p:nvPr/>
        </p:nvSpPr>
        <p:spPr>
          <a:xfrm>
            <a:off x="5334000" y="4445000"/>
            <a:ext cx="6248400" cy="12700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5334000" y="4648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rm -rf</a:t>
            </a:r>
            <a:endParaRPr b="0" i="0" sz="1600" u="none" cap="none" strike="noStrike"/>
          </a:p>
        </p:txBody>
      </p:sp>
      <p:sp>
        <p:nvSpPr>
          <p:cNvPr id="255" name="Google Shape;255;p16"/>
          <p:cNvSpPr txBox="1"/>
          <p:nvPr/>
        </p:nvSpPr>
        <p:spPr>
          <a:xfrm>
            <a:off x="5334000" y="4978400"/>
            <a:ext cx="609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chainsaw — force + recursive. Never aim it at / and never mix it carelessly with sudo.</a:t>
            </a:r>
            <a:endParaRPr b="0" i="0" sz="1300" u="none" cap="none" strike="noStrike"/>
          </a:p>
        </p:txBody>
      </p:sp>
      <p:sp>
        <p:nvSpPr>
          <p:cNvPr id="256" name="Google Shape;256;p16"/>
          <p:cNvSpPr/>
          <p:nvPr/>
        </p:nvSpPr>
        <p:spPr>
          <a:xfrm>
            <a:off x="0" y="6070600"/>
            <a:ext cx="12192000" cy="787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609600" y="62992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IF IN DOUBT — BACK UP FIRST, DELETE SECOND</a:t>
            </a:r>
            <a:endParaRPr b="0" i="0" sz="1600" u="none" cap="none" strike="noStrike"/>
          </a:p>
        </p:txBody>
      </p:sp>
      <p:sp>
        <p:nvSpPr>
          <p:cNvPr id="258" name="Google Shape;258;p16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14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03 · FILE PROPERTIES</a:t>
            </a:r>
            <a:endParaRPr b="0" i="0" sz="1200" u="none" cap="none" strike="noStrike"/>
          </a:p>
        </p:txBody>
      </p:sp>
      <p:sp>
        <p:nvSpPr>
          <p:cNvPr id="264" name="Google Shape;264;p17"/>
          <p:cNvSpPr txBox="1"/>
          <p:nvPr/>
        </p:nvSpPr>
        <p:spPr>
          <a:xfrm>
            <a:off x="558800" y="812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READ A FILE'S ID CARD</a:t>
            </a:r>
            <a:endParaRPr b="0" i="0" sz="4000" u="none" cap="none" strike="noStrike"/>
          </a:p>
        </p:txBody>
      </p:sp>
      <p:sp>
        <p:nvSpPr>
          <p:cNvPr id="265" name="Google Shape;265;p17"/>
          <p:cNvSpPr/>
          <p:nvPr/>
        </p:nvSpPr>
        <p:spPr>
          <a:xfrm>
            <a:off x="609600" y="1778000"/>
            <a:ext cx="10972800" cy="8128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863600" y="2006600"/>
            <a:ext cx="1054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-rwxr-xr--</a:t>
            </a: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1  </a:t>
            </a:r>
            <a:r>
              <a:rPr b="1" i="0" lang="en-US" sz="19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student student</a:t>
            </a:r>
            <a:r>
              <a:rPr b="1" i="0" lang="en-US" sz="19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 4.2K  Jul 21 10:00  </a:t>
            </a:r>
            <a:r>
              <a:rPr b="1" i="0" lang="en-US" sz="19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run.sh</a:t>
            </a:r>
            <a:endParaRPr b="0" i="0" sz="1900" u="none" cap="none" strike="noStrike"/>
          </a:p>
        </p:txBody>
      </p:sp>
      <p:sp>
        <p:nvSpPr>
          <p:cNvPr id="267" name="Google Shape;267;p17"/>
          <p:cNvSpPr txBox="1"/>
          <p:nvPr/>
        </p:nvSpPr>
        <p:spPr>
          <a:xfrm>
            <a:off x="609600" y="2844800"/>
            <a:ext cx="2540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permissions</a:t>
            </a:r>
            <a:endParaRPr b="0" i="0" sz="12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who may read, write, execute</a:t>
            </a:r>
            <a:endParaRPr b="0" i="0" sz="1200" u="none" cap="none" strike="noStrike"/>
          </a:p>
        </p:txBody>
      </p:sp>
      <p:sp>
        <p:nvSpPr>
          <p:cNvPr id="268" name="Google Shape;268;p17"/>
          <p:cNvSpPr txBox="1"/>
          <p:nvPr/>
        </p:nvSpPr>
        <p:spPr>
          <a:xfrm>
            <a:off x="3403600" y="2844800"/>
            <a:ext cx="2286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owner · group</a:t>
            </a:r>
            <a:endParaRPr b="0" i="0" sz="12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whose file it is</a:t>
            </a:r>
            <a:endParaRPr b="0" i="0" sz="1200" u="none" cap="none" strike="noStrike"/>
          </a:p>
        </p:txBody>
      </p:sp>
      <p:sp>
        <p:nvSpPr>
          <p:cNvPr id="269" name="Google Shape;269;p17"/>
          <p:cNvSpPr txBox="1"/>
          <p:nvPr/>
        </p:nvSpPr>
        <p:spPr>
          <a:xfrm>
            <a:off x="5943600" y="2844800"/>
            <a:ext cx="1524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size</a:t>
            </a:r>
            <a:endParaRPr b="0" i="0" sz="12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on disk</a:t>
            </a:r>
            <a:endParaRPr b="0" i="0" sz="1200" u="none" cap="none" strike="noStrike"/>
          </a:p>
        </p:txBody>
      </p:sp>
      <p:sp>
        <p:nvSpPr>
          <p:cNvPr id="270" name="Google Shape;270;p17"/>
          <p:cNvSpPr txBox="1"/>
          <p:nvPr/>
        </p:nvSpPr>
        <p:spPr>
          <a:xfrm>
            <a:off x="7721600" y="2844800"/>
            <a:ext cx="20320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last modified</a:t>
            </a:r>
            <a:endParaRPr b="0" i="0" sz="12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stat shows all timestamps</a:t>
            </a:r>
            <a:endParaRPr b="0" i="0" sz="1200" u="none" cap="none" strike="noStrike"/>
          </a:p>
        </p:txBody>
      </p:sp>
      <p:sp>
        <p:nvSpPr>
          <p:cNvPr id="271" name="Google Shape;271;p17"/>
          <p:cNvSpPr txBox="1"/>
          <p:nvPr/>
        </p:nvSpPr>
        <p:spPr>
          <a:xfrm>
            <a:off x="10007600" y="2844800"/>
            <a:ext cx="15748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name</a:t>
            </a:r>
            <a:endParaRPr b="0" i="0" sz="1200" u="none" cap="none" strike="noStrike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just a label</a:t>
            </a:r>
            <a:endParaRPr b="0" i="0" sz="1200" u="none" cap="none" strike="noStrike"/>
          </a:p>
        </p:txBody>
      </p:sp>
      <p:sp>
        <p:nvSpPr>
          <p:cNvPr id="272" name="Google Shape;272;p17"/>
          <p:cNvSpPr/>
          <p:nvPr/>
        </p:nvSpPr>
        <p:spPr>
          <a:xfrm>
            <a:off x="609600" y="3835400"/>
            <a:ext cx="109728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09600" y="4114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CHANGING PERMISSIONS — chmod</a:t>
            </a:r>
            <a:endParaRPr b="0" i="0" sz="1700" u="none" cap="none" strike="noStrike"/>
          </a:p>
        </p:txBody>
      </p:sp>
      <p:sp>
        <p:nvSpPr>
          <p:cNvPr id="274" name="Google Shape;274;p17"/>
          <p:cNvSpPr txBox="1"/>
          <p:nvPr/>
        </p:nvSpPr>
        <p:spPr>
          <a:xfrm>
            <a:off x="609600" y="45212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chmod 755 run.sh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owner can do everything, others read &amp; run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chmod u+x run.sh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same idea in letters: give the owner execute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chmod 777 on everything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= leaving every door in the building unlocked</a:t>
            </a:r>
            <a:endParaRPr b="0" i="0" sz="1400" u="none" cap="none" strike="noStrike"/>
          </a:p>
        </p:txBody>
      </p:sp>
      <p:sp>
        <p:nvSpPr>
          <p:cNvPr id="275" name="Google Shape;275;p17"/>
          <p:cNvSpPr txBox="1"/>
          <p:nvPr/>
        </p:nvSpPr>
        <p:spPr>
          <a:xfrm>
            <a:off x="8382000" y="4318000"/>
            <a:ext cx="3200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Deep dive:</a:t>
            </a:r>
            <a:endParaRPr b="0" i="0" sz="1300" u="none" cap="none" strike="noStrike"/>
          </a:p>
          <a:p>
            <a:pPr indent="0" lvl="0" marL="0" marR="0" rtl="0"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stat run.sh reveals the full metadata — access, modify and change times, and the inode: the file's true identity, even after a rename.</a:t>
            </a:r>
            <a:endParaRPr b="0" i="0" sz="1300" u="none" cap="none" strike="noStrike"/>
          </a:p>
        </p:txBody>
      </p:sp>
      <p:sp>
        <p:nvSpPr>
          <p:cNvPr id="276" name="Google Shape;276;p17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15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/>
        </p:nvSpPr>
        <p:spPr>
          <a:xfrm>
            <a:off x="6096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UNIT 04</a:t>
            </a:r>
            <a:endParaRPr b="0" i="0" sz="1200" u="none" cap="none" strike="noStrike"/>
          </a:p>
        </p:txBody>
      </p:sp>
      <p:sp>
        <p:nvSpPr>
          <p:cNvPr id="282" name="Google Shape;282;p18"/>
          <p:cNvSpPr txBox="1"/>
          <p:nvPr/>
        </p:nvSpPr>
        <p:spPr>
          <a:xfrm>
            <a:off x="558800" y="1168400"/>
            <a:ext cx="9652000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DRIVES, MEDIA</a:t>
            </a:r>
            <a:endParaRPr b="0" i="0" sz="9200" u="none" cap="none" strike="noStrike"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&amp; PATHS</a:t>
            </a:r>
            <a:endParaRPr b="0" i="0" sz="9200" u="none" cap="none" strike="noStrike"/>
          </a:p>
        </p:txBody>
      </p:sp>
      <p:sp>
        <p:nvSpPr>
          <p:cNvPr id="283" name="Google Shape;283;p18"/>
          <p:cNvSpPr txBox="1"/>
          <p:nvPr/>
        </p:nvSpPr>
        <p:spPr>
          <a:xfrm>
            <a:off x="609600" y="4267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One tree. No drive letters. Everything hangs under /</a:t>
            </a:r>
            <a:endParaRPr b="0" i="0" sz="1700" u="none" cap="none" strike="noStrike"/>
          </a:p>
        </p:txBody>
      </p:sp>
      <p:sp>
        <p:nvSpPr>
          <p:cNvPr id="284" name="Google Shape;284;p18"/>
          <p:cNvSpPr txBox="1"/>
          <p:nvPr/>
        </p:nvSpPr>
        <p:spPr>
          <a:xfrm>
            <a:off x="8890000" y="3810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2557D6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b="0" i="0" sz="17000" u="none" cap="none" strike="noStrike"/>
          </a:p>
        </p:txBody>
      </p:sp>
      <p:sp>
        <p:nvSpPr>
          <p:cNvPr id="285" name="Google Shape;285;p18"/>
          <p:cNvSpPr/>
          <p:nvPr/>
        </p:nvSpPr>
        <p:spPr>
          <a:xfrm rot="720000">
            <a:off x="10058400" y="965200"/>
            <a:ext cx="1168400" cy="1168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 rot="-480000">
            <a:off x="9347200" y="2032000"/>
            <a:ext cx="711200" cy="508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609600" y="6248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SINGLE TREE · THE MAP OF / · USB MOUNTING · FINDING YOUR WAY</a:t>
            </a:r>
            <a:endParaRPr b="0" i="0" sz="1200" u="none" cap="none" strike="noStrike"/>
          </a:p>
        </p:txBody>
      </p:sp>
      <p:sp>
        <p:nvSpPr>
          <p:cNvPr id="288" name="Google Shape;288;p18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16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 · DRIVES, MEDIA &amp; PATHS</a:t>
            </a:r>
            <a:endParaRPr b="0" i="0" sz="1200" u="none" cap="none" strike="noStrike"/>
          </a:p>
        </p:txBody>
      </p:sp>
      <p:sp>
        <p:nvSpPr>
          <p:cNvPr id="294" name="Google Shape;294;p19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NO C: DRIVE. ONE TREE.</a:t>
            </a:r>
            <a:endParaRPr b="0" i="0" sz="4000" u="none" cap="none" strike="noStrike"/>
          </a:p>
        </p:txBody>
      </p:sp>
      <p:sp>
        <p:nvSpPr>
          <p:cNvPr id="295" name="Google Shape;295;p19"/>
          <p:cNvSpPr txBox="1"/>
          <p:nvPr/>
        </p:nvSpPr>
        <p:spPr>
          <a:xfrm>
            <a:off x="609600" y="18796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THE WINDOWS WAY — LETTERS</a:t>
            </a:r>
            <a:endParaRPr b="0" i="0" sz="1600" u="none" cap="none" strike="noStrike"/>
          </a:p>
        </p:txBody>
      </p:sp>
      <p:sp>
        <p:nvSpPr>
          <p:cNvPr id="296" name="Google Shape;296;p19"/>
          <p:cNvSpPr txBox="1"/>
          <p:nvPr/>
        </p:nvSpPr>
        <p:spPr>
          <a:xfrm>
            <a:off x="609600" y="2336800"/>
            <a:ext cx="4826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C:\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Windows itself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D:\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maybe your photos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E:\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today's USB stick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Every drive is its own little island with a letter.</a:t>
            </a:r>
            <a:endParaRPr b="0" i="0" sz="1400" u="none" cap="none" strike="noStrike"/>
          </a:p>
        </p:txBody>
      </p:sp>
      <p:sp>
        <p:nvSpPr>
          <p:cNvPr id="297" name="Google Shape;297;p19"/>
          <p:cNvSpPr/>
          <p:nvPr/>
        </p:nvSpPr>
        <p:spPr>
          <a:xfrm>
            <a:off x="6019800" y="1879600"/>
            <a:ext cx="38100" cy="30480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502400" y="1879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LINUX WAY — ONE TREE</a:t>
            </a:r>
            <a:endParaRPr b="0" i="0" sz="1600" u="none" cap="none" strike="noStrike"/>
          </a:p>
        </p:txBody>
      </p:sp>
      <p:sp>
        <p:nvSpPr>
          <p:cNvPr id="299" name="Google Shape;299;p19"/>
          <p:cNvSpPr txBox="1"/>
          <p:nvPr/>
        </p:nvSpPr>
        <p:spPr>
          <a:xfrm>
            <a:off x="6502400" y="23368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/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the single root of everything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/home/you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your files, always the same address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/media/usb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a plugged-in stick becomes a branch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Drives attach to the tree as folders. No letters needed.</a:t>
            </a:r>
            <a:endParaRPr b="0" i="0" sz="1400" u="none" cap="none" strike="noStrike"/>
          </a:p>
        </p:txBody>
      </p:sp>
      <p:sp>
        <p:nvSpPr>
          <p:cNvPr id="300" name="Google Shape;300;p19"/>
          <p:cNvSpPr/>
          <p:nvPr/>
        </p:nvSpPr>
        <p:spPr>
          <a:xfrm>
            <a:off x="609600" y="5232400"/>
            <a:ext cx="10972800" cy="7112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914400" y="54356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lsblk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show every drive  ·  </a:t>
            </a: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df -h</a:t>
            </a:r>
            <a:r>
              <a:rPr b="0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— show free space, human-readable</a:t>
            </a:r>
            <a:endParaRPr b="0" i="0" sz="1500" u="none" cap="none" strike="noStrike"/>
          </a:p>
        </p:txBody>
      </p:sp>
      <p:sp>
        <p:nvSpPr>
          <p:cNvPr id="302" name="Google Shape;302;p19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17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 · DRIVES, MEDIA &amp; PATHS</a:t>
            </a:r>
            <a:endParaRPr b="0" i="0" sz="1200" u="none" cap="none" strike="noStrike"/>
          </a:p>
        </p:txBody>
      </p:sp>
      <p:sp>
        <p:nvSpPr>
          <p:cNvPr id="308" name="Google Shape;308;p20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MAP OF /</a:t>
            </a:r>
            <a:endParaRPr b="0" i="0" sz="4000" u="none" cap="none" strike="noStrike"/>
          </a:p>
        </p:txBody>
      </p:sp>
      <p:sp>
        <p:nvSpPr>
          <p:cNvPr id="309" name="Google Shape;309;p20"/>
          <p:cNvSpPr txBox="1"/>
          <p:nvPr/>
        </p:nvSpPr>
        <p:spPr>
          <a:xfrm>
            <a:off x="609600" y="17780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/home</a:t>
            </a:r>
            <a:endParaRPr b="0" i="0" sz="2400" u="none" cap="none" strike="noStrike"/>
          </a:p>
        </p:txBody>
      </p:sp>
      <p:sp>
        <p:nvSpPr>
          <p:cNvPr id="310" name="Google Shape;310;p20"/>
          <p:cNvSpPr txBox="1"/>
          <p:nvPr/>
        </p:nvSpPr>
        <p:spPr>
          <a:xfrm>
            <a:off x="3048000" y="18288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files and your desktop life</a:t>
            </a:r>
            <a:endParaRPr b="0" i="0" sz="1400" u="none" cap="none" strike="noStrike"/>
          </a:p>
        </p:txBody>
      </p:sp>
      <p:sp>
        <p:nvSpPr>
          <p:cNvPr id="311" name="Google Shape;311;p20"/>
          <p:cNvSpPr/>
          <p:nvPr/>
        </p:nvSpPr>
        <p:spPr>
          <a:xfrm>
            <a:off x="609600" y="2311400"/>
            <a:ext cx="10972800" cy="127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609600" y="24892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/etc</a:t>
            </a:r>
            <a:endParaRPr b="0" i="0" sz="2400" u="none" cap="none" strike="noStrike"/>
          </a:p>
        </p:txBody>
      </p:sp>
      <p:sp>
        <p:nvSpPr>
          <p:cNvPr id="313" name="Google Shape;313;p20"/>
          <p:cNvSpPr txBox="1"/>
          <p:nvPr/>
        </p:nvSpPr>
        <p:spPr>
          <a:xfrm>
            <a:off x="3048000" y="25400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settings for the whole system</a:t>
            </a:r>
            <a:endParaRPr b="0" i="0" sz="1400" u="none" cap="none" strike="noStrike"/>
          </a:p>
        </p:txBody>
      </p:sp>
      <p:sp>
        <p:nvSpPr>
          <p:cNvPr id="314" name="Google Shape;314;p20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609600" y="32004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/var</a:t>
            </a:r>
            <a:endParaRPr b="0" i="0" sz="2400" u="none" cap="none" strike="noStrike"/>
          </a:p>
        </p:txBody>
      </p:sp>
      <p:sp>
        <p:nvSpPr>
          <p:cNvPr id="316" name="Google Shape;316;p20"/>
          <p:cNvSpPr txBox="1"/>
          <p:nvPr/>
        </p:nvSpPr>
        <p:spPr>
          <a:xfrm>
            <a:off x="3048000" y="3251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logs — the system's diary. Troubleshooting? Start in /var/log</a:t>
            </a:r>
            <a:endParaRPr b="0" i="0" sz="1400" u="none" cap="none" strike="noStrike"/>
          </a:p>
        </p:txBody>
      </p:sp>
      <p:sp>
        <p:nvSpPr>
          <p:cNvPr id="317" name="Google Shape;317;p20"/>
          <p:cNvSpPr/>
          <p:nvPr/>
        </p:nvSpPr>
        <p:spPr>
          <a:xfrm>
            <a:off x="609600" y="37338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609600" y="39116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/usr</a:t>
            </a:r>
            <a:endParaRPr b="0" i="0" sz="2400" u="none" cap="none" strike="noStrike"/>
          </a:p>
        </p:txBody>
      </p:sp>
      <p:sp>
        <p:nvSpPr>
          <p:cNvPr id="319" name="Google Shape;319;p20"/>
          <p:cNvSpPr txBox="1"/>
          <p:nvPr/>
        </p:nvSpPr>
        <p:spPr>
          <a:xfrm>
            <a:off x="3048000" y="39624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programs and shared tools</a:t>
            </a:r>
            <a:endParaRPr b="0" i="0" sz="1400" u="none" cap="none" strike="noStrike"/>
          </a:p>
        </p:txBody>
      </p:sp>
      <p:sp>
        <p:nvSpPr>
          <p:cNvPr id="320" name="Google Shape;320;p20"/>
          <p:cNvSpPr/>
          <p:nvPr/>
        </p:nvSpPr>
        <p:spPr>
          <a:xfrm>
            <a:off x="609600" y="44450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609600" y="46228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/tmp</a:t>
            </a:r>
            <a:endParaRPr b="0" i="0" sz="2400" u="none" cap="none" strike="noStrike"/>
          </a:p>
        </p:txBody>
      </p:sp>
      <p:sp>
        <p:nvSpPr>
          <p:cNvPr id="322" name="Google Shape;322;p20"/>
          <p:cNvSpPr txBox="1"/>
          <p:nvPr/>
        </p:nvSpPr>
        <p:spPr>
          <a:xfrm>
            <a:off x="3048000" y="46736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scratch space — wiped on reboot</a:t>
            </a:r>
            <a:endParaRPr b="0" i="0" sz="1400" u="none" cap="none" strike="noStrike"/>
          </a:p>
        </p:txBody>
      </p:sp>
      <p:sp>
        <p:nvSpPr>
          <p:cNvPr id="323" name="Google Shape;323;p20"/>
          <p:cNvSpPr/>
          <p:nvPr/>
        </p:nvSpPr>
        <p:spPr>
          <a:xfrm>
            <a:off x="609600" y="51562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609600" y="5334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/bin  /sbin</a:t>
            </a:r>
            <a:endParaRPr b="0" i="0" sz="2400" u="none" cap="none" strike="noStrike"/>
          </a:p>
        </p:txBody>
      </p:sp>
      <p:sp>
        <p:nvSpPr>
          <p:cNvPr id="325" name="Google Shape;325;p20"/>
          <p:cNvSpPr txBox="1"/>
          <p:nvPr/>
        </p:nvSpPr>
        <p:spPr>
          <a:xfrm>
            <a:off x="3048000" y="53848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basic commands themselves live here</a:t>
            </a:r>
            <a:endParaRPr b="0" i="0" sz="1400" u="none" cap="none" strike="noStrike"/>
          </a:p>
        </p:txBody>
      </p:sp>
      <p:sp>
        <p:nvSpPr>
          <p:cNvPr id="326" name="Google Shape;326;p20"/>
          <p:cNvSpPr txBox="1"/>
          <p:nvPr/>
        </p:nvSpPr>
        <p:spPr>
          <a:xfrm>
            <a:off x="609600" y="6045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Watch the trap: /root is the admin's home folder — not the same as /, the root of everything.</a:t>
            </a:r>
            <a:endParaRPr b="0" i="0" sz="1300" u="none" cap="none" strike="noStrike"/>
          </a:p>
        </p:txBody>
      </p:sp>
      <p:sp>
        <p:nvSpPr>
          <p:cNvPr id="327" name="Google Shape;327;p20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18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04 · DRIVES, MEDIA &amp; PATHS</a:t>
            </a:r>
            <a:endParaRPr b="0" i="0" sz="1200" u="none" cap="none" strike="noStrike"/>
          </a:p>
        </p:txBody>
      </p:sp>
      <p:sp>
        <p:nvSpPr>
          <p:cNvPr id="333" name="Google Shape;333;p21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PLUG IN · MOUNT · EJECT</a:t>
            </a:r>
            <a:endParaRPr b="0" i="0" sz="4000" u="none" cap="none" strike="noStrike"/>
          </a:p>
        </p:txBody>
      </p:sp>
      <p:sp>
        <p:nvSpPr>
          <p:cNvPr id="334" name="Google Shape;334;p21"/>
          <p:cNvSpPr txBox="1"/>
          <p:nvPr/>
        </p:nvSpPr>
        <p:spPr>
          <a:xfrm>
            <a:off x="609600" y="18542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</a:t>
            </a:r>
            <a:endParaRPr b="0" i="0" sz="2400" u="none" cap="none" strike="noStrike"/>
          </a:p>
        </p:txBody>
      </p:sp>
      <p:sp>
        <p:nvSpPr>
          <p:cNvPr id="335" name="Google Shape;335;p21"/>
          <p:cNvSpPr txBox="1"/>
          <p:nvPr/>
        </p:nvSpPr>
        <p:spPr>
          <a:xfrm>
            <a:off x="1168400" y="1879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lsblk</a:t>
            </a:r>
            <a:endParaRPr b="0" i="0" sz="1500" u="none" cap="none" strike="noStrike"/>
          </a:p>
        </p:txBody>
      </p:sp>
      <p:sp>
        <p:nvSpPr>
          <p:cNvPr id="336" name="Google Shape;336;p21"/>
          <p:cNvSpPr txBox="1"/>
          <p:nvPr/>
        </p:nvSpPr>
        <p:spPr>
          <a:xfrm>
            <a:off x="4089400" y="1905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spot the new device — there, sdb1</a:t>
            </a:r>
            <a:endParaRPr b="0" i="0" sz="1300" u="none" cap="none" strike="noStrike"/>
          </a:p>
        </p:txBody>
      </p:sp>
      <p:sp>
        <p:nvSpPr>
          <p:cNvPr id="337" name="Google Shape;337;p21"/>
          <p:cNvSpPr txBox="1"/>
          <p:nvPr/>
        </p:nvSpPr>
        <p:spPr>
          <a:xfrm>
            <a:off x="609600" y="24892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2</a:t>
            </a:r>
            <a:endParaRPr b="0" i="0" sz="2400" u="none" cap="none" strike="noStrike"/>
          </a:p>
        </p:txBody>
      </p:sp>
      <p:sp>
        <p:nvSpPr>
          <p:cNvPr id="338" name="Google Shape;338;p21"/>
          <p:cNvSpPr txBox="1"/>
          <p:nvPr/>
        </p:nvSpPr>
        <p:spPr>
          <a:xfrm>
            <a:off x="1168400" y="2514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sudo mount /dev/sdb1 /mnt</a:t>
            </a:r>
            <a:endParaRPr b="0" i="0" sz="1500" u="none" cap="none" strike="noStrike"/>
          </a:p>
        </p:txBody>
      </p:sp>
      <p:sp>
        <p:nvSpPr>
          <p:cNvPr id="339" name="Google Shape;339;p21"/>
          <p:cNvSpPr txBox="1"/>
          <p:nvPr/>
        </p:nvSpPr>
        <p:spPr>
          <a:xfrm>
            <a:off x="4470400" y="2540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attach the stick to a folder</a:t>
            </a:r>
            <a:endParaRPr b="0" i="0" sz="1300" u="none" cap="none" strike="noStrike"/>
          </a:p>
        </p:txBody>
      </p:sp>
      <p:sp>
        <p:nvSpPr>
          <p:cNvPr id="340" name="Google Shape;340;p21"/>
          <p:cNvSpPr txBox="1"/>
          <p:nvPr/>
        </p:nvSpPr>
        <p:spPr>
          <a:xfrm>
            <a:off x="609600" y="31242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3</a:t>
            </a:r>
            <a:endParaRPr b="0" i="0" sz="2400" u="none" cap="none" strike="noStrike"/>
          </a:p>
        </p:txBody>
      </p:sp>
      <p:sp>
        <p:nvSpPr>
          <p:cNvPr id="341" name="Google Shape;341;p21"/>
          <p:cNvSpPr txBox="1"/>
          <p:nvPr/>
        </p:nvSpPr>
        <p:spPr>
          <a:xfrm>
            <a:off x="1168400" y="3149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cp report.pdf /mnt/</a:t>
            </a:r>
            <a:endParaRPr b="0" i="0" sz="1500" u="none" cap="none" strike="noStrike"/>
          </a:p>
        </p:txBody>
      </p:sp>
      <p:sp>
        <p:nvSpPr>
          <p:cNvPr id="342" name="Google Shape;342;p21"/>
          <p:cNvSpPr txBox="1"/>
          <p:nvPr/>
        </p:nvSpPr>
        <p:spPr>
          <a:xfrm>
            <a:off x="4470400" y="31750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use it like any other folder</a:t>
            </a:r>
            <a:endParaRPr b="0" i="0" sz="1300" u="none" cap="none" strike="noStrike"/>
          </a:p>
        </p:txBody>
      </p:sp>
      <p:sp>
        <p:nvSpPr>
          <p:cNvPr id="343" name="Google Shape;343;p21"/>
          <p:cNvSpPr txBox="1"/>
          <p:nvPr/>
        </p:nvSpPr>
        <p:spPr>
          <a:xfrm>
            <a:off x="609600" y="37592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4</a:t>
            </a:r>
            <a:endParaRPr b="0" i="0" sz="2400" u="none" cap="none" strike="noStrike"/>
          </a:p>
        </p:txBody>
      </p:sp>
      <p:sp>
        <p:nvSpPr>
          <p:cNvPr id="344" name="Google Shape;344;p21"/>
          <p:cNvSpPr txBox="1"/>
          <p:nvPr/>
        </p:nvSpPr>
        <p:spPr>
          <a:xfrm>
            <a:off x="1168400" y="37846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sudo umount /mnt</a:t>
            </a:r>
            <a:endParaRPr b="0" i="0" sz="1500" u="none" cap="none" strike="noStrike"/>
          </a:p>
        </p:txBody>
      </p:sp>
      <p:sp>
        <p:nvSpPr>
          <p:cNvPr id="345" name="Google Shape;345;p21"/>
          <p:cNvSpPr txBox="1"/>
          <p:nvPr/>
        </p:nvSpPr>
        <p:spPr>
          <a:xfrm>
            <a:off x="4470400" y="3810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always eject before pulling the stick!</a:t>
            </a:r>
            <a:endParaRPr b="0" i="0" sz="1300" u="none" cap="none" strike="noStrike"/>
          </a:p>
        </p:txBody>
      </p:sp>
      <p:sp>
        <p:nvSpPr>
          <p:cNvPr id="346" name="Google Shape;346;p21"/>
          <p:cNvSpPr/>
          <p:nvPr/>
        </p:nvSpPr>
        <p:spPr>
          <a:xfrm>
            <a:off x="8382000" y="1854200"/>
            <a:ext cx="3200400" cy="2260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8636000" y="2082800"/>
            <a:ext cx="269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WHY EJECT?</a:t>
            </a:r>
            <a:endParaRPr b="0" i="0" sz="1300" u="none" cap="none" strike="noStrike"/>
          </a:p>
          <a:p>
            <a:pPr indent="0" lvl="0" marL="0" marR="0" rtl="0"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system caches writes. Pull early and the last files may never reach the stick — corrupted data.</a:t>
            </a:r>
            <a:endParaRPr b="0" i="0" sz="1300" u="none" cap="none" strike="noStrike"/>
          </a:p>
        </p:txBody>
      </p:sp>
      <p:sp>
        <p:nvSpPr>
          <p:cNvPr id="348" name="Google Shape;348;p21"/>
          <p:cNvSpPr/>
          <p:nvPr/>
        </p:nvSpPr>
        <p:spPr>
          <a:xfrm>
            <a:off x="609600" y="4419600"/>
            <a:ext cx="109728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09600" y="4699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ADDRESSES — ABSOLUTE VS. RELATIVE</a:t>
            </a:r>
            <a:endParaRPr b="0" i="0" sz="1700" u="none" cap="none" strike="noStrike"/>
          </a:p>
        </p:txBody>
      </p:sp>
      <p:sp>
        <p:nvSpPr>
          <p:cNvPr id="350" name="Google Shape;350;p21"/>
          <p:cNvSpPr txBox="1"/>
          <p:nvPr/>
        </p:nvSpPr>
        <p:spPr>
          <a:xfrm>
            <a:off x="609600" y="5105400"/>
            <a:ext cx="7874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/etc/hosts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absolute: starts at the root /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../docs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— relative: starts where you're standing (.. = up one)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~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means your home · </a:t>
            </a: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pwd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asks "where am I?" · </a:t>
            </a: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Tab</a:t>
            </a: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 completes names</a:t>
            </a:r>
            <a:endParaRPr b="0" i="0" sz="1400" u="none" cap="none" strike="noStrike"/>
          </a:p>
        </p:txBody>
      </p:sp>
      <p:sp>
        <p:nvSpPr>
          <p:cNvPr id="351" name="Google Shape;351;p21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19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A38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 txBox="1"/>
          <p:nvPr/>
        </p:nvSpPr>
        <p:spPr>
          <a:xfrm>
            <a:off x="6096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UNIT 05</a:t>
            </a:r>
            <a:endParaRPr b="0" i="0" sz="1200" u="none" cap="none" strike="noStrike"/>
          </a:p>
        </p:txBody>
      </p:sp>
      <p:sp>
        <p:nvSpPr>
          <p:cNvPr id="357" name="Google Shape;357;p22"/>
          <p:cNvSpPr txBox="1"/>
          <p:nvPr/>
        </p:nvSpPr>
        <p:spPr>
          <a:xfrm>
            <a:off x="558800" y="1168400"/>
            <a:ext cx="10160000" cy="2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BASH · CMD ·</a:t>
            </a:r>
            <a:endParaRPr b="0" i="0" sz="8800" u="none" cap="none" strike="noStrike"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POWERSHELL</a:t>
            </a:r>
            <a:endParaRPr b="0" i="0" sz="8800" u="none" cap="none" strike="noStrike"/>
          </a:p>
        </p:txBody>
      </p:sp>
      <p:sp>
        <p:nvSpPr>
          <p:cNvPr id="358" name="Google Shape;358;p22"/>
          <p:cNvSpPr txBox="1"/>
          <p:nvPr/>
        </p:nvSpPr>
        <p:spPr>
          <a:xfrm>
            <a:off x="609600" y="4267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Three dialects of one idea — tell the computer exactly what to do.</a:t>
            </a:r>
            <a:endParaRPr b="0" i="0" sz="1700" u="none" cap="none" strike="noStrike"/>
          </a:p>
        </p:txBody>
      </p:sp>
      <p:sp>
        <p:nvSpPr>
          <p:cNvPr id="359" name="Google Shape;359;p22"/>
          <p:cNvSpPr txBox="1"/>
          <p:nvPr/>
        </p:nvSpPr>
        <p:spPr>
          <a:xfrm>
            <a:off x="8890000" y="3810000"/>
            <a:ext cx="279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05</a:t>
            </a:r>
            <a:endParaRPr b="0" i="0" sz="17000" u="none" cap="none" strike="noStrike"/>
          </a:p>
        </p:txBody>
      </p:sp>
      <p:sp>
        <p:nvSpPr>
          <p:cNvPr id="360" name="Google Shape;360;p22"/>
          <p:cNvSpPr txBox="1"/>
          <p:nvPr/>
        </p:nvSpPr>
        <p:spPr>
          <a:xfrm>
            <a:off x="609600" y="6248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TRANSLATION TABLE · ALIASES · PIPES</a:t>
            </a:r>
            <a:endParaRPr b="0" i="0" sz="1200" u="none" cap="none" strike="noStrike"/>
          </a:p>
        </p:txBody>
      </p:sp>
      <p:sp>
        <p:nvSpPr>
          <p:cNvPr id="361" name="Google Shape;361;p22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20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 · COMMANDS</a:t>
            </a:r>
            <a:endParaRPr b="0" i="0" sz="1200" u="none" cap="none" strike="noStrike"/>
          </a:p>
        </p:txBody>
      </p:sp>
      <p:sp>
        <p:nvSpPr>
          <p:cNvPr id="367" name="Google Shape;367;p23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SAME TASK, THREE DIALECTS</a:t>
            </a:r>
            <a:endParaRPr b="0" i="0" sz="4000" u="none" cap="none" strike="noStrike"/>
          </a:p>
        </p:txBody>
      </p:sp>
      <p:graphicFrame>
        <p:nvGraphicFramePr>
          <p:cNvPr id="368" name="Google Shape;368;p23"/>
          <p:cNvGraphicFramePr/>
          <p:nvPr/>
        </p:nvGraphicFramePr>
        <p:xfrm>
          <a:off x="6096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{C679A9F4-0431-4062-A413-61D582C1E6A1}</a:tableStyleId>
              </a:tblPr>
              <a:tblGrid>
                <a:gridCol w="3291850"/>
                <a:gridCol w="1975100"/>
                <a:gridCol w="1975100"/>
                <a:gridCol w="373075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3E8D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TASK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3E8D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BASH (LINUX)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3E8D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CMD (WINDOWS)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3E8D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POWERSHELL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71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List files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ls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dir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Get-ChildItem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Where am I?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pwd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Get-Location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Copy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copy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Copy-Item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Move / rename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move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Move-Item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Delete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del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Remove-Item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Read a file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cat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type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Get-Content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Built-in help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man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help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Get-Help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CC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CC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9" name="Google Shape;369;p23"/>
          <p:cNvSpPr txBox="1"/>
          <p:nvPr/>
        </p:nvSpPr>
        <p:spPr>
          <a:xfrm>
            <a:off x="609600" y="60198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PowerShell even answers to ls and cd — they're aliases. But under the hood it pipes objects, not plain text.</a:t>
            </a:r>
            <a:endParaRPr b="0" i="0" sz="1300" u="none" cap="none" strike="noStrike"/>
          </a:p>
        </p:txBody>
      </p:sp>
      <p:sp>
        <p:nvSpPr>
          <p:cNvPr id="370" name="Google Shape;370;p23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21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/>
        </p:nvSpPr>
        <p:spPr>
          <a:xfrm>
            <a:off x="609600" y="5080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UNIT 05 · COMMAND SUPERPOWER</a:t>
            </a:r>
            <a:endParaRPr b="0" i="0" sz="1200" u="none" cap="none" strike="noStrike"/>
          </a:p>
        </p:txBody>
      </p:sp>
      <p:sp>
        <p:nvSpPr>
          <p:cNvPr id="376" name="Google Shape;376;p24"/>
          <p:cNvSpPr txBox="1"/>
          <p:nvPr/>
        </p:nvSpPr>
        <p:spPr>
          <a:xfrm>
            <a:off x="558800" y="812800"/>
            <a:ext cx="965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3E8D4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READ IT LIKE A SENTENCE</a:t>
            </a:r>
            <a:endParaRPr b="0" i="0" sz="4000" u="none" cap="none" strike="noStrike"/>
          </a:p>
        </p:txBody>
      </p:sp>
      <p:sp>
        <p:nvSpPr>
          <p:cNvPr id="377" name="Google Shape;377;p24"/>
          <p:cNvSpPr txBox="1"/>
          <p:nvPr/>
        </p:nvSpPr>
        <p:spPr>
          <a:xfrm>
            <a:off x="609600" y="18796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cat /var/log/syslog </a:t>
            </a:r>
            <a:r>
              <a:rPr b="1" i="0" lang="en-US" sz="2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|</a:t>
            </a:r>
            <a:r>
              <a:rPr b="1" i="0" lang="en-US" sz="2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grep error </a:t>
            </a:r>
            <a:r>
              <a:rPr b="1" i="0" lang="en-US" sz="2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|</a:t>
            </a:r>
            <a:r>
              <a:rPr b="1" i="0" lang="en-US" sz="23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wc -l</a:t>
            </a:r>
            <a:endParaRPr b="0" i="0" sz="2300" u="none" cap="none" strike="noStrike"/>
          </a:p>
        </p:txBody>
      </p:sp>
      <p:sp>
        <p:nvSpPr>
          <p:cNvPr id="378" name="Google Shape;378;p24"/>
          <p:cNvSpPr/>
          <p:nvPr/>
        </p:nvSpPr>
        <p:spPr>
          <a:xfrm rot="5400000">
            <a:off x="609600" y="2667000"/>
            <a:ext cx="508000" cy="33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1397000" y="2641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cat /var/log/syslog</a:t>
            </a:r>
            <a:r>
              <a:rPr b="0" i="0" lang="en-US" sz="15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"show me the whole system log"</a:t>
            </a:r>
            <a:endParaRPr b="0" i="0" sz="1500" u="none" cap="none" strike="noStrike"/>
          </a:p>
        </p:txBody>
      </p:sp>
      <p:sp>
        <p:nvSpPr>
          <p:cNvPr id="380" name="Google Shape;380;p24"/>
          <p:cNvSpPr/>
          <p:nvPr/>
        </p:nvSpPr>
        <p:spPr>
          <a:xfrm rot="5400000">
            <a:off x="609600" y="3276600"/>
            <a:ext cx="508000" cy="33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1397000" y="32512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grep error</a:t>
            </a:r>
            <a:r>
              <a:rPr b="0" i="0" lang="en-US" sz="15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"keep only the lines containing error"</a:t>
            </a:r>
            <a:endParaRPr b="0" i="0" sz="1500" u="none" cap="none" strike="noStrike"/>
          </a:p>
        </p:txBody>
      </p:sp>
      <p:sp>
        <p:nvSpPr>
          <p:cNvPr id="382" name="Google Shape;382;p24"/>
          <p:cNvSpPr/>
          <p:nvPr/>
        </p:nvSpPr>
        <p:spPr>
          <a:xfrm rot="5400000">
            <a:off x="609600" y="3886200"/>
            <a:ext cx="508000" cy="33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1397000" y="38608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F04A"/>
                </a:solidFill>
                <a:latin typeface="Liter"/>
                <a:ea typeface="Liter"/>
                <a:cs typeface="Liter"/>
                <a:sym typeface="Liter"/>
              </a:rPr>
              <a:t>wc -l</a:t>
            </a:r>
            <a:r>
              <a:rPr b="0" i="0" lang="en-US" sz="15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— "count what's left"</a:t>
            </a:r>
            <a:endParaRPr b="0" i="0" sz="1500" u="none" cap="none" strike="noStrike"/>
          </a:p>
        </p:txBody>
      </p:sp>
      <p:sp>
        <p:nvSpPr>
          <p:cNvPr id="384" name="Google Shape;384;p24"/>
          <p:cNvSpPr txBox="1"/>
          <p:nvPr/>
        </p:nvSpPr>
        <p:spPr>
          <a:xfrm>
            <a:off x="609600" y="4470400"/>
            <a:ext cx="2794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F05A38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42</a:t>
            </a:r>
            <a:endParaRPr b="0" i="0" sz="9600" u="none" cap="none" strike="noStrike"/>
          </a:p>
        </p:txBody>
      </p:sp>
      <p:sp>
        <p:nvSpPr>
          <p:cNvPr id="385" name="Google Shape;385;p24"/>
          <p:cNvSpPr txBox="1"/>
          <p:nvPr/>
        </p:nvSpPr>
        <p:spPr>
          <a:xfrm>
            <a:off x="3302000" y="5029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errors in today's log —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found in two seconds</a:t>
            </a:r>
            <a:endParaRPr b="0" i="0" sz="1600" u="none" cap="none" strike="noStrike"/>
          </a:p>
        </p:txBody>
      </p:sp>
      <p:sp>
        <p:nvSpPr>
          <p:cNvPr id="386" name="Google Shape;386;p24"/>
          <p:cNvSpPr txBox="1"/>
          <p:nvPr/>
        </p:nvSpPr>
        <p:spPr>
          <a:xfrm>
            <a:off x="609600" y="61214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Small tools, one job each, chained with the pipe | — that's the Unix way. Build pipelines one stage at a time.</a:t>
            </a:r>
            <a:endParaRPr b="0" i="0" sz="1300" u="none" cap="none" strike="noStrike"/>
          </a:p>
        </p:txBody>
      </p:sp>
      <p:sp>
        <p:nvSpPr>
          <p:cNvPr id="387" name="Google Shape;387;p24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22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"/>
          <p:cNvSpPr txBox="1"/>
          <p:nvPr/>
        </p:nvSpPr>
        <p:spPr>
          <a:xfrm>
            <a:off x="6096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WRAP UP · YOUR HOMEWORK</a:t>
            </a:r>
            <a:endParaRPr b="0" i="0" sz="1200" u="none" cap="none" strike="noStrike"/>
          </a:p>
        </p:txBody>
      </p:sp>
      <p:sp>
        <p:nvSpPr>
          <p:cNvPr id="393" name="Google Shape;393;p25"/>
          <p:cNvSpPr txBox="1"/>
          <p:nvPr/>
        </p:nvSpPr>
        <p:spPr>
          <a:xfrm>
            <a:off x="558800" y="812800"/>
            <a:ext cx="1016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YOUR TURN AT THE KEYBOARD</a:t>
            </a:r>
            <a:endParaRPr b="0" i="0" sz="4000" u="none" cap="none" strike="noStrike"/>
          </a:p>
        </p:txBody>
      </p:sp>
      <p:sp>
        <p:nvSpPr>
          <p:cNvPr id="394" name="Google Shape;394;p25"/>
          <p:cNvSpPr txBox="1"/>
          <p:nvPr/>
        </p:nvSpPr>
        <p:spPr>
          <a:xfrm>
            <a:off x="609600" y="1828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1800" u="none" cap="none" strike="noStrike"/>
          </a:p>
        </p:txBody>
      </p:sp>
      <p:sp>
        <p:nvSpPr>
          <p:cNvPr id="395" name="Google Shape;395;p25"/>
          <p:cNvSpPr txBox="1"/>
          <p:nvPr/>
        </p:nvSpPr>
        <p:spPr>
          <a:xfrm>
            <a:off x="1320800" y="18542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Open a terminal and run ls -l in your home folder — read every column</a:t>
            </a:r>
            <a:endParaRPr b="0" i="0" sz="1400" u="none" cap="none" strike="noStrike"/>
          </a:p>
        </p:txBody>
      </p:sp>
      <p:sp>
        <p:nvSpPr>
          <p:cNvPr id="396" name="Google Shape;396;p25"/>
          <p:cNvSpPr/>
          <p:nvPr/>
        </p:nvSpPr>
        <p:spPr>
          <a:xfrm>
            <a:off x="609600" y="22606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609600" y="24384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1800" u="none" cap="none" strike="noStrike"/>
          </a:p>
        </p:txBody>
      </p:sp>
      <p:sp>
        <p:nvSpPr>
          <p:cNvPr id="398" name="Google Shape;398;p25"/>
          <p:cNvSpPr txBox="1"/>
          <p:nvPr/>
        </p:nvSpPr>
        <p:spPr>
          <a:xfrm>
            <a:off x="1320800" y="24638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Rename a .txt to .jpg and prove with the file command that nothing changed</a:t>
            </a:r>
            <a:endParaRPr b="0" i="0" sz="1400" u="none" cap="none" strike="noStrike"/>
          </a:p>
        </p:txBody>
      </p:sp>
      <p:sp>
        <p:nvSpPr>
          <p:cNvPr id="399" name="Google Shape;399;p25"/>
          <p:cNvSpPr/>
          <p:nvPr/>
        </p:nvSpPr>
        <p:spPr>
          <a:xfrm>
            <a:off x="609600" y="28702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 txBox="1"/>
          <p:nvPr/>
        </p:nvSpPr>
        <p:spPr>
          <a:xfrm>
            <a:off x="609600" y="30480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1800" u="none" cap="none" strike="noStrike"/>
          </a:p>
        </p:txBody>
      </p:sp>
      <p:sp>
        <p:nvSpPr>
          <p:cNvPr id="401" name="Google Shape;401;p25"/>
          <p:cNvSpPr txBox="1"/>
          <p:nvPr/>
        </p:nvSpPr>
        <p:spPr>
          <a:xfrm>
            <a:off x="1320800" y="30734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Build labs/week1 with one mkdir command, then fill it with touch and nano</a:t>
            </a:r>
            <a:endParaRPr b="0" i="0" sz="1400" u="none" cap="none" strike="noStrike"/>
          </a:p>
        </p:txBody>
      </p:sp>
      <p:sp>
        <p:nvSpPr>
          <p:cNvPr id="402" name="Google Shape;402;p25"/>
          <p:cNvSpPr/>
          <p:nvPr/>
        </p:nvSpPr>
        <p:spPr>
          <a:xfrm>
            <a:off x="609600" y="34798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609600" y="36576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1800" u="none" cap="none" strike="noStrike"/>
          </a:p>
        </p:txBody>
      </p:sp>
      <p:sp>
        <p:nvSpPr>
          <p:cNvPr id="404" name="Google Shape;404;p25"/>
          <p:cNvSpPr txBox="1"/>
          <p:nvPr/>
        </p:nvSpPr>
        <p:spPr>
          <a:xfrm>
            <a:off x="1320800" y="36830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Plug in a USB stick, find it with lsblk, then mount, copy, and eject it safely</a:t>
            </a:r>
            <a:endParaRPr b="0" i="0" sz="1400" u="none" cap="none" strike="noStrike"/>
          </a:p>
        </p:txBody>
      </p:sp>
      <p:sp>
        <p:nvSpPr>
          <p:cNvPr id="405" name="Google Shape;405;p25"/>
          <p:cNvSpPr/>
          <p:nvPr/>
        </p:nvSpPr>
        <p:spPr>
          <a:xfrm>
            <a:off x="609600" y="40894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609600" y="42672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1800" u="none" cap="none" strike="noStrike"/>
          </a:p>
        </p:txBody>
      </p:sp>
      <p:sp>
        <p:nvSpPr>
          <p:cNvPr id="407" name="Google Shape;407;p25"/>
          <p:cNvSpPr txBox="1"/>
          <p:nvPr/>
        </p:nvSpPr>
        <p:spPr>
          <a:xfrm>
            <a:off x="1320800" y="4292600"/>
            <a:ext cx="990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Count the errors in a log with one pipeline: cat /var/log/syslog | grep error | wc -l</a:t>
            </a:r>
            <a:endParaRPr b="0" i="0" sz="1400" u="none" cap="none" strike="noStrike"/>
          </a:p>
        </p:txBody>
      </p:sp>
      <p:sp>
        <p:nvSpPr>
          <p:cNvPr id="408" name="Google Shape;408;p25"/>
          <p:cNvSpPr/>
          <p:nvPr/>
        </p:nvSpPr>
        <p:spPr>
          <a:xfrm>
            <a:off x="609600" y="4699000"/>
            <a:ext cx="10972800" cy="12700"/>
          </a:xfrm>
          <a:prstGeom prst="rect">
            <a:avLst/>
          </a:prstGeom>
          <a:solidFill>
            <a:srgbClr val="D8CC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609600" y="50292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Stuck? man and --help are always there. Breaking things in a lab is how admins are made.</a:t>
            </a:r>
            <a:endParaRPr b="0" i="0" sz="1500" u="none" cap="none" strike="noStrike"/>
          </a:p>
        </p:txBody>
      </p:sp>
      <p:sp>
        <p:nvSpPr>
          <p:cNvPr id="410" name="Google Shape;410;p25"/>
          <p:cNvSpPr/>
          <p:nvPr/>
        </p:nvSpPr>
        <p:spPr>
          <a:xfrm>
            <a:off x="0" y="5740400"/>
            <a:ext cx="12192000" cy="1117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609600" y="6096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OPEN A TERMINAL · TYPE · BREAK THINGS · FIX THEM</a:t>
            </a:r>
            <a:endParaRPr b="0" i="0" sz="2000" u="none" cap="none" strike="noStrike"/>
          </a:p>
        </p:txBody>
      </p:sp>
      <p:sp>
        <p:nvSpPr>
          <p:cNvPr id="412" name="Google Shape;412;p25"/>
          <p:cNvSpPr txBox="1"/>
          <p:nvPr/>
        </p:nvSpPr>
        <p:spPr>
          <a:xfrm>
            <a:off x="11379200" y="63500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23</a:t>
            </a:r>
            <a:endParaRPr b="0" i="0" sz="11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