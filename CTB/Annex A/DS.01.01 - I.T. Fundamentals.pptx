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12192000" cy="6858000"/>
  <p:embeddedFontLst>
    <p:embeddedFont>
      <p:font typeface="Liter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FE5617-3DAA-4A7A-9FD6-1C8CD69EE655}">
  <a:tblStyle styleId="{C6FE5617-3DAA-4A7A-9FD6-1C8CD69EE65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8128000" y="736600"/>
            <a:ext cx="3302000" cy="23495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"/>
          <p:cNvSpPr/>
          <p:nvPr/>
        </p:nvSpPr>
        <p:spPr>
          <a:xfrm rot="10800000">
            <a:off x="9588500" y="3149600"/>
            <a:ext cx="2095500" cy="1905000"/>
          </a:xfrm>
          <a:prstGeom prst="triangle">
            <a:avLst>
              <a:gd fmla="val 50000" name="adj"/>
            </a:avLst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7620000" y="3327400"/>
            <a:ext cx="2349500" cy="16256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10731500" y="5308600"/>
            <a:ext cx="914400" cy="7366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762000" y="7112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DATA SYSTEMS ADMINISTRATION · ENTRY-LEVEL COURSE</a:t>
            </a:r>
            <a:endParaRPr b="0" i="0" sz="1300" u="none" cap="none" strike="noStrike"/>
          </a:p>
        </p:txBody>
      </p:sp>
      <p:sp>
        <p:nvSpPr>
          <p:cNvPr id="16" name="Google Shape;16;p3"/>
          <p:cNvSpPr txBox="1"/>
          <p:nvPr/>
        </p:nvSpPr>
        <p:spPr>
          <a:xfrm>
            <a:off x="711200" y="1498600"/>
            <a:ext cx="7493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CYBER</a:t>
            </a:r>
            <a:endParaRPr b="0" i="0" sz="7600" u="none" cap="none" strike="noStrike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SECURITY</a:t>
            </a:r>
            <a:endParaRPr b="0" i="0" sz="7600" u="none" cap="none" strike="noStrike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FOUNDATIONS</a:t>
            </a:r>
            <a:endParaRPr b="0" i="0" sz="7600" u="none" cap="none" strike="noStrike"/>
          </a:p>
        </p:txBody>
      </p:sp>
      <p:sp>
        <p:nvSpPr>
          <p:cNvPr id="17" name="Google Shape;17;p3"/>
          <p:cNvSpPr/>
          <p:nvPr/>
        </p:nvSpPr>
        <p:spPr>
          <a:xfrm>
            <a:off x="762000" y="4876800"/>
            <a:ext cx="1676400" cy="76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762000" y="51816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From binary to passwords — </a:t>
            </a:r>
            <a:r>
              <a:rPr b="0" i="0" lang="en-US" sz="1700" u="sng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five units</a:t>
            </a:r>
            <a:r>
              <a:rPr b="0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that turn high-school graduates into junior system administrators.</a:t>
            </a:r>
            <a:endParaRPr b="0" i="0" sz="1700" u="none" cap="none" strike="noStrike"/>
          </a:p>
        </p:txBody>
      </p:sp>
      <p:sp>
        <p:nvSpPr>
          <p:cNvPr id="19" name="Google Shape;19;p3"/>
          <p:cNvSpPr txBox="1"/>
          <p:nvPr/>
        </p:nvSpPr>
        <p:spPr>
          <a:xfrm>
            <a:off x="762000" y="62484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Audience: recent high-school graduates · No prior IT experience needed</a:t>
            </a:r>
            <a:endParaRPr b="0" i="0" sz="1150" u="none" cap="none" strike="noStrike"/>
          </a:p>
        </p:txBody>
      </p:sp>
      <p:sp>
        <p:nvSpPr>
          <p:cNvPr id="20" name="Google Shape;20;p3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762000" y="584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COURSE ROADMAP</a:t>
            </a:r>
            <a:endParaRPr b="0" i="0" sz="1300" u="none" cap="none" strike="noStrike"/>
          </a:p>
        </p:txBody>
      </p:sp>
      <p:sp>
        <p:nvSpPr>
          <p:cNvPr id="26" name="Google Shape;26;p4"/>
          <p:cNvSpPr txBox="1"/>
          <p:nvPr/>
        </p:nvSpPr>
        <p:spPr>
          <a:xfrm>
            <a:off x="762000" y="9398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FIVE STOPS TO YOUR FIRST ADMIN JOB</a:t>
            </a:r>
            <a:endParaRPr b="0" i="0" sz="3800" u="none" cap="none" strike="noStrike"/>
          </a:p>
        </p:txBody>
      </p:sp>
      <p:sp>
        <p:nvSpPr>
          <p:cNvPr id="27" name="Google Shape;27;p4"/>
          <p:cNvSpPr/>
          <p:nvPr/>
        </p:nvSpPr>
        <p:spPr>
          <a:xfrm>
            <a:off x="762000" y="17526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762000" y="19812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4000" u="none" cap="none" strike="noStrike"/>
          </a:p>
        </p:txBody>
      </p:sp>
      <p:sp>
        <p:nvSpPr>
          <p:cNvPr id="29" name="Google Shape;29;p4"/>
          <p:cNvSpPr txBox="1"/>
          <p:nvPr/>
        </p:nvSpPr>
        <p:spPr>
          <a:xfrm>
            <a:off x="2032000" y="19558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LANGUAGE OF COMPUTERS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Read binary and hex like a second language.</a:t>
            </a:r>
            <a:endParaRPr b="0" i="0" sz="1600" u="none" cap="none" strike="noStrike"/>
          </a:p>
        </p:txBody>
      </p:sp>
      <p:sp>
        <p:nvSpPr>
          <p:cNvPr id="30" name="Google Shape;30;p4"/>
          <p:cNvSpPr txBox="1"/>
          <p:nvPr/>
        </p:nvSpPr>
        <p:spPr>
          <a:xfrm>
            <a:off x="8255000" y="21336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bits · bytes · ASCII · hex</a:t>
            </a:r>
            <a:endParaRPr b="0" i="0" sz="1200" u="none" cap="none" strike="noStrike"/>
          </a:p>
        </p:txBody>
      </p:sp>
      <p:sp>
        <p:nvSpPr>
          <p:cNvPr id="31" name="Google Shape;31;p4"/>
          <p:cNvSpPr/>
          <p:nvPr/>
        </p:nvSpPr>
        <p:spPr>
          <a:xfrm>
            <a:off x="762000" y="2819400"/>
            <a:ext cx="10668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762000" y="30226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4000" u="none" cap="none" strike="noStrike"/>
          </a:p>
        </p:txBody>
      </p:sp>
      <p:sp>
        <p:nvSpPr>
          <p:cNvPr id="33" name="Google Shape;33;p4"/>
          <p:cNvSpPr txBox="1"/>
          <p:nvPr/>
        </p:nvSpPr>
        <p:spPr>
          <a:xfrm>
            <a:off x="2032000" y="29972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IP FUNDAMENTALS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Address any device, and subnet by hand.</a:t>
            </a:r>
            <a:endParaRPr b="0" i="0" sz="1600" u="none" cap="none" strike="noStrike"/>
          </a:p>
        </p:txBody>
      </p:sp>
      <p:sp>
        <p:nvSpPr>
          <p:cNvPr id="34" name="Google Shape;34;p4"/>
          <p:cNvSpPr txBox="1"/>
          <p:nvPr/>
        </p:nvSpPr>
        <p:spPr>
          <a:xfrm>
            <a:off x="8255000" y="3175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IPv4 · subnet masks · CIDR</a:t>
            </a:r>
            <a:endParaRPr b="0" i="0" sz="1200" u="none" cap="none" strike="noStrike"/>
          </a:p>
        </p:txBody>
      </p:sp>
      <p:sp>
        <p:nvSpPr>
          <p:cNvPr id="35" name="Google Shape;35;p4"/>
          <p:cNvSpPr/>
          <p:nvPr/>
        </p:nvSpPr>
        <p:spPr>
          <a:xfrm>
            <a:off x="762000" y="3860800"/>
            <a:ext cx="10668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762000" y="4064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4000" u="none" cap="none" strike="noStrike"/>
          </a:p>
        </p:txBody>
      </p:sp>
      <p:sp>
        <p:nvSpPr>
          <p:cNvPr id="37" name="Google Shape;37;p4"/>
          <p:cNvSpPr txBox="1"/>
          <p:nvPr/>
        </p:nvSpPr>
        <p:spPr>
          <a:xfrm>
            <a:off x="2032000" y="40386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CONNECTIVITY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Pick copper, fiber, or wireless for the job.</a:t>
            </a:r>
            <a:endParaRPr b="0" i="0" sz="1600" u="none" cap="none" strike="noStrike"/>
          </a:p>
        </p:txBody>
      </p:sp>
      <p:sp>
        <p:nvSpPr>
          <p:cNvPr id="38" name="Google Shape;38;p4"/>
          <p:cNvSpPr txBox="1"/>
          <p:nvPr/>
        </p:nvSpPr>
        <p:spPr>
          <a:xfrm>
            <a:off x="8255000" y="42164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Ethernet · fiber · Wi-Fi</a:t>
            </a:r>
            <a:endParaRPr b="0" i="0" sz="12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762000" y="4902200"/>
            <a:ext cx="10668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762000" y="51054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4000" u="none" cap="none" strike="noStrike"/>
          </a:p>
        </p:txBody>
      </p:sp>
      <p:sp>
        <p:nvSpPr>
          <p:cNvPr id="41" name="Google Shape;41;p4"/>
          <p:cNvSpPr txBox="1"/>
          <p:nvPr/>
        </p:nvSpPr>
        <p:spPr>
          <a:xfrm>
            <a:off x="2032000" y="50800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OPERATING SYSTEMS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Find your way around Linux and Windows.</a:t>
            </a:r>
            <a:endParaRPr b="0" i="0" sz="1600" u="none" cap="none" strike="noStrike"/>
          </a:p>
        </p:txBody>
      </p:sp>
      <p:sp>
        <p:nvSpPr>
          <p:cNvPr id="42" name="Google Shape;42;p4"/>
          <p:cNvSpPr txBox="1"/>
          <p:nvPr/>
        </p:nvSpPr>
        <p:spPr>
          <a:xfrm>
            <a:off x="8255000" y="5257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users · services · CLI</a:t>
            </a:r>
            <a:endParaRPr b="0" i="0" sz="12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762000" y="5943600"/>
            <a:ext cx="10668000" cy="127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762000" y="61214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4000" u="none" cap="none" strike="noStrike"/>
          </a:p>
        </p:txBody>
      </p:sp>
      <p:sp>
        <p:nvSpPr>
          <p:cNvPr id="45" name="Google Shape;45;p4"/>
          <p:cNvSpPr txBox="1"/>
          <p:nvPr/>
        </p:nvSpPr>
        <p:spPr>
          <a:xfrm>
            <a:off x="2032000" y="60960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SECURITY FOUNDATIONS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Build password and MFA habits that stop attacks.</a:t>
            </a:r>
            <a:endParaRPr b="0" i="0" sz="1600" u="none" cap="none" strike="noStrike"/>
          </a:p>
        </p:txBody>
      </p:sp>
      <p:sp>
        <p:nvSpPr>
          <p:cNvPr id="46" name="Google Shape;46;p4"/>
          <p:cNvSpPr txBox="1"/>
          <p:nvPr/>
        </p:nvSpPr>
        <p:spPr>
          <a:xfrm>
            <a:off x="8255000" y="6273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passphrases · MFA · phishing</a:t>
            </a:r>
            <a:endParaRPr b="0" i="0" sz="1200" u="none" cap="none" strike="noStrike"/>
          </a:p>
        </p:txBody>
      </p:sp>
      <p:sp>
        <p:nvSpPr>
          <p:cNvPr id="47" name="Google Shape;47;p4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 rot="10800000">
            <a:off x="10160000" y="889000"/>
            <a:ext cx="1397000" cy="1143000"/>
          </a:xfrm>
          <a:prstGeom prst="triangle">
            <a:avLst>
              <a:gd fmla="val 50000" name="adj"/>
            </a:avLst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9398000" y="1778000"/>
            <a:ext cx="1524000" cy="10414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762000" y="711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</a:t>
            </a:r>
            <a:endParaRPr b="0" i="0" sz="1300" u="none" cap="none" strike="noStrike"/>
          </a:p>
        </p:txBody>
      </p:sp>
      <p:sp>
        <p:nvSpPr>
          <p:cNvPr id="55" name="Google Shape;55;p5"/>
          <p:cNvSpPr txBox="1"/>
          <p:nvPr/>
        </p:nvSpPr>
        <p:spPr>
          <a:xfrm>
            <a:off x="558800" y="10668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1000" u="none" cap="none" strike="noStrike"/>
          </a:p>
        </p:txBody>
      </p:sp>
      <p:sp>
        <p:nvSpPr>
          <p:cNvPr id="56" name="Google Shape;56;p5"/>
          <p:cNvSpPr txBox="1"/>
          <p:nvPr/>
        </p:nvSpPr>
        <p:spPr>
          <a:xfrm>
            <a:off x="762000" y="4521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LANGUAGE OF COMPUTERS</a:t>
            </a:r>
            <a:endParaRPr b="0" i="0" sz="4200" u="none" cap="none" strike="noStrike"/>
          </a:p>
        </p:txBody>
      </p:sp>
      <p:sp>
        <p:nvSpPr>
          <p:cNvPr id="57" name="Google Shape;57;p5"/>
          <p:cNvSpPr txBox="1"/>
          <p:nvPr/>
        </p:nvSpPr>
        <p:spPr>
          <a:xfrm>
            <a:off x="762000" y="53340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Why everything a computer knows fits into 1s and 0s.</a:t>
            </a:r>
            <a:endParaRPr b="0" i="0" sz="1700" u="none" cap="none" strike="noStrike"/>
          </a:p>
        </p:txBody>
      </p:sp>
      <p:sp>
        <p:nvSpPr>
          <p:cNvPr id="58" name="Google Shape;58;p5"/>
          <p:cNvSpPr txBox="1"/>
          <p:nvPr/>
        </p:nvSpPr>
        <p:spPr>
          <a:xfrm>
            <a:off x="762000" y="59182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IN THIS UNIT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 bits &amp; bytes   ·   binary → decimal   ·   ASCII &amp; hex in the wild</a:t>
            </a:r>
            <a:endParaRPr b="0" i="0" sz="1300" u="none" cap="none" strike="noStrike"/>
          </a:p>
        </p:txBody>
      </p:sp>
      <p:sp>
        <p:nvSpPr>
          <p:cNvPr id="59" name="Google Shape;59;p5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 · LANGUAGE OF COMPUTERS</a:t>
            </a:r>
            <a:endParaRPr b="0" i="0" sz="1300" u="none" cap="none" strike="noStrike"/>
          </a:p>
        </p:txBody>
      </p:sp>
      <p:sp>
        <p:nvSpPr>
          <p:cNvPr id="65" name="Google Shape;65;p6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COMPUTERS KNOW EXACTLY TWO THINGS</a:t>
            </a:r>
            <a:endParaRPr b="0" i="0" sz="3800" u="none" cap="none" strike="noStrike"/>
          </a:p>
        </p:txBody>
      </p:sp>
      <p:sp>
        <p:nvSpPr>
          <p:cNvPr id="66" name="Google Shape;66;p6"/>
          <p:cNvSpPr txBox="1"/>
          <p:nvPr/>
        </p:nvSpPr>
        <p:spPr>
          <a:xfrm>
            <a:off x="762000" y="1905000"/>
            <a:ext cx="54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 computer is billions of microscopic switches. Each one is either </a:t>
            </a: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or </a:t>
            </a: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OFF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there is no "maybe".</a:t>
            </a:r>
            <a:endParaRPr b="0" i="0" sz="16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We write ON as </a:t>
            </a: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and OFF as </a:t>
            </a: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0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 One switch is one </a:t>
            </a: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bit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 Eight bits make one </a:t>
            </a: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byte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6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Every photo, song, password, and video game is stored as a long pattern of these bits. That is the entire trick.</a:t>
            </a:r>
            <a:endParaRPr b="0" i="0" sz="16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Anchor image: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 row of light switches — the </a:t>
            </a:r>
            <a:r>
              <a:rPr b="0" i="1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pattern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of ons and offs is the message.</a:t>
            </a:r>
            <a:endParaRPr b="0" i="0" sz="1600" u="none" cap="none" strike="noStrike"/>
          </a:p>
        </p:txBody>
      </p:sp>
      <p:sp>
        <p:nvSpPr>
          <p:cNvPr id="67" name="Google Shape;67;p6"/>
          <p:cNvSpPr txBox="1"/>
          <p:nvPr/>
        </p:nvSpPr>
        <p:spPr>
          <a:xfrm>
            <a:off x="6858000" y="2006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ONE BYTE = 8 BITS</a:t>
            </a:r>
            <a:endParaRPr b="0" i="0" sz="1300" u="none" cap="none" strike="noStrike"/>
          </a:p>
        </p:txBody>
      </p:sp>
      <p:sp>
        <p:nvSpPr>
          <p:cNvPr id="68" name="Google Shape;68;p6"/>
          <p:cNvSpPr txBox="1"/>
          <p:nvPr/>
        </p:nvSpPr>
        <p:spPr>
          <a:xfrm>
            <a:off x="6858000" y="2387600"/>
            <a:ext cx="462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1  0  1  0  1  1  0  0</a:t>
            </a:r>
            <a:endParaRPr b="0" i="0" sz="260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6858000" y="2997200"/>
            <a:ext cx="457200" cy="457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7429500" y="2997200"/>
            <a:ext cx="457200" cy="457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8001000" y="2997200"/>
            <a:ext cx="457200" cy="457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8572500" y="2997200"/>
            <a:ext cx="457200" cy="457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9144000" y="2997200"/>
            <a:ext cx="457200" cy="457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9715500" y="2997200"/>
            <a:ext cx="457200" cy="457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0287000" y="2997200"/>
            <a:ext cx="457200" cy="457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0858500" y="2997200"/>
            <a:ext cx="457200" cy="457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6858000" y="3632200"/>
            <a:ext cx="4622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■</a:t>
            </a:r>
            <a:r>
              <a:rPr b="0" i="0" lang="en-US" sz="12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switch ON (1)   ■ switch OFF (0)</a:t>
            </a:r>
            <a:endParaRPr b="0" i="0" sz="125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This exact byte stores the number </a:t>
            </a:r>
            <a:r>
              <a:rPr b="1" i="0" lang="en-US" sz="12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172</a:t>
            </a:r>
            <a:r>
              <a:rPr b="0" i="0" lang="en-US" sz="12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next page shows how.</a:t>
            </a:r>
            <a:endParaRPr b="0" i="0" sz="125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6858000" y="4470400"/>
            <a:ext cx="4572000" cy="25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6858000" y="46482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9600" u="none" cap="none" strike="noStrike"/>
          </a:p>
        </p:txBody>
      </p:sp>
      <p:sp>
        <p:nvSpPr>
          <p:cNvPr id="80" name="Google Shape;80;p6"/>
          <p:cNvSpPr txBox="1"/>
          <p:nvPr/>
        </p:nvSpPr>
        <p:spPr>
          <a:xfrm>
            <a:off x="8661400" y="4876800"/>
            <a:ext cx="2819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states per switch: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and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OFF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 The whole digital world is built from this one fact.</a:t>
            </a:r>
            <a:endParaRPr b="0" i="0" sz="1400" u="none" cap="none" strike="noStrike"/>
          </a:p>
        </p:txBody>
      </p:sp>
      <p:sp>
        <p:nvSpPr>
          <p:cNvPr id="81" name="Google Shape;81;p6"/>
          <p:cNvSpPr txBox="1"/>
          <p:nvPr/>
        </p:nvSpPr>
        <p:spPr>
          <a:xfrm>
            <a:off x="762000" y="62992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Background: Brookshear &amp; Brylow, Computer Science: An Overview, ch. 1 (2024)</a:t>
            </a:r>
            <a:endParaRPr b="0" i="0" sz="1150" u="none" cap="none" strike="noStrike"/>
          </a:p>
        </p:txBody>
      </p:sp>
      <p:sp>
        <p:nvSpPr>
          <p:cNvPr id="82" name="Google Shape;82;p6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 · LANGUAGE OF COMPUTERS</a:t>
            </a:r>
            <a:endParaRPr b="0" i="0" sz="1300" u="none" cap="none" strike="noStrike"/>
          </a:p>
        </p:txBody>
      </p:sp>
      <p:sp>
        <p:nvSpPr>
          <p:cNvPr id="88" name="Google Shape;88;p7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READING BINARY: EACH POSITION DOUBLES</a:t>
            </a:r>
            <a:endParaRPr b="0" i="0" sz="3500" u="none" cap="none" strike="noStrike"/>
          </a:p>
        </p:txBody>
      </p:sp>
      <p:sp>
        <p:nvSpPr>
          <p:cNvPr id="89" name="Google Shape;89;p7"/>
          <p:cNvSpPr txBox="1"/>
          <p:nvPr/>
        </p:nvSpPr>
        <p:spPr>
          <a:xfrm>
            <a:off x="762000" y="1676400"/>
            <a:ext cx="4445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STEP 1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Write the place values: start at 1 on the right, double as you go left.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STEP 2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Put the bits underneath, one per column.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STEP 3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Add up only the places that have a 1.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highlight>
                  <a:srgbClr val="D9F04A"/>
                </a:highlight>
                <a:latin typeface="Liter"/>
                <a:ea typeface="Liter"/>
                <a:cs typeface="Liter"/>
                <a:sym typeface="Liter"/>
              </a:rPr>
              <a:t> TRY IT 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What number is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00001111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?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Answer at the bottom of the page.</a:t>
            </a:r>
            <a:endParaRPr b="0" i="0" sz="1500" u="none" cap="none" strike="noStrike"/>
          </a:p>
        </p:txBody>
      </p:sp>
      <p:graphicFrame>
        <p:nvGraphicFramePr>
          <p:cNvPr id="90" name="Google Shape;90;p7"/>
          <p:cNvGraphicFramePr/>
          <p:nvPr/>
        </p:nvGraphicFramePr>
        <p:xfrm>
          <a:off x="55880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{C6FE5617-3DAA-4A7A-9FD6-1C8CD69EE655}</a:tableStyleId>
              </a:tblPr>
              <a:tblGrid>
                <a:gridCol w="730250"/>
                <a:gridCol w="730250"/>
                <a:gridCol w="730250"/>
                <a:gridCol w="730250"/>
                <a:gridCol w="730250"/>
                <a:gridCol w="730250"/>
                <a:gridCol w="730250"/>
                <a:gridCol w="730250"/>
              </a:tblGrid>
              <a:tr h="79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128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64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32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128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32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7"/>
          <p:cNvSpPr txBox="1"/>
          <p:nvPr/>
        </p:nvSpPr>
        <p:spPr>
          <a:xfrm>
            <a:off x="4902200" y="19304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value</a:t>
            </a:r>
            <a:endParaRPr b="0" i="0" sz="1100" u="none" cap="none" strike="noStrike"/>
          </a:p>
        </p:txBody>
      </p:sp>
      <p:sp>
        <p:nvSpPr>
          <p:cNvPr id="92" name="Google Shape;92;p7"/>
          <p:cNvSpPr txBox="1"/>
          <p:nvPr/>
        </p:nvSpPr>
        <p:spPr>
          <a:xfrm>
            <a:off x="4902200" y="27305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bit</a:t>
            </a:r>
            <a:endParaRPr b="0" i="0" sz="1100" u="none" cap="none" strike="noStrike"/>
          </a:p>
        </p:txBody>
      </p:sp>
      <p:sp>
        <p:nvSpPr>
          <p:cNvPr id="93" name="Google Shape;93;p7"/>
          <p:cNvSpPr txBox="1"/>
          <p:nvPr/>
        </p:nvSpPr>
        <p:spPr>
          <a:xfrm>
            <a:off x="4902200" y="35306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keep</a:t>
            </a:r>
            <a:endParaRPr b="0" i="0" sz="1100" u="none" cap="none" strike="noStrike"/>
          </a:p>
        </p:txBody>
      </p:sp>
      <p:sp>
        <p:nvSpPr>
          <p:cNvPr id="94" name="Google Shape;94;p7"/>
          <p:cNvSpPr txBox="1"/>
          <p:nvPr/>
        </p:nvSpPr>
        <p:spPr>
          <a:xfrm>
            <a:off x="5588000" y="4267200"/>
            <a:ext cx="584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128 + 32 + 8 + 4 = </a:t>
            </a: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172</a:t>
            </a:r>
            <a:endParaRPr b="0" i="0" sz="2000" u="none" cap="none" strike="noStrike"/>
          </a:p>
        </p:txBody>
      </p:sp>
      <p:sp>
        <p:nvSpPr>
          <p:cNvPr id="95" name="Google Shape;95;p7"/>
          <p:cNvSpPr/>
          <p:nvPr/>
        </p:nvSpPr>
        <p:spPr>
          <a:xfrm>
            <a:off x="762000" y="5029200"/>
            <a:ext cx="10668000" cy="787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1066800" y="51816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REMEMBER</a:t>
            </a: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The biggest byte is </a:t>
            </a: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11111111 = 255</a:t>
            </a: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. That is why every part of an IP address maxes out at 255 — Unit 02 uses this constantly.</a:t>
            </a:r>
            <a:endParaRPr b="0" i="0" sz="1600" u="none" cap="none" strike="noStrike"/>
          </a:p>
        </p:txBody>
      </p:sp>
      <p:sp>
        <p:nvSpPr>
          <p:cNvPr id="97" name="Google Shape;97;p7"/>
          <p:cNvSpPr txBox="1"/>
          <p:nvPr/>
        </p:nvSpPr>
        <p:spPr>
          <a:xfrm>
            <a:off x="762000" y="62992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TRY IT answer: 00001111 = 8 + 4 + 2 + 1 = 15 · Conversion method: Duke &amp; Obidunnu (2009)</a:t>
            </a:r>
            <a:endParaRPr b="0" i="0" sz="1150" u="none" cap="none" strike="noStrike"/>
          </a:p>
        </p:txBody>
      </p:sp>
      <p:sp>
        <p:nvSpPr>
          <p:cNvPr id="98" name="Google Shape;98;p7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 · LANGUAGE OF COMPUTERS</a:t>
            </a:r>
            <a:endParaRPr b="0" i="0" sz="1300" u="none" cap="none" strike="noStrike"/>
          </a:p>
        </p:txBody>
      </p:sp>
      <p:sp>
        <p:nvSpPr>
          <p:cNvPr id="104" name="Google Shape;104;p8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LETTERS ARE JUST NUMBERS IN COSTUME</a:t>
            </a:r>
            <a:endParaRPr b="0" i="0" sz="3800" u="none" cap="none" strike="noStrike"/>
          </a:p>
        </p:txBody>
      </p:sp>
      <p:sp>
        <p:nvSpPr>
          <p:cNvPr id="105" name="Google Shape;105;p8"/>
          <p:cNvSpPr txBox="1"/>
          <p:nvPr/>
        </p:nvSpPr>
        <p:spPr>
          <a:xfrm>
            <a:off x="762000" y="1701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ASCII — THE DRESS-UP CODE</a:t>
            </a:r>
            <a:endParaRPr b="0" i="0" sz="1400" u="none" cap="none" strike="noStrike"/>
          </a:p>
        </p:txBody>
      </p:sp>
      <p:sp>
        <p:nvSpPr>
          <p:cNvPr id="106" name="Google Shape;106;p8"/>
          <p:cNvSpPr txBox="1"/>
          <p:nvPr/>
        </p:nvSpPr>
        <p:spPr>
          <a:xfrm>
            <a:off x="762000" y="2082800"/>
            <a:ext cx="4826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Every character on your keyboard has an agreed number, so any computer can store text as bytes.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"A" = 65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·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"a" = 97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·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"0" = 48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·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space = 32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So the word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"Hi"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is really two bytes: </a:t>
            </a: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72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then </a:t>
            </a: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105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pattern 01001000 01101001 on disk.</a:t>
            </a:r>
            <a:endParaRPr b="0" i="0" sz="1500" u="none" cap="none" strike="noStrike"/>
          </a:p>
        </p:txBody>
      </p:sp>
      <p:sp>
        <p:nvSpPr>
          <p:cNvPr id="107" name="Google Shape;107;p8"/>
          <p:cNvSpPr txBox="1"/>
          <p:nvPr/>
        </p:nvSpPr>
        <p:spPr>
          <a:xfrm>
            <a:off x="6604000" y="1701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HEX — BINARY'S SHORT-HAND</a:t>
            </a:r>
            <a:endParaRPr b="0" i="0" sz="1400" u="none" cap="none" strike="noStrike"/>
          </a:p>
        </p:txBody>
      </p:sp>
      <p:sp>
        <p:nvSpPr>
          <p:cNvPr id="108" name="Google Shape;108;p8"/>
          <p:cNvSpPr txBox="1"/>
          <p:nvPr/>
        </p:nvSpPr>
        <p:spPr>
          <a:xfrm>
            <a:off x="6604000" y="2082800"/>
            <a:ext cx="4826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Hexadecimal counts 0–9 then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A–F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(A = 10 … F = 15). One hex digit covers 4 bits, so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one byte = two hex digits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Our number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172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becomes </a:t>
            </a: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AC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: A = 10 sixteens (160) + C = 12.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Admins read hex daily — it is binary, without the eye strain.</a:t>
            </a:r>
            <a:endParaRPr b="0" i="0" sz="1500" u="none" cap="none" strike="noStrike"/>
          </a:p>
        </p:txBody>
      </p:sp>
      <p:sp>
        <p:nvSpPr>
          <p:cNvPr id="109" name="Google Shape;109;p8"/>
          <p:cNvSpPr/>
          <p:nvPr/>
        </p:nvSpPr>
        <p:spPr>
          <a:xfrm>
            <a:off x="762000" y="4724400"/>
            <a:ext cx="10668000" cy="25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762000" y="4953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WHERE YOU WILL ACTUALLY SEE THIS</a:t>
            </a:r>
            <a:endParaRPr b="0" i="0" sz="1400" u="none" cap="none" strike="noStrike"/>
          </a:p>
        </p:txBody>
      </p:sp>
      <p:sp>
        <p:nvSpPr>
          <p:cNvPr id="111" name="Google Shape;111;p8"/>
          <p:cNvSpPr txBox="1"/>
          <p:nvPr/>
        </p:nvSpPr>
        <p:spPr>
          <a:xfrm>
            <a:off x="762000" y="5334000"/>
            <a:ext cx="10668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MAC addresses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every network card's ID: </a:t>
            </a:r>
            <a:r>
              <a:rPr b="1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7C:2E:BD:41:0A:9F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(pure hex)</a:t>
            </a:r>
            <a:endParaRPr b="0" i="0" sz="14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Error codes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Windows </a:t>
            </a:r>
            <a:r>
              <a:rPr b="1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0x80070005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means "access denied" · </a:t>
            </a: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Logs &amp; configs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colors, memory offsets, permission bits</a:t>
            </a:r>
            <a:endParaRPr b="0" i="0" sz="1450" u="none" cap="none" strike="noStrike"/>
          </a:p>
        </p:txBody>
      </p:sp>
      <p:sp>
        <p:nvSpPr>
          <p:cNvPr id="112" name="Google Shape;112;p8"/>
          <p:cNvSpPr txBox="1"/>
          <p:nvPr/>
        </p:nvSpPr>
        <p:spPr>
          <a:xfrm>
            <a:off x="762000" y="629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Background: ASCII standard (1963); Brookshear &amp; Brylow (2024), ch. 1 — data representation</a:t>
            </a:r>
            <a:endParaRPr b="0" i="0" sz="1150" u="none" cap="none" strike="noStrike"/>
          </a:p>
        </p:txBody>
      </p:sp>
      <p:sp>
        <p:nvSpPr>
          <p:cNvPr id="113" name="Google Shape;113;p8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10236200" y="838200"/>
            <a:ext cx="1320800" cy="13208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9499600" y="1905000"/>
            <a:ext cx="1473200" cy="10160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 txBox="1"/>
          <p:nvPr/>
        </p:nvSpPr>
        <p:spPr>
          <a:xfrm>
            <a:off x="762000" y="711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</a:t>
            </a:r>
            <a:endParaRPr b="0" i="0" sz="1300" u="none" cap="none" strike="noStrike"/>
          </a:p>
        </p:txBody>
      </p:sp>
      <p:sp>
        <p:nvSpPr>
          <p:cNvPr id="121" name="Google Shape;121;p9"/>
          <p:cNvSpPr txBox="1"/>
          <p:nvPr/>
        </p:nvSpPr>
        <p:spPr>
          <a:xfrm>
            <a:off x="558800" y="10668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1000" u="none" cap="none" strike="noStrike"/>
          </a:p>
        </p:txBody>
      </p:sp>
      <p:sp>
        <p:nvSpPr>
          <p:cNvPr id="122" name="Google Shape;122;p9"/>
          <p:cNvSpPr txBox="1"/>
          <p:nvPr/>
        </p:nvSpPr>
        <p:spPr>
          <a:xfrm>
            <a:off x="762000" y="4521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IP FUNDAMENTALS</a:t>
            </a:r>
            <a:endParaRPr b="0" i="0" sz="4200" u="none" cap="none" strike="noStrike"/>
          </a:p>
        </p:txBody>
      </p:sp>
      <p:sp>
        <p:nvSpPr>
          <p:cNvPr id="123" name="Google Shape;123;p9"/>
          <p:cNvSpPr txBox="1"/>
          <p:nvPr/>
        </p:nvSpPr>
        <p:spPr>
          <a:xfrm>
            <a:off x="762000" y="5334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Give every device an address, and split networks with confidence.</a:t>
            </a:r>
            <a:endParaRPr b="0" i="0" sz="1700" u="none" cap="none" strike="noStrike"/>
          </a:p>
        </p:txBody>
      </p:sp>
      <p:sp>
        <p:nvSpPr>
          <p:cNvPr id="124" name="Google Shape;124;p9"/>
          <p:cNvSpPr txBox="1"/>
          <p:nvPr/>
        </p:nvSpPr>
        <p:spPr>
          <a:xfrm>
            <a:off x="762000" y="59182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IN THIS UNIT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 dotted decimal   ·   subnet masks &amp; CIDR   ·   hands-on subnetting drills</a:t>
            </a:r>
            <a:endParaRPr b="0" i="0" sz="1300" u="none" cap="none" strike="noStrike"/>
          </a:p>
        </p:txBody>
      </p:sp>
      <p:sp>
        <p:nvSpPr>
          <p:cNvPr id="125" name="Google Shape;125;p9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 · IP FUNDAMENTALS</a:t>
            </a:r>
            <a:endParaRPr b="0" i="0" sz="1300" u="none" cap="none" strike="noStrike"/>
          </a:p>
        </p:txBody>
      </p:sp>
      <p:sp>
        <p:nvSpPr>
          <p:cNvPr id="131" name="Google Shape;131;p10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AN IP ADDRESS IS A STREET ADDRESS</a:t>
            </a:r>
            <a:endParaRPr b="0" i="0" sz="3800" u="none" cap="none" strike="noStrike"/>
          </a:p>
        </p:txBody>
      </p:sp>
      <p:sp>
        <p:nvSpPr>
          <p:cNvPr id="132" name="Google Shape;132;p10"/>
          <p:cNvSpPr txBox="1"/>
          <p:nvPr/>
        </p:nvSpPr>
        <p:spPr>
          <a:xfrm>
            <a:off x="762000" y="1752600"/>
            <a:ext cx="787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192</a:t>
            </a:r>
            <a:r>
              <a:rPr b="1" i="0" lang="en-US" sz="6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r>
              <a:rPr b="1" i="0" lang="en-US" sz="6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168</a:t>
            </a:r>
            <a:r>
              <a:rPr b="1" i="0" lang="en-US" sz="6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r>
              <a:rPr b="1" i="0" lang="en-US" sz="6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r>
              <a:rPr b="1" i="0" lang="en-US" sz="6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r>
              <a:rPr b="1" i="0" lang="en-US" sz="6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endParaRPr b="0" i="0" sz="6400" u="none" cap="none" strike="noStrike"/>
          </a:p>
        </p:txBody>
      </p:sp>
      <p:sp>
        <p:nvSpPr>
          <p:cNvPr id="133" name="Google Shape;133;p10"/>
          <p:cNvSpPr/>
          <p:nvPr/>
        </p:nvSpPr>
        <p:spPr>
          <a:xfrm>
            <a:off x="812800" y="2946400"/>
            <a:ext cx="3207600" cy="381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812800" y="3073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NETWORK = the street you live on</a:t>
            </a:r>
            <a:endParaRPr b="0" i="0" sz="1350" u="none" cap="none" strike="noStrike"/>
          </a:p>
        </p:txBody>
      </p:sp>
      <p:sp>
        <p:nvSpPr>
          <p:cNvPr id="135" name="Google Shape;135;p10"/>
          <p:cNvSpPr/>
          <p:nvPr/>
        </p:nvSpPr>
        <p:spPr>
          <a:xfrm>
            <a:off x="4216400" y="2946400"/>
            <a:ext cx="1371600" cy="381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4216400" y="3060700"/>
            <a:ext cx="2793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HOST = your house number</a:t>
            </a:r>
            <a:endParaRPr b="0" i="0" sz="1350" u="none" cap="none" strike="noStrike"/>
          </a:p>
        </p:txBody>
      </p:sp>
      <p:sp>
        <p:nvSpPr>
          <p:cNvPr id="137" name="Google Shape;137;p10"/>
          <p:cNvSpPr txBox="1"/>
          <p:nvPr/>
        </p:nvSpPr>
        <p:spPr>
          <a:xfrm>
            <a:off x="762000" y="3581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Each of the four numbers is an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octet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one byte, so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0–255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(Unit 01 payoff!).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subnet mask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is the ruler that says where "street" ends and "house" begins.</a:t>
            </a:r>
            <a:endParaRPr b="0" i="0" sz="1500" u="none" cap="none" strike="noStrike"/>
          </a:p>
        </p:txBody>
      </p:sp>
      <p:sp>
        <p:nvSpPr>
          <p:cNvPr id="138" name="Google Shape;138;p10"/>
          <p:cNvSpPr/>
          <p:nvPr/>
        </p:nvSpPr>
        <p:spPr>
          <a:xfrm>
            <a:off x="762000" y="4419600"/>
            <a:ext cx="10668000" cy="25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762000" y="46228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FOUR THINGS EVERY DEVICE NEEDS TO GET ONLINE</a:t>
            </a:r>
            <a:endParaRPr b="0" i="0" sz="1400" u="none" cap="none" strike="noStrike"/>
          </a:p>
        </p:txBody>
      </p:sp>
      <p:sp>
        <p:nvSpPr>
          <p:cNvPr id="140" name="Google Shape;140;p10"/>
          <p:cNvSpPr txBox="1"/>
          <p:nvPr/>
        </p:nvSpPr>
        <p:spPr>
          <a:xfrm>
            <a:off x="762000" y="5029200"/>
            <a:ext cx="10668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1. IP address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who you are on the network      </a:t>
            </a: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2. Subnet mask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which network you belong to</a:t>
            </a:r>
            <a:endParaRPr b="0" i="0" sz="14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3. Default gateway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door out (your router)      </a:t>
            </a: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4. DNS server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phone book that turns names into numbers</a:t>
            </a:r>
            <a:endParaRPr b="0" i="0" sz="1450" u="none" cap="none" strike="noStrike"/>
          </a:p>
        </p:txBody>
      </p:sp>
      <p:sp>
        <p:nvSpPr>
          <p:cNvPr id="141" name="Google Shape;141;p10"/>
          <p:cNvSpPr txBox="1"/>
          <p:nvPr/>
        </p:nvSpPr>
        <p:spPr>
          <a:xfrm>
            <a:off x="762000" y="629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Postel, RFC 791 — Internet Protocol (1981), addressing section</a:t>
            </a:r>
            <a:endParaRPr b="0" i="0" sz="1150" u="none" cap="none" strike="noStrike"/>
          </a:p>
        </p:txBody>
      </p:sp>
      <p:sp>
        <p:nvSpPr>
          <p:cNvPr id="142" name="Google Shape;142;p10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 · IP FUNDAMENTALS</a:t>
            </a:r>
            <a:endParaRPr b="0" i="0" sz="1300" u="none" cap="none" strike="noStrike"/>
          </a:p>
        </p:txBody>
      </p:sp>
      <p:sp>
        <p:nvSpPr>
          <p:cNvPr id="148" name="Google Shape;148;p11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SUBNETTING: ONE NETWORK BECOMES FOUR</a:t>
            </a:r>
            <a:endParaRPr b="0" i="0" sz="3600" u="none" cap="none" strike="noStrike"/>
          </a:p>
        </p:txBody>
      </p:sp>
      <p:sp>
        <p:nvSpPr>
          <p:cNvPr id="149" name="Google Shape;149;p11"/>
          <p:cNvSpPr txBox="1"/>
          <p:nvPr/>
        </p:nvSpPr>
        <p:spPr>
          <a:xfrm>
            <a:off x="762000" y="16002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 start with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192.168.1.0/24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256 addresses. "Borrow" 2 bits for the network and you get a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/26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: four subnets of 64 addresses each (62 usable hosts; the first and last addresses are reserved).</a:t>
            </a:r>
            <a:endParaRPr b="0" i="0" sz="1500" u="none" cap="none" strike="noStrike"/>
          </a:p>
        </p:txBody>
      </p:sp>
      <p:graphicFrame>
        <p:nvGraphicFramePr>
          <p:cNvPr id="150" name="Google Shape;150;p11"/>
          <p:cNvGraphicFramePr/>
          <p:nvPr/>
        </p:nvGraphicFramePr>
        <p:xfrm>
          <a:off x="762000" y="23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{C6FE5617-3DAA-4A7A-9FD6-1C8CD69EE655}</a:tableStyleId>
              </a:tblPr>
              <a:tblGrid>
                <a:gridCol w="1137925"/>
                <a:gridCol w="1706875"/>
                <a:gridCol w="1422400"/>
                <a:gridCol w="1422400"/>
                <a:gridCol w="1422400"/>
              </a:tblGrid>
              <a:tr h="59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SUBNET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NETWORK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FIRST HOST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LAST HOST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BROADCAST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192.168.1.0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.62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.63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192.168.1.64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.65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.126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.127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192.168.1.128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.129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.190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.191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192.168.1.192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.193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.254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.255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1"/>
          <p:cNvSpPr txBox="1"/>
          <p:nvPr/>
        </p:nvSpPr>
        <p:spPr>
          <a:xfrm>
            <a:off x="8483600" y="2362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HOW TO DERIVE IT</a:t>
            </a:r>
            <a:endParaRPr b="0" i="0" sz="1300" u="none" cap="none" strike="noStrike"/>
          </a:p>
        </p:txBody>
      </p:sp>
      <p:sp>
        <p:nvSpPr>
          <p:cNvPr id="152" name="Google Shape;152;p11"/>
          <p:cNvSpPr txBox="1"/>
          <p:nvPr/>
        </p:nvSpPr>
        <p:spPr>
          <a:xfrm>
            <a:off x="8483600" y="2743200"/>
            <a:ext cx="3048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1.</a:t>
            </a: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New mask /26 → mask's last octet is 192.</a:t>
            </a:r>
            <a:endParaRPr b="0" i="0" sz="135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2.</a:t>
            </a: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Block size = 256 − 192 = </a:t>
            </a:r>
            <a:r>
              <a:rPr b="1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64</a:t>
            </a: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35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3.</a:t>
            </a: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Count networks up by 64: 0, 64, 128, 192.</a:t>
            </a:r>
            <a:endParaRPr b="0" i="0" sz="135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4.</a:t>
            </a: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First host = network + 1; broadcast = next network − 1; last host = broadcast − 1.</a:t>
            </a:r>
            <a:endParaRPr b="0" i="0" sz="1350" u="none" cap="none" strike="noStrike"/>
          </a:p>
        </p:txBody>
      </p:sp>
      <p:sp>
        <p:nvSpPr>
          <p:cNvPr id="153" name="Google Shape;153;p11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 txBox="1"/>
          <p:nvPr/>
        </p:nvSpPr>
        <p:spPr>
          <a:xfrm>
            <a:off x="1066800" y="56896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LAB DRILL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Derive the same table for a /27 (block size 32) — then verify it in Cisco Packet Tracer.</a:t>
            </a:r>
            <a:endParaRPr b="0" i="0" sz="1400" u="none" cap="none" strike="noStrike"/>
          </a:p>
        </p:txBody>
      </p:sp>
      <p:sp>
        <p:nvSpPr>
          <p:cNvPr id="155" name="Google Shape;155;p11"/>
          <p:cNvSpPr txBox="1"/>
          <p:nvPr/>
        </p:nvSpPr>
        <p:spPr>
          <a:xfrm>
            <a:off x="762000" y="629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Reference: RFC 4632 — CIDR (2006); taught by drilling worked examples</a:t>
            </a:r>
            <a:endParaRPr b="0" i="0" sz="1150" u="none" cap="none" strike="noStrike"/>
          </a:p>
        </p:txBody>
      </p:sp>
      <p:sp>
        <p:nvSpPr>
          <p:cNvPr id="156" name="Google Shape;156;p11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 · IP FUNDAMENTALS</a:t>
            </a:r>
            <a:endParaRPr b="0" i="0" sz="1300" u="none" cap="none" strike="noStrike"/>
          </a:p>
        </p:txBody>
      </p:sp>
      <p:sp>
        <p:nvSpPr>
          <p:cNvPr id="162" name="Google Shape;162;p12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SOME ADDRESSES STAY HOME</a:t>
            </a:r>
            <a:endParaRPr b="0" i="0" sz="3800" u="none" cap="none" strike="noStrike"/>
          </a:p>
        </p:txBody>
      </p:sp>
      <p:sp>
        <p:nvSpPr>
          <p:cNvPr id="163" name="Google Shape;163;p12"/>
          <p:cNvSpPr txBox="1"/>
          <p:nvPr/>
        </p:nvSpPr>
        <p:spPr>
          <a:xfrm>
            <a:off x="762000" y="1701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PRIVATE RANGES — FREE FOR EVERYONE</a:t>
            </a:r>
            <a:endParaRPr b="0" i="0" sz="1400" u="none" cap="none" strike="noStrike"/>
          </a:p>
        </p:txBody>
      </p:sp>
      <p:sp>
        <p:nvSpPr>
          <p:cNvPr id="164" name="Google Shape;164;p12"/>
          <p:cNvSpPr txBox="1"/>
          <p:nvPr/>
        </p:nvSpPr>
        <p:spPr>
          <a:xfrm>
            <a:off x="762000" y="2082800"/>
            <a:ext cx="5080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10.0.0.0 – 10.255.255.255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172.16.0.0 – 172.31.255.255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192.168.0.0 – 192.168.255.255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Anyone may use these indoors; they never appear on the public internet. Your router shares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one public IP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for the whole house — a trick called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NAT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500" u="none" cap="none" strike="noStrike"/>
          </a:p>
        </p:txBody>
      </p:sp>
      <p:sp>
        <p:nvSpPr>
          <p:cNvPr id="165" name="Google Shape;165;p12"/>
          <p:cNvSpPr txBox="1"/>
          <p:nvPr/>
        </p:nvSpPr>
        <p:spPr>
          <a:xfrm>
            <a:off x="6858000" y="17018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IPV6 — THE BIGGER PHONE BOOK</a:t>
            </a:r>
            <a:endParaRPr b="0" i="0" sz="1400" u="none" cap="none" strike="noStrike"/>
          </a:p>
        </p:txBody>
      </p:sp>
      <p:sp>
        <p:nvSpPr>
          <p:cNvPr id="166" name="Google Shape;166;p12"/>
          <p:cNvSpPr txBox="1"/>
          <p:nvPr/>
        </p:nvSpPr>
        <p:spPr>
          <a:xfrm>
            <a:off x="6858000" y="2082800"/>
            <a:ext cx="4572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IPv4 gives ~4.3 billion addresses — phones, laptops, watches, and doorbells used them all up.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IPv6 stretches to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128 bits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, written in hex: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2001:db8::1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Same street-address idea — just a much longer street.</a:t>
            </a:r>
            <a:endParaRPr b="0" i="0" sz="1500" u="none" cap="none" strike="noStrike"/>
          </a:p>
        </p:txBody>
      </p:sp>
      <p:sp>
        <p:nvSpPr>
          <p:cNvPr id="167" name="Google Shape;167;p12"/>
          <p:cNvSpPr/>
          <p:nvPr/>
        </p:nvSpPr>
        <p:spPr>
          <a:xfrm>
            <a:off x="762000" y="4978400"/>
            <a:ext cx="10668000" cy="25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762000" y="5181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THEN vs NOW — READ THE ACTUAL SPECS</a:t>
            </a:r>
            <a:endParaRPr b="0" i="0" sz="1300" u="none" cap="none" strike="noStrike"/>
          </a:p>
        </p:txBody>
      </p:sp>
      <p:sp>
        <p:nvSpPr>
          <p:cNvPr id="169" name="Google Shape;169;p12"/>
          <p:cNvSpPr txBox="1"/>
          <p:nvPr/>
        </p:nvSpPr>
        <p:spPr>
          <a:xfrm>
            <a:off x="762000" y="5537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RFC 791 (1981)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original IPv4 spec; the addressing section is only a few pages and surprisingly readable.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RFC 2460 (1998)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IPv6; compare them side by side and watch one idea grow up.</a:t>
            </a:r>
            <a:endParaRPr b="0" i="0" sz="1400" u="none" cap="none" strike="noStrike"/>
          </a:p>
        </p:txBody>
      </p:sp>
      <p:sp>
        <p:nvSpPr>
          <p:cNvPr id="170" name="Google Shape;170;p12"/>
          <p:cNvSpPr txBox="1"/>
          <p:nvPr/>
        </p:nvSpPr>
        <p:spPr>
          <a:xfrm>
            <a:off x="762000" y="629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Sources: RFC 1918 — private ranges (1996); RFC 791 (1981); RFC 2460 (1998)</a:t>
            </a:r>
            <a:endParaRPr b="0" i="0" sz="1150" u="none" cap="none" strike="noStrike"/>
          </a:p>
        </p:txBody>
      </p:sp>
      <p:sp>
        <p:nvSpPr>
          <p:cNvPr id="171" name="Google Shape;171;p12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10033000" y="762000"/>
            <a:ext cx="1524000" cy="15240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9398000" y="2032000"/>
            <a:ext cx="1219200" cy="8382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762000" y="711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</a:t>
            </a:r>
            <a:endParaRPr b="0" i="0" sz="1300" u="none" cap="none" strike="noStrike"/>
          </a:p>
        </p:txBody>
      </p:sp>
      <p:sp>
        <p:nvSpPr>
          <p:cNvPr id="179" name="Google Shape;179;p13"/>
          <p:cNvSpPr txBox="1"/>
          <p:nvPr/>
        </p:nvSpPr>
        <p:spPr>
          <a:xfrm>
            <a:off x="558800" y="10668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1000" u="none" cap="none" strike="noStrike"/>
          </a:p>
        </p:txBody>
      </p:sp>
      <p:sp>
        <p:nvSpPr>
          <p:cNvPr id="180" name="Google Shape;180;p13"/>
          <p:cNvSpPr txBox="1"/>
          <p:nvPr/>
        </p:nvSpPr>
        <p:spPr>
          <a:xfrm>
            <a:off x="762000" y="4521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CONNECTIVITY</a:t>
            </a:r>
            <a:endParaRPr b="0" i="0" sz="4200" u="none" cap="none" strike="noStrike"/>
          </a:p>
        </p:txBody>
      </p:sp>
      <p:sp>
        <p:nvSpPr>
          <p:cNvPr id="181" name="Google Shape;181;p13"/>
          <p:cNvSpPr txBox="1"/>
          <p:nvPr/>
        </p:nvSpPr>
        <p:spPr>
          <a:xfrm>
            <a:off x="762000" y="5334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Copper, fiber, or air: pick the right path for the data.</a:t>
            </a:r>
            <a:endParaRPr b="0" i="0" sz="1700" u="none" cap="none" strike="noStrike"/>
          </a:p>
        </p:txBody>
      </p:sp>
      <p:sp>
        <p:nvSpPr>
          <p:cNvPr id="182" name="Google Shape;182;p13"/>
          <p:cNvSpPr txBox="1"/>
          <p:nvPr/>
        </p:nvSpPr>
        <p:spPr>
          <a:xfrm>
            <a:off x="762000" y="59182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IN THIS UNIT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 Ethernet over copper   ·   fiber optics   ·   Wi-Fi &amp; radio basics</a:t>
            </a:r>
            <a:endParaRPr b="0" i="0" sz="1300" u="none" cap="none" strike="noStrike"/>
          </a:p>
        </p:txBody>
      </p:sp>
      <p:sp>
        <p:nvSpPr>
          <p:cNvPr id="183" name="Google Shape;183;p13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CONNECTIVITY — COPPER</a:t>
            </a:r>
            <a:endParaRPr b="0" i="0" sz="1300" u="none" cap="none" strike="noStrike"/>
          </a:p>
        </p:txBody>
      </p:sp>
      <p:sp>
        <p:nvSpPr>
          <p:cNvPr id="189" name="Google Shape;189;p14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ETHERNET — FROM 10 Mbps TO 400,000</a:t>
            </a:r>
            <a:endParaRPr b="0" i="0" sz="3800" u="none" cap="none" strike="noStrike"/>
          </a:p>
        </p:txBody>
      </p:sp>
      <p:sp>
        <p:nvSpPr>
          <p:cNvPr id="190" name="Google Shape;190;p14"/>
          <p:cNvSpPr/>
          <p:nvPr/>
        </p:nvSpPr>
        <p:spPr>
          <a:xfrm>
            <a:off x="762000" y="1778000"/>
            <a:ext cx="1549400" cy="8128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889000" y="1879600"/>
            <a:ext cx="132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1983</a:t>
            </a:r>
            <a:endParaRPr b="0" i="0" sz="16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10 Mbps</a:t>
            </a:r>
            <a:endParaRPr b="0" i="0" sz="1600" u="none" cap="none" strike="noStrike"/>
          </a:p>
        </p:txBody>
      </p:sp>
      <p:sp>
        <p:nvSpPr>
          <p:cNvPr id="192" name="Google Shape;192;p14"/>
          <p:cNvSpPr/>
          <p:nvPr/>
        </p:nvSpPr>
        <p:spPr>
          <a:xfrm>
            <a:off x="2438400" y="1778000"/>
            <a:ext cx="1549400" cy="8128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2565400" y="1879600"/>
            <a:ext cx="132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1995</a:t>
            </a:r>
            <a:endParaRPr b="0" i="0" sz="16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100 Mbps</a:t>
            </a:r>
            <a:endParaRPr b="0" i="0" sz="1600" u="none" cap="none" strike="noStrike"/>
          </a:p>
        </p:txBody>
      </p:sp>
      <p:sp>
        <p:nvSpPr>
          <p:cNvPr id="194" name="Google Shape;194;p14"/>
          <p:cNvSpPr/>
          <p:nvPr/>
        </p:nvSpPr>
        <p:spPr>
          <a:xfrm>
            <a:off x="4114800" y="1778000"/>
            <a:ext cx="1549400" cy="8128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4241800" y="1879600"/>
            <a:ext cx="132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1999</a:t>
            </a:r>
            <a:endParaRPr b="0" i="0" sz="16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 Gbps</a:t>
            </a:r>
            <a:endParaRPr b="0" i="0" sz="1600" u="none" cap="none" strike="noStrike"/>
          </a:p>
        </p:txBody>
      </p:sp>
      <p:sp>
        <p:nvSpPr>
          <p:cNvPr id="196" name="Google Shape;196;p14"/>
          <p:cNvSpPr/>
          <p:nvPr/>
        </p:nvSpPr>
        <p:spPr>
          <a:xfrm>
            <a:off x="5791200" y="1778000"/>
            <a:ext cx="1549400" cy="8128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5918200" y="1879600"/>
            <a:ext cx="132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2002</a:t>
            </a:r>
            <a:endParaRPr b="0" i="0" sz="16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10 Gbps</a:t>
            </a:r>
            <a:endParaRPr b="0" i="0" sz="1600" u="none" cap="none" strike="noStrike"/>
          </a:p>
        </p:txBody>
      </p:sp>
      <p:sp>
        <p:nvSpPr>
          <p:cNvPr id="198" name="Google Shape;198;p14"/>
          <p:cNvSpPr/>
          <p:nvPr/>
        </p:nvSpPr>
        <p:spPr>
          <a:xfrm>
            <a:off x="7467600" y="1778000"/>
            <a:ext cx="1549400" cy="812800"/>
          </a:xfrm>
          <a:prstGeom prst="rect">
            <a:avLst/>
          </a:prstGeom>
          <a:solidFill>
            <a:srgbClr val="F3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7594600" y="1879600"/>
            <a:ext cx="132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2010</a:t>
            </a:r>
            <a:endParaRPr b="0" i="0" sz="16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40/100 Gbps</a:t>
            </a:r>
            <a:endParaRPr b="0" i="0" sz="1600" u="none" cap="none" strike="noStrike"/>
          </a:p>
        </p:txBody>
      </p:sp>
      <p:sp>
        <p:nvSpPr>
          <p:cNvPr id="200" name="Google Shape;200;p14"/>
          <p:cNvSpPr/>
          <p:nvPr/>
        </p:nvSpPr>
        <p:spPr>
          <a:xfrm>
            <a:off x="9144000" y="1778000"/>
            <a:ext cx="2286000" cy="8128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9271000" y="18796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2017</a:t>
            </a:r>
            <a:endParaRPr b="0" i="0" sz="16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400 Gbps</a:t>
            </a:r>
            <a:endParaRPr b="0" i="0" sz="1600" u="none" cap="none" strike="noStrike"/>
          </a:p>
        </p:txBody>
      </p:sp>
      <p:sp>
        <p:nvSpPr>
          <p:cNvPr id="202" name="Google Shape;202;p14"/>
          <p:cNvSpPr txBox="1"/>
          <p:nvPr/>
        </p:nvSpPr>
        <p:spPr>
          <a:xfrm>
            <a:off x="762000" y="3124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COPPER IN YOUR HANDS TODAY</a:t>
            </a:r>
            <a:endParaRPr b="0" i="0" sz="1300" u="none" cap="none" strike="noStrike"/>
          </a:p>
        </p:txBody>
      </p:sp>
      <p:sp>
        <p:nvSpPr>
          <p:cNvPr id="203" name="Google Shape;203;p14"/>
          <p:cNvSpPr txBox="1"/>
          <p:nvPr/>
        </p:nvSpPr>
        <p:spPr>
          <a:xfrm>
            <a:off x="762000" y="3505200"/>
            <a:ext cx="508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cable at your desk is </a:t>
            </a: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twisted-pair copper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Cat5e or Cat6 — ending in the chunky </a:t>
            </a: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RJ45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plug.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One rule never changes: </a:t>
            </a: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100 meters max per run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. Longer than that and the signal fades.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"Ethernet" is just the IEEE </a:t>
            </a: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802.3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working group's name for the standard.</a:t>
            </a:r>
            <a:endParaRPr b="0" i="0" sz="1500" u="none" cap="none" strike="noStrike"/>
          </a:p>
        </p:txBody>
      </p:sp>
      <p:sp>
        <p:nvSpPr>
          <p:cNvPr id="204" name="Google Shape;204;p14"/>
          <p:cNvSpPr txBox="1"/>
          <p:nvPr/>
        </p:nvSpPr>
        <p:spPr>
          <a:xfrm>
            <a:off x="7112000" y="31242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WATCH OUT FOR</a:t>
            </a:r>
            <a:endParaRPr b="0" i="0" sz="1300" u="none" cap="none" strike="noStrike"/>
          </a:p>
        </p:txBody>
      </p:sp>
      <p:sp>
        <p:nvSpPr>
          <p:cNvPr id="205" name="Google Shape;205;p14"/>
          <p:cNvSpPr txBox="1"/>
          <p:nvPr/>
        </p:nvSpPr>
        <p:spPr>
          <a:xfrm>
            <a:off x="7112000" y="3505200"/>
            <a:ext cx="4318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Interference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copper is an antenna; keep it away from power cables and motors.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Distance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past 100 m you need a switch, or a different medium.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Cheap cable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a bad crimp causes the weirdest network bugs you will ever chase.</a:t>
            </a:r>
            <a:endParaRPr b="0" i="0" sz="1500" u="none" cap="none" strike="noStrike"/>
          </a:p>
        </p:txBody>
      </p:sp>
      <p:sp>
        <p:nvSpPr>
          <p:cNvPr id="206" name="Google Shape;206;p14"/>
          <p:cNvSpPr txBox="1"/>
          <p:nvPr/>
        </p:nvSpPr>
        <p:spPr>
          <a:xfrm>
            <a:off x="762000" y="62992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Law et al., Evolution of Ethernet Standards in IEEE 802.3 (2013)</a:t>
            </a:r>
            <a:endParaRPr b="0" i="0" sz="1150" u="none" cap="none" strike="noStrike"/>
          </a:p>
        </p:txBody>
      </p:sp>
      <p:sp>
        <p:nvSpPr>
          <p:cNvPr id="207" name="Google Shape;207;p14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CONNECTIVITY — FIBER</a:t>
            </a:r>
            <a:endParaRPr b="0" i="0" sz="1300" u="none" cap="none" strike="noStrike"/>
          </a:p>
        </p:txBody>
      </p:sp>
      <p:sp>
        <p:nvSpPr>
          <p:cNvPr id="213" name="Google Shape;213;p15"/>
          <p:cNvSpPr txBox="1"/>
          <p:nvPr/>
        </p:nvSpPr>
        <p:spPr>
          <a:xfrm>
            <a:off x="762000" y="889000"/>
            <a:ext cx="10922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DATA AT THE SPEED OF LIGHT — LITERALLY</a:t>
            </a:r>
            <a:endParaRPr b="0" i="0" sz="3800" u="none" cap="none" strike="noStrike"/>
          </a:p>
        </p:txBody>
      </p:sp>
      <p:sp>
        <p:nvSpPr>
          <p:cNvPr id="214" name="Google Shape;214;p15"/>
          <p:cNvSpPr txBox="1"/>
          <p:nvPr/>
        </p:nvSpPr>
        <p:spPr>
          <a:xfrm>
            <a:off x="762000" y="17526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 fiber cable is a hair-thin strand of glass. Light goes in one end and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bounces off the walls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all the way down — a physics trick called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total internal reflection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Flashing the light on and off is just bits again: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light = 1, dark = 0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500" u="none" cap="none" strike="noStrike"/>
          </a:p>
        </p:txBody>
      </p:sp>
      <p:sp>
        <p:nvSpPr>
          <p:cNvPr id="215" name="Google Shape;215;p15"/>
          <p:cNvSpPr/>
          <p:nvPr/>
        </p:nvSpPr>
        <p:spPr>
          <a:xfrm>
            <a:off x="6604000" y="1905000"/>
            <a:ext cx="4826000" cy="1524000"/>
          </a:xfrm>
          <a:custGeom>
            <a:rect b="b" l="l" r="r" t="t"/>
            <a:pathLst>
              <a:path extrusionOk="0" h="120" w="380">
                <a:moveTo>
                  <a:pt x="0" y="10"/>
                </a:moveTo>
                <a:lnTo>
                  <a:pt x="380" y="10"/>
                </a:lnTo>
              </a:path>
            </a:pathLst>
          </a:cu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5"/>
          <p:cNvSpPr/>
          <p:nvPr/>
        </p:nvSpPr>
        <p:spPr>
          <a:xfrm>
            <a:off x="6604000" y="1905000"/>
            <a:ext cx="4826000" cy="1524000"/>
          </a:xfrm>
          <a:custGeom>
            <a:rect b="b" l="l" r="r" t="t"/>
            <a:pathLst>
              <a:path extrusionOk="0" h="120" w="380">
                <a:moveTo>
                  <a:pt x="0" y="110"/>
                </a:moveTo>
                <a:lnTo>
                  <a:pt x="380" y="110"/>
                </a:lnTo>
              </a:path>
            </a:pathLst>
          </a:cu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"/>
          <p:cNvSpPr/>
          <p:nvPr/>
        </p:nvSpPr>
        <p:spPr>
          <a:xfrm>
            <a:off x="6604000" y="1905000"/>
            <a:ext cx="4826000" cy="1524000"/>
          </a:xfrm>
          <a:custGeom>
            <a:rect b="b" l="l" r="r" t="t"/>
            <a:pathLst>
              <a:path extrusionOk="0" h="120" w="380">
                <a:moveTo>
                  <a:pt x="0" y="60"/>
                </a:moveTo>
                <a:lnTo>
                  <a:pt x="63" y="10"/>
                </a:lnTo>
                <a:lnTo>
                  <a:pt x="127" y="110"/>
                </a:lnTo>
                <a:lnTo>
                  <a:pt x="190" y="10"/>
                </a:lnTo>
                <a:lnTo>
                  <a:pt x="253" y="110"/>
                </a:lnTo>
                <a:lnTo>
                  <a:pt x="317" y="10"/>
                </a:lnTo>
                <a:lnTo>
                  <a:pt x="380" y="60"/>
                </a:lnTo>
              </a:path>
            </a:pathLst>
          </a:custGeom>
          <a:noFill/>
          <a:ln cap="flat" cmpd="sng" w="38100">
            <a:solidFill>
              <a:srgbClr val="F05A38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218" name="Google Shape;218;p15"/>
          <p:cNvSpPr txBox="1"/>
          <p:nvPr/>
        </p:nvSpPr>
        <p:spPr>
          <a:xfrm>
            <a:off x="6604000" y="35814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Light zigzags inside the glass core, trapped by total internal reflection.</a:t>
            </a:r>
            <a:endParaRPr b="0" i="0" sz="1250" u="none" cap="none" strike="noStrike"/>
          </a:p>
        </p:txBody>
      </p:sp>
      <p:sp>
        <p:nvSpPr>
          <p:cNvPr id="219" name="Google Shape;219;p15"/>
          <p:cNvSpPr/>
          <p:nvPr/>
        </p:nvSpPr>
        <p:spPr>
          <a:xfrm>
            <a:off x="762000" y="4267200"/>
            <a:ext cx="10668000" cy="25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762000" y="4495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SINGLE-MODE — THE MARATHONER</a:t>
            </a:r>
            <a:endParaRPr b="0" i="0" sz="1400" u="none" cap="none" strike="noStrike"/>
          </a:p>
        </p:txBody>
      </p:sp>
      <p:sp>
        <p:nvSpPr>
          <p:cNvPr id="221" name="Google Shape;221;p15"/>
          <p:cNvSpPr txBox="1"/>
          <p:nvPr/>
        </p:nvSpPr>
        <p:spPr>
          <a:xfrm>
            <a:off x="762000" y="4876800"/>
            <a:ext cx="50800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One thin core, one straight beam. Carries data </a:t>
            </a:r>
            <a:r>
              <a:rPr b="1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kilometers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under-city links, ISP backbones, between buildings.</a:t>
            </a:r>
            <a:endParaRPr b="0" i="0" sz="1450" u="none" cap="none" strike="noStrike"/>
          </a:p>
        </p:txBody>
      </p:sp>
      <p:sp>
        <p:nvSpPr>
          <p:cNvPr id="222" name="Google Shape;222;p15"/>
          <p:cNvSpPr txBox="1"/>
          <p:nvPr/>
        </p:nvSpPr>
        <p:spPr>
          <a:xfrm>
            <a:off x="6604000" y="4495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MULTI-MODE — THE SPRINTER</a:t>
            </a:r>
            <a:endParaRPr b="0" i="0" sz="1400" u="none" cap="none" strike="noStrike"/>
          </a:p>
        </p:txBody>
      </p:sp>
      <p:sp>
        <p:nvSpPr>
          <p:cNvPr id="223" name="Google Shape;223;p15"/>
          <p:cNvSpPr txBox="1"/>
          <p:nvPr/>
        </p:nvSpPr>
        <p:spPr>
          <a:xfrm>
            <a:off x="6604000" y="4876800"/>
            <a:ext cx="48260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 wider core, many bouncing beams. Cheaper gear, good for </a:t>
            </a:r>
            <a:r>
              <a:rPr b="1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hundreds of meters</a:t>
            </a:r>
            <a:r>
              <a:rPr b="0" i="0" lang="en-US" sz="14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inside one building or data center.</a:t>
            </a:r>
            <a:endParaRPr b="0" i="0" sz="1450" u="none" cap="none" strike="noStrike"/>
          </a:p>
        </p:txBody>
      </p:sp>
      <p:sp>
        <p:nvSpPr>
          <p:cNvPr id="224" name="Google Shape;224;p15"/>
          <p:cNvSpPr/>
          <p:nvPr/>
        </p:nvSpPr>
        <p:spPr>
          <a:xfrm>
            <a:off x="762000" y="61722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762000" y="6299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Why admins love it:</a:t>
            </a: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immune to electrical interference · insanely fast · this is what "fiber to the home" (FTTH) actually is.</a:t>
            </a:r>
            <a:endParaRPr b="0" i="0" sz="1300" u="none" cap="none" strike="noStrike"/>
          </a:p>
        </p:txBody>
      </p:sp>
      <p:sp>
        <p:nvSpPr>
          <p:cNvPr id="226" name="Google Shape;226;p15"/>
          <p:cNvSpPr txBox="1"/>
          <p:nvPr/>
        </p:nvSpPr>
        <p:spPr>
          <a:xfrm>
            <a:off x="8890000" y="6553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Ghatak &amp; Thyagarajan (1998)</a:t>
            </a:r>
            <a:endParaRPr b="0" i="0" sz="1150" u="none" cap="none" strike="noStrike"/>
          </a:p>
        </p:txBody>
      </p:sp>
      <p:sp>
        <p:nvSpPr>
          <p:cNvPr id="227" name="Google Shape;227;p15"/>
          <p:cNvSpPr txBox="1"/>
          <p:nvPr/>
        </p:nvSpPr>
        <p:spPr>
          <a:xfrm>
            <a:off x="11303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CONNECTIVITY — WIRELESS</a:t>
            </a:r>
            <a:endParaRPr b="0" i="0" sz="1300" u="none" cap="none" strike="noStrike"/>
          </a:p>
        </p:txBody>
      </p:sp>
      <p:sp>
        <p:nvSpPr>
          <p:cNvPr id="233" name="Google Shape;233;p16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WI-FI IS JUST RADIO, POLITELY SHARING</a:t>
            </a:r>
            <a:endParaRPr b="0" i="0" sz="3800" u="none" cap="none" strike="noStrike"/>
          </a:p>
        </p:txBody>
      </p:sp>
      <p:sp>
        <p:nvSpPr>
          <p:cNvPr id="234" name="Google Shape;234;p16"/>
          <p:cNvSpPr txBox="1"/>
          <p:nvPr/>
        </p:nvSpPr>
        <p:spPr>
          <a:xfrm>
            <a:off x="762000" y="16002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Wi-Fi (IEEE 802.11) sends bits through the air as radio waves. The catch: everybody shares the same air.</a:t>
            </a:r>
            <a:endParaRPr b="0" i="0" sz="1500" u="none" cap="none" strike="noStrike"/>
          </a:p>
        </p:txBody>
      </p:sp>
      <p:sp>
        <p:nvSpPr>
          <p:cNvPr id="235" name="Google Shape;235;p16"/>
          <p:cNvSpPr txBox="1"/>
          <p:nvPr/>
        </p:nvSpPr>
        <p:spPr>
          <a:xfrm>
            <a:off x="762000" y="22352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2.4 GHz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old faithful</a:t>
            </a:r>
            <a:endParaRPr b="0" i="0" sz="1600" u="none" cap="none" strike="noStrike"/>
          </a:p>
        </p:txBody>
      </p:sp>
      <p:sp>
        <p:nvSpPr>
          <p:cNvPr id="236" name="Google Shape;236;p16"/>
          <p:cNvSpPr txBox="1"/>
          <p:nvPr/>
        </p:nvSpPr>
        <p:spPr>
          <a:xfrm>
            <a:off x="2540000" y="2260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RANGE</a:t>
            </a:r>
            <a:endParaRPr b="0" i="0" sz="1100" u="none" cap="none" strike="noStrike"/>
          </a:p>
        </p:txBody>
      </p:sp>
      <p:sp>
        <p:nvSpPr>
          <p:cNvPr id="237" name="Google Shape;237;p16"/>
          <p:cNvSpPr/>
          <p:nvPr/>
        </p:nvSpPr>
        <p:spPr>
          <a:xfrm>
            <a:off x="2540000" y="2489200"/>
            <a:ext cx="4826000" cy="203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2540000" y="27432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SPEED</a:t>
            </a:r>
            <a:endParaRPr b="0" i="0" sz="1100" u="none" cap="none" strike="noStrike"/>
          </a:p>
        </p:txBody>
      </p:sp>
      <p:sp>
        <p:nvSpPr>
          <p:cNvPr id="239" name="Google Shape;239;p16"/>
          <p:cNvSpPr/>
          <p:nvPr/>
        </p:nvSpPr>
        <p:spPr>
          <a:xfrm>
            <a:off x="2540000" y="2971800"/>
            <a:ext cx="1905000" cy="203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7874000" y="2311400"/>
            <a:ext cx="355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Reaches far and through walls — but crowded: neighbors, Bluetooth, even microwaves live here.</a:t>
            </a:r>
            <a:endParaRPr b="0" i="0" sz="1300" u="none" cap="none" strike="noStrike"/>
          </a:p>
        </p:txBody>
      </p:sp>
      <p:sp>
        <p:nvSpPr>
          <p:cNvPr id="241" name="Google Shape;241;p16"/>
          <p:cNvSpPr txBox="1"/>
          <p:nvPr/>
        </p:nvSpPr>
        <p:spPr>
          <a:xfrm>
            <a:off x="762000" y="34544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5 / 6 GHz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fast lane</a:t>
            </a:r>
            <a:endParaRPr b="0" i="0" sz="1600" u="none" cap="none" strike="noStrike"/>
          </a:p>
        </p:txBody>
      </p:sp>
      <p:sp>
        <p:nvSpPr>
          <p:cNvPr id="242" name="Google Shape;242;p16"/>
          <p:cNvSpPr txBox="1"/>
          <p:nvPr/>
        </p:nvSpPr>
        <p:spPr>
          <a:xfrm>
            <a:off x="2540000" y="3479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RANGE</a:t>
            </a:r>
            <a:endParaRPr b="0" i="0" sz="1100" u="none" cap="none" strike="noStrike"/>
          </a:p>
        </p:txBody>
      </p:sp>
      <p:sp>
        <p:nvSpPr>
          <p:cNvPr id="243" name="Google Shape;243;p16"/>
          <p:cNvSpPr/>
          <p:nvPr/>
        </p:nvSpPr>
        <p:spPr>
          <a:xfrm>
            <a:off x="2540000" y="3708400"/>
            <a:ext cx="2413000" cy="2032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2540000" y="3962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SPEED</a:t>
            </a:r>
            <a:endParaRPr b="0" i="0" sz="1100" u="none" cap="none" strike="noStrike"/>
          </a:p>
        </p:txBody>
      </p:sp>
      <p:sp>
        <p:nvSpPr>
          <p:cNvPr id="245" name="Google Shape;245;p16"/>
          <p:cNvSpPr/>
          <p:nvPr/>
        </p:nvSpPr>
        <p:spPr>
          <a:xfrm>
            <a:off x="2540000" y="4191000"/>
            <a:ext cx="4826000" cy="2032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7874000" y="3530600"/>
            <a:ext cx="355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Much faster with more room — but walls eat it. Same trade-off, every time.</a:t>
            </a:r>
            <a:endParaRPr b="0" i="0" sz="1300" u="none" cap="none" strike="noStrike"/>
          </a:p>
        </p:txBody>
      </p:sp>
      <p:sp>
        <p:nvSpPr>
          <p:cNvPr id="247" name="Google Shape;247;p16"/>
          <p:cNvSpPr/>
          <p:nvPr/>
        </p:nvSpPr>
        <p:spPr>
          <a:xfrm>
            <a:off x="762000" y="49022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762000" y="5105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WHAT KILLS YOUR SIGNAL</a:t>
            </a:r>
            <a:endParaRPr b="0" i="0" sz="1300" u="none" cap="none" strike="noStrike"/>
          </a:p>
        </p:txBody>
      </p:sp>
      <p:sp>
        <p:nvSpPr>
          <p:cNvPr id="249" name="Google Shape;249;p16"/>
          <p:cNvSpPr txBox="1"/>
          <p:nvPr/>
        </p:nvSpPr>
        <p:spPr>
          <a:xfrm>
            <a:off x="762000" y="546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Walls &amp; metal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every wall costs you bars  ·  </a:t>
            </a:r>
            <a:r>
              <a:rPr b="1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Channel crowding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on 2.4 GHz only channels </a:t>
            </a:r>
            <a:r>
              <a:rPr b="1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1, 6, 11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don't overlap  ·  </a:t>
            </a:r>
            <a:r>
              <a:rPr b="1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Distance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radio fades fast indoors</a:t>
            </a:r>
            <a:endParaRPr b="0" i="0" sz="1450" u="none" cap="none" strike="noStrike"/>
          </a:p>
        </p:txBody>
      </p:sp>
      <p:sp>
        <p:nvSpPr>
          <p:cNvPr id="250" name="Google Shape;250;p16"/>
          <p:cNvSpPr txBox="1"/>
          <p:nvPr/>
        </p:nvSpPr>
        <p:spPr>
          <a:xfrm>
            <a:off x="762000" y="62992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Background: Stallings, Wireless Communications &amp; Networks (2009), Wi-Fi chapter</a:t>
            </a:r>
            <a:endParaRPr b="0" i="0" sz="1150" u="none" cap="none" strike="noStrike"/>
          </a:p>
        </p:txBody>
      </p:sp>
      <p:sp>
        <p:nvSpPr>
          <p:cNvPr id="251" name="Google Shape;251;p16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CONNECTIVITY — THE DECISION</a:t>
            </a:r>
            <a:endParaRPr b="0" i="0" sz="1300" u="none" cap="none" strike="noStrike"/>
          </a:p>
        </p:txBody>
      </p:sp>
      <p:sp>
        <p:nvSpPr>
          <p:cNvPr id="257" name="Google Shape;257;p17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IF IT DOESN'T MOVE, WIRE IT</a:t>
            </a:r>
            <a:endParaRPr b="0" i="0" sz="3800" u="none" cap="none" strike="noStrike"/>
          </a:p>
        </p:txBody>
      </p:sp>
      <p:sp>
        <p:nvSpPr>
          <p:cNvPr id="258" name="Google Shape;258;p17"/>
          <p:cNvSpPr txBox="1"/>
          <p:nvPr/>
        </p:nvSpPr>
        <p:spPr>
          <a:xfrm>
            <a:off x="762000" y="17018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4200" u="none" cap="none" strike="noStrike"/>
          </a:p>
        </p:txBody>
      </p:sp>
      <p:sp>
        <p:nvSpPr>
          <p:cNvPr id="259" name="Google Shape;259;p17"/>
          <p:cNvSpPr txBox="1"/>
          <p:nvPr/>
        </p:nvSpPr>
        <p:spPr>
          <a:xfrm>
            <a:off x="1905000" y="1701800"/>
            <a:ext cx="5842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COPPER — the default</a:t>
            </a:r>
            <a:endParaRPr b="0" i="0" sz="16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Cheap, easy, everywhere. Desks, printers, wall jacks.</a:t>
            </a:r>
            <a:endParaRPr b="0" i="0" sz="1600" u="none" cap="none" strike="noStrike"/>
          </a:p>
        </p:txBody>
      </p:sp>
      <p:sp>
        <p:nvSpPr>
          <p:cNvPr id="260" name="Google Shape;260;p17"/>
          <p:cNvSpPr txBox="1"/>
          <p:nvPr/>
        </p:nvSpPr>
        <p:spPr>
          <a:xfrm>
            <a:off x="8128000" y="18796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≤ 100 m · RJ45 · Cat5e/6</a:t>
            </a:r>
            <a:endParaRPr b="0" i="0" sz="1300" u="none" cap="none" strike="noStrike"/>
          </a:p>
        </p:txBody>
      </p:sp>
      <p:sp>
        <p:nvSpPr>
          <p:cNvPr id="261" name="Google Shape;261;p17"/>
          <p:cNvSpPr/>
          <p:nvPr/>
        </p:nvSpPr>
        <p:spPr>
          <a:xfrm>
            <a:off x="762000" y="2667000"/>
            <a:ext cx="10668000" cy="127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762000" y="2895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4200" u="none" cap="none" strike="noStrike"/>
          </a:p>
        </p:txBody>
      </p:sp>
      <p:sp>
        <p:nvSpPr>
          <p:cNvPr id="263" name="Google Shape;263;p17"/>
          <p:cNvSpPr txBox="1"/>
          <p:nvPr/>
        </p:nvSpPr>
        <p:spPr>
          <a:xfrm>
            <a:off x="1905000" y="2895600"/>
            <a:ext cx="5842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FIBER — the distance king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Fastest and farthest. Between buildings, server uplinks, ISP links.</a:t>
            </a:r>
            <a:endParaRPr b="0" i="0" sz="1600" u="none" cap="none" strike="noStrike"/>
          </a:p>
        </p:txBody>
      </p:sp>
      <p:sp>
        <p:nvSpPr>
          <p:cNvPr id="264" name="Google Shape;264;p17"/>
          <p:cNvSpPr txBox="1"/>
          <p:nvPr/>
        </p:nvSpPr>
        <p:spPr>
          <a:xfrm>
            <a:off x="8128000" y="30734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100s of m – km · immune to noise</a:t>
            </a:r>
            <a:endParaRPr b="0" i="0" sz="1300" u="none" cap="none" strike="noStrike"/>
          </a:p>
        </p:txBody>
      </p:sp>
      <p:sp>
        <p:nvSpPr>
          <p:cNvPr id="265" name="Google Shape;265;p17"/>
          <p:cNvSpPr/>
          <p:nvPr/>
        </p:nvSpPr>
        <p:spPr>
          <a:xfrm>
            <a:off x="762000" y="3860800"/>
            <a:ext cx="10668000" cy="127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762000" y="40894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4200" u="none" cap="none" strike="noStrike"/>
          </a:p>
        </p:txBody>
      </p:sp>
      <p:sp>
        <p:nvSpPr>
          <p:cNvPr id="267" name="Google Shape;267;p17"/>
          <p:cNvSpPr txBox="1"/>
          <p:nvPr/>
        </p:nvSpPr>
        <p:spPr>
          <a:xfrm>
            <a:off x="1905000" y="4089400"/>
            <a:ext cx="5842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WIRELESS — the freedom option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For anything that moves: phones, laptops, guests, IoT gadgets.</a:t>
            </a:r>
            <a:endParaRPr b="0" i="0" sz="1600" u="none" cap="none" strike="noStrike"/>
          </a:p>
        </p:txBody>
      </p:sp>
      <p:sp>
        <p:nvSpPr>
          <p:cNvPr id="268" name="Google Shape;268;p17"/>
          <p:cNvSpPr txBox="1"/>
          <p:nvPr/>
        </p:nvSpPr>
        <p:spPr>
          <a:xfrm>
            <a:off x="8128000" y="42672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last 10–30 m · shared air</a:t>
            </a:r>
            <a:endParaRPr b="0" i="0" sz="1300" u="none" cap="none" strike="noStrike"/>
          </a:p>
        </p:txBody>
      </p:sp>
      <p:sp>
        <p:nvSpPr>
          <p:cNvPr id="269" name="Google Shape;269;p17"/>
          <p:cNvSpPr/>
          <p:nvPr/>
        </p:nvSpPr>
        <p:spPr>
          <a:xfrm>
            <a:off x="762000" y="5054600"/>
            <a:ext cx="10668000" cy="127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762000" y="5435600"/>
            <a:ext cx="10668000" cy="6604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1066800" y="55118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RULE OF THUMB</a:t>
            </a: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Desktops and servers → cable. Buildings and backbones → fiber. People and phones → Wi-Fi.</a:t>
            </a:r>
            <a:endParaRPr b="0" i="0" sz="1600" u="none" cap="none" strike="noStrike"/>
          </a:p>
        </p:txBody>
      </p:sp>
      <p:sp>
        <p:nvSpPr>
          <p:cNvPr id="272" name="Google Shape;272;p17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Standards: IEEE 802.3 (Ethernet) · IEEE 802.11 (Wi-Fi)</a:t>
            </a:r>
            <a:endParaRPr b="0" i="0" sz="1150" u="none" cap="none" strike="noStrike"/>
          </a:p>
        </p:txBody>
      </p:sp>
      <p:sp>
        <p:nvSpPr>
          <p:cNvPr id="273" name="Google Shape;273;p17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0160000" y="838200"/>
            <a:ext cx="1397000" cy="13970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9271000" y="1905000"/>
            <a:ext cx="1651000" cy="1168400"/>
          </a:xfrm>
          <a:prstGeom prst="triangle">
            <a:avLst>
              <a:gd fmla="val 50000" name="adj"/>
            </a:avLst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762000" y="711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04</a:t>
            </a:r>
            <a:endParaRPr b="0" i="0" sz="1300" u="none" cap="none" strike="noStrike"/>
          </a:p>
        </p:txBody>
      </p:sp>
      <p:sp>
        <p:nvSpPr>
          <p:cNvPr id="281" name="Google Shape;281;p18"/>
          <p:cNvSpPr txBox="1"/>
          <p:nvPr/>
        </p:nvSpPr>
        <p:spPr>
          <a:xfrm>
            <a:off x="558800" y="10668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1000" u="none" cap="none" strike="noStrike"/>
          </a:p>
        </p:txBody>
      </p:sp>
      <p:sp>
        <p:nvSpPr>
          <p:cNvPr id="282" name="Google Shape;282;p18"/>
          <p:cNvSpPr txBox="1"/>
          <p:nvPr/>
        </p:nvSpPr>
        <p:spPr>
          <a:xfrm>
            <a:off x="762000" y="4521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OPERATING SYSTEMS</a:t>
            </a:r>
            <a:endParaRPr b="0" i="0" sz="4200" u="none" cap="none" strike="noStrike"/>
          </a:p>
        </p:txBody>
      </p:sp>
      <p:sp>
        <p:nvSpPr>
          <p:cNvPr id="283" name="Google Shape;283;p18"/>
          <p:cNvSpPr txBox="1"/>
          <p:nvPr/>
        </p:nvSpPr>
        <p:spPr>
          <a:xfrm>
            <a:off x="762000" y="5334000"/>
            <a:ext cx="939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Linux runs the servers, Windows runs the desks — you will run both.</a:t>
            </a:r>
            <a:endParaRPr b="0" i="0" sz="1700" u="none" cap="none" strike="noStrike"/>
          </a:p>
        </p:txBody>
      </p:sp>
      <p:sp>
        <p:nvSpPr>
          <p:cNvPr id="284" name="Google Shape;284;p18"/>
          <p:cNvSpPr txBox="1"/>
          <p:nvPr/>
        </p:nvSpPr>
        <p:spPr>
          <a:xfrm>
            <a:off x="762000" y="59182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IN THIS UNIT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 what an OS actually does   ·   users &amp; permissions   ·   command line basics</a:t>
            </a:r>
            <a:endParaRPr b="0" i="0" sz="1300" u="none" cap="none" strike="noStrike"/>
          </a:p>
        </p:txBody>
      </p:sp>
      <p:sp>
        <p:nvSpPr>
          <p:cNvPr id="285" name="Google Shape;285;p18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04 · OPERATING SYSTEMS</a:t>
            </a:r>
            <a:endParaRPr b="0" i="0" sz="1300" u="none" cap="none" strike="noStrike"/>
          </a:p>
        </p:txBody>
      </p:sp>
      <p:sp>
        <p:nvSpPr>
          <p:cNvPr id="291" name="Google Shape;291;p19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OS IS THE BUILDING MANAGER</a:t>
            </a:r>
            <a:endParaRPr b="0" i="0" sz="3800" u="none" cap="none" strike="noStrike"/>
          </a:p>
        </p:txBody>
      </p:sp>
      <p:sp>
        <p:nvSpPr>
          <p:cNvPr id="292" name="Google Shape;292;p19"/>
          <p:cNvSpPr txBox="1"/>
          <p:nvPr/>
        </p:nvSpPr>
        <p:spPr>
          <a:xfrm>
            <a:off x="762000" y="17018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Hardware is the building; apps are the tenants.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operating system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decides who gets what, and keeps the peace.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Files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where data lives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Users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who is allowed to do what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Memory &amp; CPU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which program gets attention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Network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how data leaves the machine</a:t>
            </a:r>
            <a:endParaRPr b="0" i="0" sz="1500" u="none" cap="none" strike="noStrike"/>
          </a:p>
        </p:txBody>
      </p:sp>
      <p:sp>
        <p:nvSpPr>
          <p:cNvPr id="293" name="Google Shape;293;p19"/>
          <p:cNvSpPr/>
          <p:nvPr/>
        </p:nvSpPr>
        <p:spPr>
          <a:xfrm>
            <a:off x="6324600" y="1701800"/>
            <a:ext cx="25400" cy="4191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6858000" y="1701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LINUX</a:t>
            </a:r>
            <a:endParaRPr b="0" i="0" sz="1800" u="none" cap="none" strike="noStrike"/>
          </a:p>
        </p:txBody>
      </p:sp>
      <p:sp>
        <p:nvSpPr>
          <p:cNvPr id="295" name="Google Shape;295;p19"/>
          <p:cNvSpPr txBox="1"/>
          <p:nvPr/>
        </p:nvSpPr>
        <p:spPr>
          <a:xfrm>
            <a:off x="6858000" y="2108200"/>
            <a:ext cx="4572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Free &amp; open source · runs most of the internet's servers and all of the cloud's favorites · you will type commands in a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terminal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· everything is a file.</a:t>
            </a:r>
            <a:endParaRPr b="0" i="0" sz="1400" u="none" cap="none" strike="noStrike"/>
          </a:p>
        </p:txBody>
      </p:sp>
      <p:sp>
        <p:nvSpPr>
          <p:cNvPr id="296" name="Google Shape;296;p19"/>
          <p:cNvSpPr txBox="1"/>
          <p:nvPr/>
        </p:nvSpPr>
        <p:spPr>
          <a:xfrm>
            <a:off x="6858000" y="40132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WINDOWS</a:t>
            </a:r>
            <a:endParaRPr b="0" i="0" sz="1800" u="none" cap="none" strike="noStrike"/>
          </a:p>
        </p:txBody>
      </p:sp>
      <p:sp>
        <p:nvSpPr>
          <p:cNvPr id="297" name="Google Shape;297;p19"/>
          <p:cNvSpPr txBox="1"/>
          <p:nvPr/>
        </p:nvSpPr>
        <p:spPr>
          <a:xfrm>
            <a:off x="6858000" y="4419600"/>
            <a:ext cx="45720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Runs most office desktops · graphical first,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PowerShell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when you mean business ·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Active Directory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manages users across a whole company.</a:t>
            </a:r>
            <a:endParaRPr b="0" i="0" sz="1400" u="none" cap="none" strike="noStrike"/>
          </a:p>
        </p:txBody>
      </p:sp>
      <p:sp>
        <p:nvSpPr>
          <p:cNvPr id="298" name="Google Shape;298;p19"/>
          <p:cNvSpPr/>
          <p:nvPr/>
        </p:nvSpPr>
        <p:spPr>
          <a:xfrm>
            <a:off x="762000" y="61722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762000" y="6299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Same jobs, two accents — a good admin is bilingual.</a:t>
            </a:r>
            <a:r>
              <a:rPr b="0" i="0" lang="en-US" sz="135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 Source: Tanenbaum &amp; Bos, Modern Operating Systems (2015)</a:t>
            </a:r>
            <a:endParaRPr b="0" i="0" sz="1350" u="none" cap="none" strike="noStrike"/>
          </a:p>
        </p:txBody>
      </p:sp>
      <p:sp>
        <p:nvSpPr>
          <p:cNvPr id="300" name="Google Shape;300;p19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04 · OPERATING SYSTEMS</a:t>
            </a:r>
            <a:endParaRPr b="0" i="0" sz="1300" u="none" cap="none" strike="noStrike"/>
          </a:p>
        </p:txBody>
      </p:sp>
      <p:sp>
        <p:nvSpPr>
          <p:cNvPr id="306" name="Google Shape;306;p20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THREE JOBS EVERY ADMIN DOES DAILY</a:t>
            </a:r>
            <a:endParaRPr b="0" i="0" sz="3800" u="none" cap="none" strike="noStrike"/>
          </a:p>
        </p:txBody>
      </p:sp>
      <p:sp>
        <p:nvSpPr>
          <p:cNvPr id="307" name="Google Shape;307;p20"/>
          <p:cNvSpPr txBox="1"/>
          <p:nvPr/>
        </p:nvSpPr>
        <p:spPr>
          <a:xfrm>
            <a:off x="762000" y="16764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4000" u="none" cap="none" strike="noStrike"/>
          </a:p>
        </p:txBody>
      </p:sp>
      <p:sp>
        <p:nvSpPr>
          <p:cNvPr id="308" name="Google Shape;308;p20"/>
          <p:cNvSpPr txBox="1"/>
          <p:nvPr/>
        </p:nvSpPr>
        <p:spPr>
          <a:xfrm>
            <a:off x="1879600" y="1676400"/>
            <a:ext cx="95504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Manage users — give least privilege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Every account gets </a:t>
            </a:r>
            <a:r>
              <a:rPr b="0" i="1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only</a:t>
            </a:r>
            <a:r>
              <a:rPr b="0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 the access its job needs. Linux: permissions &amp; sudo · Windows: user groups &amp; Active Directory.</a:t>
            </a:r>
            <a:endParaRPr b="0" i="0" sz="1600" u="none" cap="none" strike="noStrike"/>
          </a:p>
        </p:txBody>
      </p:sp>
      <p:sp>
        <p:nvSpPr>
          <p:cNvPr id="309" name="Google Shape;309;p20"/>
          <p:cNvSpPr/>
          <p:nvPr/>
        </p:nvSpPr>
        <p:spPr>
          <a:xfrm>
            <a:off x="762000" y="2616200"/>
            <a:ext cx="10668000" cy="127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762000" y="28194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4000" u="none" cap="none" strike="noStrike"/>
          </a:p>
        </p:txBody>
      </p:sp>
      <p:sp>
        <p:nvSpPr>
          <p:cNvPr id="311" name="Google Shape;311;p20"/>
          <p:cNvSpPr txBox="1"/>
          <p:nvPr/>
        </p:nvSpPr>
        <p:spPr>
          <a:xfrm>
            <a:off x="1879600" y="2819400"/>
            <a:ext cx="95504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Find your way — from the command line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Clicking is fine once; typing is repeatable. Linux terminal: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pwd · ls · cd</a:t>
            </a:r>
            <a:r>
              <a:rPr b="0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 · Windows PowerShell: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dir · ipconfig</a:t>
            </a:r>
            <a:r>
              <a:rPr b="0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600" u="none" cap="none" strike="noStrike"/>
          </a:p>
        </p:txBody>
      </p:sp>
      <p:sp>
        <p:nvSpPr>
          <p:cNvPr id="312" name="Google Shape;312;p20"/>
          <p:cNvSpPr/>
          <p:nvPr/>
        </p:nvSpPr>
        <p:spPr>
          <a:xfrm>
            <a:off x="762000" y="3759200"/>
            <a:ext cx="10668000" cy="127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762000" y="39624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4000" u="none" cap="none" strike="noStrike"/>
          </a:p>
        </p:txBody>
      </p:sp>
      <p:sp>
        <p:nvSpPr>
          <p:cNvPr id="314" name="Google Shape;314;p20"/>
          <p:cNvSpPr txBox="1"/>
          <p:nvPr/>
        </p:nvSpPr>
        <p:spPr>
          <a:xfrm>
            <a:off x="1879600" y="3962400"/>
            <a:ext cx="95504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Keep it patched — updates are armor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Most real-world hacks exploit bugs that already have a fix. An updated system is a boring target.</a:t>
            </a:r>
            <a:endParaRPr b="0" i="0" sz="1600" u="none" cap="none" strike="noStrike"/>
          </a:p>
        </p:txBody>
      </p:sp>
      <p:sp>
        <p:nvSpPr>
          <p:cNvPr id="315" name="Google Shape;315;p20"/>
          <p:cNvSpPr/>
          <p:nvPr/>
        </p:nvSpPr>
        <p:spPr>
          <a:xfrm>
            <a:off x="762000" y="5080000"/>
            <a:ext cx="10668000" cy="838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1066800" y="52070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YOUR FIRST ADMIN COMMAND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$ ping 192.168.1.1  →  "reply from…" means the road to your router is alive. No reply? Start checking cables and Wi-Fi.</a:t>
            </a:r>
            <a:endParaRPr b="0" i="0" sz="1600" u="none" cap="none" strike="noStrike"/>
          </a:p>
        </p:txBody>
      </p:sp>
      <p:sp>
        <p:nvSpPr>
          <p:cNvPr id="317" name="Google Shape;317;p20"/>
          <p:cNvSpPr txBox="1"/>
          <p:nvPr/>
        </p:nvSpPr>
        <p:spPr>
          <a:xfrm>
            <a:off x="762000" y="629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Practice scenario — try it in the lab VM. Background: Silberschatz et al., Operating System Concepts (2006)</a:t>
            </a:r>
            <a:endParaRPr b="0" i="0" sz="1150" u="none" cap="none" strike="noStrike"/>
          </a:p>
        </p:txBody>
      </p:sp>
      <p:sp>
        <p:nvSpPr>
          <p:cNvPr id="318" name="Google Shape;318;p20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/>
          <p:nvPr/>
        </p:nvSpPr>
        <p:spPr>
          <a:xfrm>
            <a:off x="10160000" y="812800"/>
            <a:ext cx="1397000" cy="12192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9423400" y="1905000"/>
            <a:ext cx="1219200" cy="8382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10693400" y="1905000"/>
            <a:ext cx="990600" cy="8382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762000" y="711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05</a:t>
            </a:r>
            <a:endParaRPr b="0" i="0" sz="1300" u="none" cap="none" strike="noStrike"/>
          </a:p>
        </p:txBody>
      </p:sp>
      <p:sp>
        <p:nvSpPr>
          <p:cNvPr id="327" name="Google Shape;327;p21"/>
          <p:cNvSpPr txBox="1"/>
          <p:nvPr/>
        </p:nvSpPr>
        <p:spPr>
          <a:xfrm>
            <a:off x="558800" y="10668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21000" u="none" cap="none" strike="noStrike"/>
          </a:p>
        </p:txBody>
      </p:sp>
      <p:sp>
        <p:nvSpPr>
          <p:cNvPr id="328" name="Google Shape;328;p21"/>
          <p:cNvSpPr txBox="1"/>
          <p:nvPr/>
        </p:nvSpPr>
        <p:spPr>
          <a:xfrm>
            <a:off x="762000" y="4521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SECURITY FOUNDATIONS</a:t>
            </a:r>
            <a:endParaRPr b="0" i="0" sz="4200" u="none" cap="none" strike="noStrike"/>
          </a:p>
        </p:txBody>
      </p:sp>
      <p:sp>
        <p:nvSpPr>
          <p:cNvPr id="329" name="Google Shape;329;p21"/>
          <p:cNvSpPr txBox="1"/>
          <p:nvPr/>
        </p:nvSpPr>
        <p:spPr>
          <a:xfrm>
            <a:off x="762000" y="5334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easiest attacks target people, not machines.</a:t>
            </a:r>
            <a:endParaRPr b="0" i="0" sz="1700" u="none" cap="none" strike="noStrike"/>
          </a:p>
        </p:txBody>
      </p:sp>
      <p:sp>
        <p:nvSpPr>
          <p:cNvPr id="330" name="Google Shape;330;p21"/>
          <p:cNvSpPr txBox="1"/>
          <p:nvPr/>
        </p:nvSpPr>
        <p:spPr>
          <a:xfrm>
            <a:off x="762000" y="59182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IN THIS UNIT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 passphrases that work   ·   multi-factor authentication   ·   spotting phishing</a:t>
            </a:r>
            <a:endParaRPr b="0" i="0" sz="1300" u="none" cap="none" strike="noStrike"/>
          </a:p>
        </p:txBody>
      </p:sp>
      <p:sp>
        <p:nvSpPr>
          <p:cNvPr id="331" name="Google Shape;331;p21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05 · SECURITY FOUNDATIONS</a:t>
            </a:r>
            <a:endParaRPr b="0" i="0" sz="1300" u="none" cap="none" strike="noStrike"/>
          </a:p>
        </p:txBody>
      </p:sp>
      <p:sp>
        <p:nvSpPr>
          <p:cNvPr id="337" name="Google Shape;337;p22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LENGTH BEATS COMPLEXITY</a:t>
            </a:r>
            <a:endParaRPr b="0" i="0" sz="3800" u="none" cap="none" strike="noStrike"/>
          </a:p>
        </p:txBody>
      </p:sp>
      <p:sp>
        <p:nvSpPr>
          <p:cNvPr id="338" name="Google Shape;338;p22"/>
          <p:cNvSpPr txBox="1"/>
          <p:nvPr/>
        </p:nvSpPr>
        <p:spPr>
          <a:xfrm>
            <a:off x="762000" y="17526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Tr0ub4dor&amp;3</a:t>
            </a:r>
            <a:endParaRPr b="0" i="0" sz="2000" u="none" cap="none" strike="noStrike"/>
          </a:p>
        </p:txBody>
      </p:sp>
      <p:sp>
        <p:nvSpPr>
          <p:cNvPr id="339" name="Google Shape;339;p22"/>
          <p:cNvSpPr/>
          <p:nvPr/>
        </p:nvSpPr>
        <p:spPr>
          <a:xfrm>
            <a:off x="762000" y="2209800"/>
            <a:ext cx="2286000" cy="1778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762000" y="2489200"/>
            <a:ext cx="5461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11 characters, hard for </a:t>
            </a:r>
            <a:r>
              <a:rPr b="0" i="1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you</a:t>
            </a: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to remember — but short, so a computer chews through it fast.</a:t>
            </a:r>
            <a:endParaRPr b="0" i="0" sz="1300" u="none" cap="none" strike="noStrike"/>
          </a:p>
        </p:txBody>
      </p:sp>
      <p:sp>
        <p:nvSpPr>
          <p:cNvPr id="341" name="Google Shape;341;p22"/>
          <p:cNvSpPr txBox="1"/>
          <p:nvPr/>
        </p:nvSpPr>
        <p:spPr>
          <a:xfrm>
            <a:off x="762000" y="32004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coffee-river-paper-moon</a:t>
            </a:r>
            <a:endParaRPr b="0" i="0" sz="2000" u="none" cap="none" strike="noStrike"/>
          </a:p>
        </p:txBody>
      </p:sp>
      <p:sp>
        <p:nvSpPr>
          <p:cNvPr id="342" name="Google Shape;342;p22"/>
          <p:cNvSpPr/>
          <p:nvPr/>
        </p:nvSpPr>
        <p:spPr>
          <a:xfrm>
            <a:off x="762000" y="3657600"/>
            <a:ext cx="5855970" cy="1778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62000" y="3937000"/>
            <a:ext cx="5461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23 characters of plain words — easy to remember, brutally hard to guess. Bars show relative guessing effort (illustrative).</a:t>
            </a:r>
            <a:endParaRPr b="0" i="0" sz="1300" u="none" cap="none" strike="noStrike"/>
          </a:p>
        </p:txBody>
      </p:sp>
      <p:sp>
        <p:nvSpPr>
          <p:cNvPr id="344" name="Google Shape;344;p22"/>
          <p:cNvSpPr/>
          <p:nvPr/>
        </p:nvSpPr>
        <p:spPr>
          <a:xfrm>
            <a:off x="7112000" y="1651000"/>
            <a:ext cx="12700" cy="2921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7620000" y="1752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THE MODERN RULEBOOK (NIST)</a:t>
            </a:r>
            <a:endParaRPr b="0" i="0" sz="1300" u="none" cap="none" strike="noStrike"/>
          </a:p>
        </p:txBody>
      </p:sp>
      <p:sp>
        <p:nvSpPr>
          <p:cNvPr id="346" name="Google Shape;346;p22"/>
          <p:cNvSpPr txBox="1"/>
          <p:nvPr/>
        </p:nvSpPr>
        <p:spPr>
          <a:xfrm>
            <a:off x="7620000" y="2133600"/>
            <a:ext cx="3810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Go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long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passphrases beat P@ssw0rd!</a:t>
            </a:r>
            <a:endParaRPr b="0" i="0" sz="135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Unique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per account — reuse is how one leak becomes ten</a:t>
            </a:r>
            <a:endParaRPr b="0" i="0" sz="135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Let a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password manager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remember for you</a:t>
            </a:r>
            <a:endParaRPr b="0" i="0" sz="135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No forced monthly changes — they make people weaker, not safer</a:t>
            </a:r>
            <a:endParaRPr b="0" i="0" sz="1350" u="none" cap="none" strike="noStrike"/>
          </a:p>
        </p:txBody>
      </p:sp>
      <p:sp>
        <p:nvSpPr>
          <p:cNvPr id="347" name="Google Shape;347;p22"/>
          <p:cNvSpPr/>
          <p:nvPr/>
        </p:nvSpPr>
        <p:spPr>
          <a:xfrm>
            <a:off x="762000" y="50800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762000" y="5308600"/>
            <a:ext cx="10668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MEMORY TRICK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Pick 3–4 random words — a song line, three unrelated nouns — and string them together. Your brain keeps the story; the length does the protecting.</a:t>
            </a:r>
            <a:endParaRPr b="0" i="0" sz="1500" u="none" cap="none" strike="noStrike"/>
          </a:p>
        </p:txBody>
      </p:sp>
      <p:sp>
        <p:nvSpPr>
          <p:cNvPr id="349" name="Google Shape;349;p22"/>
          <p:cNvSpPr txBox="1"/>
          <p:nvPr/>
        </p:nvSpPr>
        <p:spPr>
          <a:xfrm>
            <a:off x="762000" y="62992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Sources: NIST SP 800-63B Digital Identity Guidelines; Bonneau &amp; Shutova (2012) on passphrases</a:t>
            </a:r>
            <a:endParaRPr b="0" i="0" sz="1150" u="none" cap="none" strike="noStrike"/>
          </a:p>
        </p:txBody>
      </p:sp>
      <p:sp>
        <p:nvSpPr>
          <p:cNvPr id="350" name="Google Shape;350;p22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05 · SECURITY FOUNDATIONS</a:t>
            </a:r>
            <a:endParaRPr b="0" i="0" sz="1300" u="none" cap="none" strike="noStrike"/>
          </a:p>
        </p:txBody>
      </p:sp>
      <p:sp>
        <p:nvSpPr>
          <p:cNvPr id="356" name="Google Shape;356;p23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ONE LOCK IS NOT ENOUGH</a:t>
            </a:r>
            <a:endParaRPr b="0" i="0" sz="3800" u="none" cap="none" strike="noStrike"/>
          </a:p>
        </p:txBody>
      </p:sp>
      <p:sp>
        <p:nvSpPr>
          <p:cNvPr id="357" name="Google Shape;357;p23"/>
          <p:cNvSpPr txBox="1"/>
          <p:nvPr/>
        </p:nvSpPr>
        <p:spPr>
          <a:xfrm>
            <a:off x="762000" y="1778000"/>
            <a:ext cx="3175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KNOW</a:t>
            </a:r>
            <a:endParaRPr b="0" i="0" sz="16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something you know — password, PIN, passphrase</a:t>
            </a:r>
            <a:endParaRPr b="0" i="0" sz="1600" u="none" cap="none" strike="noStrike"/>
          </a:p>
        </p:txBody>
      </p:sp>
      <p:sp>
        <p:nvSpPr>
          <p:cNvPr id="358" name="Google Shape;358;p23"/>
          <p:cNvSpPr txBox="1"/>
          <p:nvPr/>
        </p:nvSpPr>
        <p:spPr>
          <a:xfrm>
            <a:off x="4038600" y="1930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+</a:t>
            </a:r>
            <a:endParaRPr b="0" i="0" sz="2800" u="none" cap="none" strike="noStrike"/>
          </a:p>
        </p:txBody>
      </p:sp>
      <p:sp>
        <p:nvSpPr>
          <p:cNvPr id="359" name="Google Shape;359;p23"/>
          <p:cNvSpPr txBox="1"/>
          <p:nvPr/>
        </p:nvSpPr>
        <p:spPr>
          <a:xfrm>
            <a:off x="4648200" y="1778000"/>
            <a:ext cx="3175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HAVE</a:t>
            </a:r>
            <a:endParaRPr b="0" i="0" sz="16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something you have — phone, app code, security key</a:t>
            </a:r>
            <a:endParaRPr b="0" i="0" sz="1600" u="none" cap="none" strike="noStrike"/>
          </a:p>
        </p:txBody>
      </p:sp>
      <p:sp>
        <p:nvSpPr>
          <p:cNvPr id="360" name="Google Shape;360;p23"/>
          <p:cNvSpPr txBox="1"/>
          <p:nvPr/>
        </p:nvSpPr>
        <p:spPr>
          <a:xfrm>
            <a:off x="7924800" y="1930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+</a:t>
            </a:r>
            <a:endParaRPr b="0" i="0" sz="2800" u="none" cap="none" strike="noStrike"/>
          </a:p>
        </p:txBody>
      </p:sp>
      <p:sp>
        <p:nvSpPr>
          <p:cNvPr id="361" name="Google Shape;361;p23"/>
          <p:cNvSpPr txBox="1"/>
          <p:nvPr/>
        </p:nvSpPr>
        <p:spPr>
          <a:xfrm>
            <a:off x="8534400" y="1778000"/>
            <a:ext cx="28956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ARE</a:t>
            </a:r>
            <a:endParaRPr b="0" i="0" sz="16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something you are — fingerprint, face</a:t>
            </a:r>
            <a:endParaRPr b="0" i="0" sz="1600" u="none" cap="none" strike="noStrike"/>
          </a:p>
        </p:txBody>
      </p:sp>
      <p:sp>
        <p:nvSpPr>
          <p:cNvPr id="362" name="Google Shape;362;p23"/>
          <p:cNvSpPr txBox="1"/>
          <p:nvPr/>
        </p:nvSpPr>
        <p:spPr>
          <a:xfrm>
            <a:off x="762000" y="3175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Any </a:t>
            </a: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two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of the three = multi-factor authentication. A leaked password alone gets an attacker nowhere.</a:t>
            </a:r>
            <a:endParaRPr b="0" i="0" sz="1500" u="none" cap="none" strike="noStrike"/>
          </a:p>
        </p:txBody>
      </p:sp>
      <p:sp>
        <p:nvSpPr>
          <p:cNvPr id="363" name="Google Shape;363;p23"/>
          <p:cNvSpPr/>
          <p:nvPr/>
        </p:nvSpPr>
        <p:spPr>
          <a:xfrm>
            <a:off x="762000" y="39878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762000" y="4216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SPOT THE PHISH — FIVE RED FLAGS</a:t>
            </a:r>
            <a:endParaRPr b="0" i="0" sz="1400" u="none" cap="none" strike="noStrike"/>
          </a:p>
        </p:txBody>
      </p:sp>
      <p:sp>
        <p:nvSpPr>
          <p:cNvPr id="365" name="Google Shape;365;p23"/>
          <p:cNvSpPr txBox="1"/>
          <p:nvPr/>
        </p:nvSpPr>
        <p:spPr>
          <a:xfrm>
            <a:off x="762000" y="45974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1. Urgency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"your account closes in 24 hours!"   </a:t>
            </a: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2. Almost-right sender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micr0soft.com, paypa1.com</a:t>
            </a:r>
            <a:endParaRPr b="0" i="0" sz="14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3. Weird links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hover first; the real address shows at the bottom   </a:t>
            </a: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4. Surprise attachments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"invoice_2084.pdf.exe"</a:t>
            </a:r>
            <a:endParaRPr b="0" i="0" sz="14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5. Asks for secrets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real IT </a:t>
            </a:r>
            <a:r>
              <a:rPr b="0" i="1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never</a:t>
            </a:r>
            <a:r>
              <a:rPr b="0" i="0" lang="en-US" sz="14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asks for your password or MFA code</a:t>
            </a:r>
            <a:endParaRPr b="0" i="0" sz="1450" u="none" cap="none" strike="noStrike"/>
          </a:p>
        </p:txBody>
      </p:sp>
      <p:sp>
        <p:nvSpPr>
          <p:cNvPr id="366" name="Google Shape;366;p23"/>
          <p:cNvSpPr txBox="1"/>
          <p:nvPr/>
        </p:nvSpPr>
        <p:spPr>
          <a:xfrm>
            <a:off x="762000" y="62992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Sources: Ometov et al. (2018) — MFA survey; Salahdine &amp; Kaabouch (2019) — social engineering survey</a:t>
            </a:r>
            <a:endParaRPr b="0" i="0" sz="1150" u="none" cap="none" strike="noStrike"/>
          </a:p>
        </p:txBody>
      </p:sp>
      <p:sp>
        <p:nvSpPr>
          <p:cNvPr id="367" name="Google Shape;367;p23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4"/>
          <p:cNvSpPr txBox="1"/>
          <p:nvPr/>
        </p:nvSpPr>
        <p:spPr>
          <a:xfrm>
            <a:off x="7620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05 · TRANSFER TO THE JOB</a:t>
            </a:r>
            <a:endParaRPr b="0" i="0" sz="1300" u="none" cap="none" strike="noStrike"/>
          </a:p>
        </p:txBody>
      </p:sp>
      <p:sp>
        <p:nvSpPr>
          <p:cNvPr id="373" name="Google Shape;373;p24"/>
          <p:cNvSpPr txBox="1"/>
          <p:nvPr/>
        </p:nvSpPr>
        <p:spPr>
          <a:xfrm>
            <a:off x="762000" y="889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FIRST-WEEK CHECKLIST</a:t>
            </a:r>
            <a:endParaRPr b="0" i="0" sz="3800" u="none" cap="none" strike="noStrike"/>
          </a:p>
        </p:txBody>
      </p:sp>
      <p:sp>
        <p:nvSpPr>
          <p:cNvPr id="374" name="Google Shape;374;p24"/>
          <p:cNvSpPr/>
          <p:nvPr/>
        </p:nvSpPr>
        <p:spPr>
          <a:xfrm>
            <a:off x="787400" y="1828800"/>
            <a:ext cx="254000" cy="2540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1244600" y="17780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Turn on automatic updates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on every machine you touch, including your phone.</a:t>
            </a:r>
            <a:endParaRPr b="0" i="0" sz="1600" u="none" cap="none" strike="noStrike"/>
          </a:p>
        </p:txBody>
      </p:sp>
      <p:sp>
        <p:nvSpPr>
          <p:cNvPr id="376" name="Google Shape;376;p24"/>
          <p:cNvSpPr/>
          <p:nvPr/>
        </p:nvSpPr>
        <p:spPr>
          <a:xfrm>
            <a:off x="787400" y="2413000"/>
            <a:ext cx="254000" cy="2540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1244600" y="23622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Lock every screen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walk away = lock it. Win+L or Ctrl+Cmd+Q until it's a reflex.</a:t>
            </a:r>
            <a:endParaRPr b="0" i="0" sz="1600" u="none" cap="none" strike="noStrike"/>
          </a:p>
        </p:txBody>
      </p:sp>
      <p:sp>
        <p:nvSpPr>
          <p:cNvPr id="378" name="Google Shape;378;p24"/>
          <p:cNvSpPr/>
          <p:nvPr/>
        </p:nvSpPr>
        <p:spPr>
          <a:xfrm>
            <a:off x="787400" y="2997200"/>
            <a:ext cx="254000" cy="2540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1244600" y="29464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Start a password manager + MFA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protect your email first; it resets everything else.</a:t>
            </a:r>
            <a:endParaRPr b="0" i="0" sz="1600" u="none" cap="none" strike="noStrike"/>
          </a:p>
        </p:txBody>
      </p:sp>
      <p:sp>
        <p:nvSpPr>
          <p:cNvPr id="380" name="Google Shape;380;p24"/>
          <p:cNvSpPr/>
          <p:nvPr/>
        </p:nvSpPr>
        <p:spPr>
          <a:xfrm>
            <a:off x="787400" y="3581400"/>
            <a:ext cx="254000" cy="2540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1244600" y="35306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Hover before you click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check the sender and the link, every single time.</a:t>
            </a:r>
            <a:endParaRPr b="0" i="0" sz="1600" u="none" cap="none" strike="noStrike"/>
          </a:p>
        </p:txBody>
      </p:sp>
      <p:sp>
        <p:nvSpPr>
          <p:cNvPr id="382" name="Google Shape;382;p24"/>
          <p:cNvSpPr/>
          <p:nvPr/>
        </p:nvSpPr>
        <p:spPr>
          <a:xfrm>
            <a:off x="787400" y="4165600"/>
            <a:ext cx="254000" cy="2540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1244600" y="41148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Ask "do they need this access?"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least privilege for every account you create.</a:t>
            </a:r>
            <a:endParaRPr b="0" i="0" sz="1600" u="none" cap="none" strike="noStrike"/>
          </a:p>
        </p:txBody>
      </p:sp>
      <p:sp>
        <p:nvSpPr>
          <p:cNvPr id="384" name="Google Shape;384;p24"/>
          <p:cNvSpPr/>
          <p:nvPr/>
        </p:nvSpPr>
        <p:spPr>
          <a:xfrm>
            <a:off x="787400" y="4749800"/>
            <a:ext cx="254000" cy="254000"/>
          </a:xfrm>
          <a:prstGeom prst="rect">
            <a:avLst/>
          </a:prstGeom>
          <a:noFill/>
          <a:ln cap="flat" cmpd="sng" w="254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1244600" y="46990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Back up before you change anything</a:t>
            </a:r>
            <a:r>
              <a:rPr b="0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undo button of real life.</a:t>
            </a:r>
            <a:endParaRPr b="0" i="0" sz="1600" u="none" cap="none" strike="noStrike"/>
          </a:p>
        </p:txBody>
      </p:sp>
      <p:sp>
        <p:nvSpPr>
          <p:cNvPr id="386" name="Google Shape;386;p24"/>
          <p:cNvSpPr/>
          <p:nvPr/>
        </p:nvSpPr>
        <p:spPr>
          <a:xfrm>
            <a:off x="762000" y="5410200"/>
            <a:ext cx="10668000" cy="736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1066800" y="55372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WHERE THIS LEADS (NICE FRAMEWORK)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IT support → system / network administrator → security analyst. This course is rung one.</a:t>
            </a:r>
            <a:endParaRPr b="0" i="0" sz="1600" u="none" cap="none" strike="noStrike"/>
          </a:p>
        </p:txBody>
      </p:sp>
      <p:sp>
        <p:nvSpPr>
          <p:cNvPr id="388" name="Google Shape;388;p24"/>
          <p:cNvSpPr txBox="1"/>
          <p:nvPr/>
        </p:nvSpPr>
        <p:spPr>
          <a:xfrm>
            <a:off x="7620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Newhouse et al., NICE Cybersecurity Workforce Framework (2017)</a:t>
            </a:r>
            <a:endParaRPr b="0" i="0" sz="1150" u="none" cap="none" strike="noStrike"/>
          </a:p>
        </p:txBody>
      </p:sp>
      <p:sp>
        <p:nvSpPr>
          <p:cNvPr id="389" name="Google Shape;389;p24"/>
          <p:cNvSpPr txBox="1"/>
          <p:nvPr/>
        </p:nvSpPr>
        <p:spPr>
          <a:xfrm>
            <a:off x="11303000" y="6350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/>
          <p:nvPr/>
        </p:nvSpPr>
        <p:spPr>
          <a:xfrm>
            <a:off x="10312400" y="685800"/>
            <a:ext cx="1117600" cy="812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9423400" y="1270000"/>
            <a:ext cx="1143000" cy="10160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762000" y="685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WRAP-UP</a:t>
            </a:r>
            <a:endParaRPr b="0" i="0" sz="1300" u="none" cap="none" strike="noStrike"/>
          </a:p>
        </p:txBody>
      </p:sp>
      <p:sp>
        <p:nvSpPr>
          <p:cNvPr id="397" name="Google Shape;397;p25"/>
          <p:cNvSpPr txBox="1"/>
          <p:nvPr/>
        </p:nvSpPr>
        <p:spPr>
          <a:xfrm>
            <a:off x="762000" y="1066800"/>
            <a:ext cx="10160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YOU SPEAK MACHINE NOW</a:t>
            </a:r>
            <a:endParaRPr b="0" i="0" sz="5200" u="none" cap="none" strike="noStrike"/>
          </a:p>
        </p:txBody>
      </p:sp>
      <p:sp>
        <p:nvSpPr>
          <p:cNvPr id="398" name="Google Shape;398;p25"/>
          <p:cNvSpPr txBox="1"/>
          <p:nvPr/>
        </p:nvSpPr>
        <p:spPr>
          <a:xfrm>
            <a:off x="762000" y="2286000"/>
            <a:ext cx="7112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Computers are switches — every file is a pattern of bits.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An IP is a street address; masks decide who your neighbors are.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Copper for desks, fiber for distance, Wi-Fi for freedom.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The OS is the building manager — Linux and Windows, same jobs.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Long passphrases + MFA + a skeptical eye stop most attacks.</a:t>
            </a:r>
            <a:endParaRPr b="0" i="0" sz="1500" u="none" cap="none" strike="noStrike"/>
          </a:p>
        </p:txBody>
      </p:sp>
      <p:sp>
        <p:nvSpPr>
          <p:cNvPr id="399" name="Google Shape;399;p25"/>
          <p:cNvSpPr txBox="1"/>
          <p:nvPr/>
        </p:nvSpPr>
        <p:spPr>
          <a:xfrm>
            <a:off x="8128000" y="2286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KEEP PRACTICING</a:t>
            </a:r>
            <a:endParaRPr b="0" i="0" sz="1300" u="none" cap="none" strike="noStrike"/>
          </a:p>
        </p:txBody>
      </p:sp>
      <p:sp>
        <p:nvSpPr>
          <p:cNvPr id="400" name="Google Shape;400;p25"/>
          <p:cNvSpPr txBox="1"/>
          <p:nvPr/>
        </p:nvSpPr>
        <p:spPr>
          <a:xfrm>
            <a:off x="8128000" y="2667000"/>
            <a:ext cx="3302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Cisco Packet Tracer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build the subnets from Unit 02</a:t>
            </a:r>
            <a:endParaRPr b="0" i="0" sz="13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Wireshark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watch real packets fly by</a:t>
            </a:r>
            <a:endParaRPr b="0" i="0" sz="13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 Linux VM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break it, fix it, repeat</a:t>
            </a:r>
            <a:endParaRPr b="0" i="0" sz="135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· </a:t>
            </a:r>
            <a:r>
              <a:rPr b="1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RFC 791</a:t>
            </a:r>
            <a:r>
              <a:rPr b="0" i="0" lang="en-US" sz="135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read the original spec, it's short</a:t>
            </a:r>
            <a:endParaRPr b="0" i="0" sz="1350" u="none" cap="none" strike="noStrike"/>
          </a:p>
        </p:txBody>
      </p:sp>
      <p:sp>
        <p:nvSpPr>
          <p:cNvPr id="401" name="Google Shape;401;p25"/>
          <p:cNvSpPr/>
          <p:nvPr/>
        </p:nvSpPr>
        <p:spPr>
          <a:xfrm>
            <a:off x="762000" y="5537200"/>
            <a:ext cx="106680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 txBox="1"/>
          <p:nvPr/>
        </p:nvSpPr>
        <p:spPr>
          <a:xfrm>
            <a:off x="762000" y="57404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COURSE SOURCES</a:t>
            </a:r>
            <a:r>
              <a:rPr b="0" i="0" lang="en-US" sz="115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— RFC 791 (IPv4) · RFC 1918 (private addressing) · RFC 4632 (CIDR) · IEEE 802.3 / 802.11 · NIST SP 800-63B (digital identity) · Tanenbaum &amp; Bos, Modern Operating Systems (2015) · Brookshear &amp; Brylow, Computer Science: An Overview (2024) · Law et al. (2013) · Salahdine &amp; Kaabouch (2019) · Ometov et al. (2018)</a:t>
            </a:r>
            <a:endParaRPr b="0" i="0" sz="1150" u="none" cap="none" strike="noStrike"/>
          </a:p>
        </p:txBody>
      </p:sp>
      <p:sp>
        <p:nvSpPr>
          <p:cNvPr id="403" name="Google Shape;403;p25"/>
          <p:cNvSpPr txBox="1"/>
          <p:nvPr/>
        </p:nvSpPr>
        <p:spPr>
          <a:xfrm>
            <a:off x="11303000" y="6477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