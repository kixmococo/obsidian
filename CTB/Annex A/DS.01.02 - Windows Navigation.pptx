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12192000" cy="6858000"/>
  <p:embeddedFontLst>
    <p:embeddedFont>
      <p:font typeface="Liter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font" Target="fonts/Li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812800" y="660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DATA SYSTEMS ADMINISTRATOR COURSE · MODULE 01</a:t>
            </a:r>
            <a:endParaRPr b="0" i="0" sz="1200" u="none" cap="none" strike="noStrike"/>
          </a:p>
        </p:txBody>
      </p:sp>
      <p:sp>
        <p:nvSpPr>
          <p:cNvPr id="12" name="Google Shape;12;p3"/>
          <p:cNvSpPr txBox="1"/>
          <p:nvPr/>
        </p:nvSpPr>
        <p:spPr>
          <a:xfrm>
            <a:off x="812800" y="1498600"/>
            <a:ext cx="7874000" cy="2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WINDOWS</a:t>
            </a:r>
            <a:endParaRPr b="0" i="0" sz="8400" u="none" cap="none" strike="noStrike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FOUNDATIONS</a:t>
            </a:r>
            <a:endParaRPr b="0" i="0" sz="8400" u="none" cap="none" strike="noStrike"/>
          </a:p>
        </p:txBody>
      </p:sp>
      <p:sp>
        <p:nvSpPr>
          <p:cNvPr id="13" name="Google Shape;13;p3"/>
          <p:cNvSpPr txBox="1"/>
          <p:nvPr/>
        </p:nvSpPr>
        <p:spPr>
          <a:xfrm>
            <a:off x="812800" y="4470400"/>
            <a:ext cx="660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From your first login to </a:t>
            </a:r>
            <a:r>
              <a:rPr b="0" i="0" lang="en-US" sz="2000" u="sng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your first remote fix</a:t>
            </a:r>
            <a:r>
              <a:rPr b="0" i="0" lang="en-US" sz="2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2000" u="none" cap="none" strike="noStrike"/>
          </a:p>
        </p:txBody>
      </p:sp>
      <p:sp>
        <p:nvSpPr>
          <p:cNvPr id="14" name="Google Shape;14;p3"/>
          <p:cNvSpPr txBox="1"/>
          <p:nvPr/>
        </p:nvSpPr>
        <p:spPr>
          <a:xfrm>
            <a:off x="812800" y="4978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Entry level · Hands-on · No prior IT experience needed</a:t>
            </a:r>
            <a:endParaRPr b="0" i="0" sz="1300" u="none" cap="none" strike="noStrike"/>
          </a:p>
        </p:txBody>
      </p:sp>
      <p:sp>
        <p:nvSpPr>
          <p:cNvPr id="15" name="Google Shape;15;p3"/>
          <p:cNvSpPr/>
          <p:nvPr/>
        </p:nvSpPr>
        <p:spPr>
          <a:xfrm>
            <a:off x="8331200" y="838200"/>
            <a:ext cx="2844800" cy="18796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 rot="10800000">
            <a:off x="9194800" y="2717800"/>
            <a:ext cx="2133600" cy="1803400"/>
          </a:xfrm>
          <a:prstGeom prst="triangle">
            <a:avLst>
              <a:gd fmla="val 50000" name="adj"/>
            </a:avLst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88200" y="3581400"/>
            <a:ext cx="2387600" cy="16256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414000" y="3759200"/>
            <a:ext cx="965200" cy="6604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/>
        </p:nvSpPr>
        <p:spPr>
          <a:xfrm>
            <a:off x="812800" y="558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COURSE MAP</a:t>
            </a:r>
            <a:endParaRPr b="0" i="0" sz="1200" u="none" cap="none" strike="noStrike"/>
          </a:p>
        </p:txBody>
      </p:sp>
      <p:sp>
        <p:nvSpPr>
          <p:cNvPr id="25" name="Google Shape;25;p4"/>
          <p:cNvSpPr txBox="1"/>
          <p:nvPr/>
        </p:nvSpPr>
        <p:spPr>
          <a:xfrm>
            <a:off x="812800" y="889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8 STOPS ON YOUR FIRST TOUR</a:t>
            </a:r>
            <a:endParaRPr b="0" i="0" sz="3400" u="none" cap="none" strike="noStrike"/>
          </a:p>
        </p:txBody>
      </p:sp>
      <p:sp>
        <p:nvSpPr>
          <p:cNvPr id="26" name="Google Shape;26;p4"/>
          <p:cNvSpPr txBox="1"/>
          <p:nvPr/>
        </p:nvSpPr>
        <p:spPr>
          <a:xfrm>
            <a:off x="812800" y="1930400"/>
            <a:ext cx="1905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8</a:t>
            </a:r>
            <a:endParaRPr b="0" i="0" sz="9600" u="none" cap="none" strike="noStrike"/>
          </a:p>
        </p:txBody>
      </p:sp>
      <p:sp>
        <p:nvSpPr>
          <p:cNvPr id="27" name="Google Shape;27;p4"/>
          <p:cNvSpPr txBox="1"/>
          <p:nvPr/>
        </p:nvSpPr>
        <p:spPr>
          <a:xfrm>
            <a:off x="812800" y="34290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stops around Windows, zero guesswork</a:t>
            </a:r>
            <a:endParaRPr b="0" i="0" sz="1200" u="none" cap="none" strike="noStrike"/>
          </a:p>
        </p:txBody>
      </p:sp>
      <p:sp>
        <p:nvSpPr>
          <p:cNvPr id="28" name="Google Shape;28;p4"/>
          <p:cNvSpPr txBox="1"/>
          <p:nvPr/>
        </p:nvSpPr>
        <p:spPr>
          <a:xfrm>
            <a:off x="4064000" y="16764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000" u="none" cap="none" strike="noStrike"/>
          </a:p>
        </p:txBody>
      </p:sp>
      <p:sp>
        <p:nvSpPr>
          <p:cNvPr id="29" name="Google Shape;29;p4"/>
          <p:cNvSpPr txBox="1"/>
          <p:nvPr/>
        </p:nvSpPr>
        <p:spPr>
          <a:xfrm>
            <a:off x="4800600" y="16764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Navigation — move around without getting lost</a:t>
            </a:r>
            <a:endParaRPr b="0" i="0" sz="1600" u="none" cap="none" strike="noStrike"/>
          </a:p>
        </p:txBody>
      </p:sp>
      <p:sp>
        <p:nvSpPr>
          <p:cNvPr id="30" name="Google Shape;30;p4"/>
          <p:cNvSpPr/>
          <p:nvPr/>
        </p:nvSpPr>
        <p:spPr>
          <a:xfrm>
            <a:off x="4064000" y="21336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4064000" y="22479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000" u="none" cap="none" strike="noStrike"/>
          </a:p>
        </p:txBody>
      </p:sp>
      <p:sp>
        <p:nvSpPr>
          <p:cNvPr id="32" name="Google Shape;32;p4"/>
          <p:cNvSpPr txBox="1"/>
          <p:nvPr/>
        </p:nvSpPr>
        <p:spPr>
          <a:xfrm>
            <a:off x="4800600" y="22479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Lock Screen — your PC's front door</a:t>
            </a:r>
            <a:endParaRPr b="0" i="0" sz="1600" u="none" cap="none" strike="noStrike"/>
          </a:p>
        </p:txBody>
      </p:sp>
      <p:sp>
        <p:nvSpPr>
          <p:cNvPr id="33" name="Google Shape;33;p4"/>
          <p:cNvSpPr/>
          <p:nvPr/>
        </p:nvSpPr>
        <p:spPr>
          <a:xfrm>
            <a:off x="4064000" y="27051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4064000" y="28194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000" u="none" cap="none" strike="noStrike"/>
          </a:p>
        </p:txBody>
      </p:sp>
      <p:sp>
        <p:nvSpPr>
          <p:cNvPr id="35" name="Google Shape;35;p4"/>
          <p:cNvSpPr txBox="1"/>
          <p:nvPr/>
        </p:nvSpPr>
        <p:spPr>
          <a:xfrm>
            <a:off x="4800600" y="28194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Desktop — your workbench, part by part</a:t>
            </a:r>
            <a:endParaRPr b="0" i="0" sz="1600" u="none" cap="none" strike="noStrike"/>
          </a:p>
        </p:txBody>
      </p:sp>
      <p:sp>
        <p:nvSpPr>
          <p:cNvPr id="36" name="Google Shape;36;p4"/>
          <p:cNvSpPr/>
          <p:nvPr/>
        </p:nvSpPr>
        <p:spPr>
          <a:xfrm>
            <a:off x="4064000" y="32766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4064000" y="33909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2000" u="none" cap="none" strike="noStrike"/>
          </a:p>
        </p:txBody>
      </p:sp>
      <p:sp>
        <p:nvSpPr>
          <p:cNvPr id="38" name="Google Shape;38;p4"/>
          <p:cNvSpPr txBox="1"/>
          <p:nvPr/>
        </p:nvSpPr>
        <p:spPr>
          <a:xfrm>
            <a:off x="4800600" y="33909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Settings — where Windows keeps its controls</a:t>
            </a:r>
            <a:endParaRPr b="0" i="0" sz="1600" u="none" cap="none" strike="noStrike"/>
          </a:p>
        </p:txBody>
      </p:sp>
      <p:sp>
        <p:nvSpPr>
          <p:cNvPr id="39" name="Google Shape;39;p4"/>
          <p:cNvSpPr/>
          <p:nvPr/>
        </p:nvSpPr>
        <p:spPr>
          <a:xfrm>
            <a:off x="4064000" y="38481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4064000" y="39624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2000" u="none" cap="none" strike="noStrike"/>
          </a:p>
        </p:txBody>
      </p:sp>
      <p:sp>
        <p:nvSpPr>
          <p:cNvPr id="41" name="Google Shape;41;p4"/>
          <p:cNvSpPr txBox="1"/>
          <p:nvPr/>
        </p:nvSpPr>
        <p:spPr>
          <a:xfrm>
            <a:off x="4800600" y="39624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Task Manager — see what your PC is doing right now</a:t>
            </a:r>
            <a:endParaRPr b="0" i="0" sz="16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4064000" y="44196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4064000" y="45339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endParaRPr b="0" i="0" sz="2000" u="none" cap="none" strike="noStrike"/>
          </a:p>
        </p:txBody>
      </p:sp>
      <p:sp>
        <p:nvSpPr>
          <p:cNvPr id="44" name="Google Shape;44;p4"/>
          <p:cNvSpPr txBox="1"/>
          <p:nvPr/>
        </p:nvSpPr>
        <p:spPr>
          <a:xfrm>
            <a:off x="4800600" y="45339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Software Center — the company app store</a:t>
            </a:r>
            <a:endParaRPr b="0" i="0" sz="1600" u="none" cap="none" strike="noStrike"/>
          </a:p>
        </p:txBody>
      </p:sp>
      <p:sp>
        <p:nvSpPr>
          <p:cNvPr id="45" name="Google Shape;45;p4"/>
          <p:cNvSpPr/>
          <p:nvPr/>
        </p:nvSpPr>
        <p:spPr>
          <a:xfrm>
            <a:off x="4064000" y="49911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4064000" y="51054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endParaRPr b="0" i="0" sz="2000" u="none" cap="none" strike="noStrike"/>
          </a:p>
        </p:txBody>
      </p:sp>
      <p:sp>
        <p:nvSpPr>
          <p:cNvPr id="47" name="Google Shape;47;p4"/>
          <p:cNvSpPr txBox="1"/>
          <p:nvPr/>
        </p:nvSpPr>
        <p:spPr>
          <a:xfrm>
            <a:off x="4800600" y="51054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Remote Desktop (RDP) — drive a PC you can't touch</a:t>
            </a:r>
            <a:endParaRPr b="0" i="0" sz="1600" u="none" cap="none" strike="noStrike"/>
          </a:p>
        </p:txBody>
      </p:sp>
      <p:sp>
        <p:nvSpPr>
          <p:cNvPr id="48" name="Google Shape;48;p4"/>
          <p:cNvSpPr/>
          <p:nvPr/>
        </p:nvSpPr>
        <p:spPr>
          <a:xfrm>
            <a:off x="4064000" y="55626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4064000" y="5676900"/>
            <a:ext cx="609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08</a:t>
            </a:r>
            <a:endParaRPr b="0" i="0" sz="2000" u="none" cap="none" strike="noStrike"/>
          </a:p>
        </p:txBody>
      </p:sp>
      <p:sp>
        <p:nvSpPr>
          <p:cNvPr id="50" name="Google Shape;50;p4"/>
          <p:cNvSpPr txBox="1"/>
          <p:nvPr/>
        </p:nvSpPr>
        <p:spPr>
          <a:xfrm>
            <a:off x="4800600" y="56769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File Explorer — find, move, and organize files</a:t>
            </a:r>
            <a:endParaRPr b="0" i="0" sz="1600" u="none" cap="none" strike="noStrike"/>
          </a:p>
        </p:txBody>
      </p:sp>
      <p:sp>
        <p:nvSpPr>
          <p:cNvPr id="51" name="Google Shape;51;p4"/>
          <p:cNvSpPr/>
          <p:nvPr/>
        </p:nvSpPr>
        <p:spPr>
          <a:xfrm>
            <a:off x="4064000" y="6134100"/>
            <a:ext cx="7315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01 · NAVIGATION</a:t>
            </a:r>
            <a:endParaRPr b="0" i="0" sz="1200" u="none" cap="none" strike="noStrike"/>
          </a:p>
        </p:txBody>
      </p:sp>
      <p:sp>
        <p:nvSpPr>
          <p:cNvPr id="58" name="Google Shape;58;p5"/>
          <p:cNvSpPr txBox="1"/>
          <p:nvPr/>
        </p:nvSpPr>
        <p:spPr>
          <a:xfrm>
            <a:off x="812800" y="889000"/>
            <a:ext cx="8636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THREE TOOLS GET YOU ANYWHERE</a:t>
            </a:r>
            <a:endParaRPr b="0" i="0" sz="3200" u="none" cap="none" strike="noStrike"/>
          </a:p>
        </p:txBody>
      </p:sp>
      <p:sp>
        <p:nvSpPr>
          <p:cNvPr id="59" name="Google Shape;59;p5"/>
          <p:cNvSpPr txBox="1"/>
          <p:nvPr/>
        </p:nvSpPr>
        <p:spPr>
          <a:xfrm>
            <a:off x="812800" y="15240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Getting lost in Windows is normal — admins just know the three exits.</a:t>
            </a:r>
            <a:endParaRPr b="0" i="0" sz="1500" u="none" cap="none" strike="noStrike"/>
          </a:p>
        </p:txBody>
      </p:sp>
      <p:sp>
        <p:nvSpPr>
          <p:cNvPr id="60" name="Google Shape;60;p5"/>
          <p:cNvSpPr txBox="1"/>
          <p:nvPr/>
        </p:nvSpPr>
        <p:spPr>
          <a:xfrm>
            <a:off x="812800" y="2235200"/>
            <a:ext cx="152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8400" u="none" cap="none" strike="noStrike"/>
          </a:p>
        </p:txBody>
      </p:sp>
      <p:sp>
        <p:nvSpPr>
          <p:cNvPr id="61" name="Google Shape;61;p5"/>
          <p:cNvSpPr txBox="1"/>
          <p:nvPr/>
        </p:nvSpPr>
        <p:spPr>
          <a:xfrm>
            <a:off x="812800" y="35052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tools to find anything on the PC</a:t>
            </a:r>
            <a:endParaRPr b="0" i="0" sz="1200" u="none" cap="none" strike="noStrike"/>
          </a:p>
        </p:txBody>
      </p:sp>
      <p:sp>
        <p:nvSpPr>
          <p:cNvPr id="62" name="Google Shape;62;p5"/>
          <p:cNvSpPr/>
          <p:nvPr/>
        </p:nvSpPr>
        <p:spPr>
          <a:xfrm>
            <a:off x="812800" y="4267200"/>
            <a:ext cx="660400" cy="660400"/>
          </a:xfrm>
          <a:custGeom>
            <a:rect b="b" l="l" r="r" t="t"/>
            <a:pathLst>
              <a:path extrusionOk="0" h="512" w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07" y="325"/>
                </a:moveTo>
                <a:lnTo>
                  <a:pt x="162" y="381"/>
                </a:lnTo>
                <a:cubicBezTo>
                  <a:pt x="143" y="388"/>
                  <a:pt x="124" y="369"/>
                  <a:pt x="131" y="350"/>
                </a:cubicBezTo>
                <a:lnTo>
                  <a:pt x="187" y="205"/>
                </a:lnTo>
                <a:cubicBezTo>
                  <a:pt x="190" y="197"/>
                  <a:pt x="197" y="190"/>
                  <a:pt x="205" y="187"/>
                </a:cubicBezTo>
                <a:lnTo>
                  <a:pt x="350" y="131"/>
                </a:lnTo>
                <a:cubicBezTo>
                  <a:pt x="369" y="124"/>
                  <a:pt x="388" y="143"/>
                  <a:pt x="381" y="162"/>
                </a:cubicBezTo>
                <a:lnTo>
                  <a:pt x="325" y="307"/>
                </a:lnTo>
                <a:cubicBezTo>
                  <a:pt x="322" y="315"/>
                  <a:pt x="315" y="322"/>
                  <a:pt x="307" y="325"/>
                </a:cubicBezTo>
                <a:close/>
              </a:path>
              <a:path extrusionOk="0" h="512" w="512">
                <a:moveTo>
                  <a:pt x="288" y="256"/>
                </a:moveTo>
                <a:cubicBezTo>
                  <a:pt x="288" y="238"/>
                  <a:pt x="274" y="224"/>
                  <a:pt x="256" y="224"/>
                </a:cubicBezTo>
                <a:cubicBezTo>
                  <a:pt x="238" y="224"/>
                  <a:pt x="224" y="238"/>
                  <a:pt x="224" y="256"/>
                </a:cubicBezTo>
                <a:cubicBezTo>
                  <a:pt x="224" y="274"/>
                  <a:pt x="238" y="288"/>
                  <a:pt x="256" y="288"/>
                </a:cubicBezTo>
                <a:cubicBezTo>
                  <a:pt x="274" y="288"/>
                  <a:pt x="288" y="274"/>
                  <a:pt x="288" y="256"/>
                </a:cubicBezTo>
                <a:close/>
              </a:path>
            </a:pathLst>
          </a:cu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3810000" y="20066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600" u="none" cap="none" strike="noStrike"/>
          </a:p>
        </p:txBody>
      </p:sp>
      <p:sp>
        <p:nvSpPr>
          <p:cNvPr id="64" name="Google Shape;64;p5"/>
          <p:cNvSpPr txBox="1"/>
          <p:nvPr/>
        </p:nvSpPr>
        <p:spPr>
          <a:xfrm>
            <a:off x="4521200" y="2057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START MENU</a:t>
            </a:r>
            <a:endParaRPr b="0" i="0" sz="1900" u="none" cap="none" strike="noStrike"/>
          </a:p>
        </p:txBody>
      </p:sp>
      <p:sp>
        <p:nvSpPr>
          <p:cNvPr id="65" name="Google Shape;65;p5"/>
          <p:cNvSpPr txBox="1"/>
          <p:nvPr/>
        </p:nvSpPr>
        <p:spPr>
          <a:xfrm>
            <a:off x="4521200" y="2438400"/>
            <a:ext cx="660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Click the Windows icon or press the Win key. Every app on the PC is listed here.</a:t>
            </a:r>
            <a:endParaRPr b="0" i="0" sz="1400" u="none" cap="none" strike="noStrike"/>
          </a:p>
        </p:txBody>
      </p:sp>
      <p:sp>
        <p:nvSpPr>
          <p:cNvPr id="66" name="Google Shape;66;p5"/>
          <p:cNvSpPr/>
          <p:nvPr/>
        </p:nvSpPr>
        <p:spPr>
          <a:xfrm>
            <a:off x="3810000" y="3149600"/>
            <a:ext cx="75692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3810000" y="33528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600" u="none" cap="none" strike="noStrike"/>
          </a:p>
        </p:txBody>
      </p:sp>
      <p:sp>
        <p:nvSpPr>
          <p:cNvPr id="68" name="Google Shape;68;p5"/>
          <p:cNvSpPr txBox="1"/>
          <p:nvPr/>
        </p:nvSpPr>
        <p:spPr>
          <a:xfrm>
            <a:off x="4521200" y="3403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SEARCH</a:t>
            </a:r>
            <a:endParaRPr b="0" i="0" sz="1900" u="none" cap="none" strike="noStrike"/>
          </a:p>
        </p:txBody>
      </p:sp>
      <p:sp>
        <p:nvSpPr>
          <p:cNvPr id="69" name="Google Shape;69;p5"/>
          <p:cNvSpPr txBox="1"/>
          <p:nvPr/>
        </p:nvSpPr>
        <p:spPr>
          <a:xfrm>
            <a:off x="4521200" y="3784600"/>
            <a:ext cx="660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Press Win and just start typing — "Wi-Fi", "printer", "settings". Windows finds it for you.</a:t>
            </a:r>
            <a:endParaRPr b="0" i="0" sz="1400" u="none" cap="none" strike="noStrike"/>
          </a:p>
        </p:txBody>
      </p:sp>
      <p:sp>
        <p:nvSpPr>
          <p:cNvPr id="70" name="Google Shape;70;p5"/>
          <p:cNvSpPr/>
          <p:nvPr/>
        </p:nvSpPr>
        <p:spPr>
          <a:xfrm>
            <a:off x="3810000" y="4495800"/>
            <a:ext cx="75692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3810000" y="46990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600" u="none" cap="none" strike="noStrike"/>
          </a:p>
        </p:txBody>
      </p:sp>
      <p:sp>
        <p:nvSpPr>
          <p:cNvPr id="72" name="Google Shape;72;p5"/>
          <p:cNvSpPr txBox="1"/>
          <p:nvPr/>
        </p:nvSpPr>
        <p:spPr>
          <a:xfrm>
            <a:off x="4521200" y="4749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TASKBAR</a:t>
            </a:r>
            <a:endParaRPr b="0" i="0" sz="1900" u="none" cap="none" strike="noStrike"/>
          </a:p>
        </p:txBody>
      </p:sp>
      <p:sp>
        <p:nvSpPr>
          <p:cNvPr id="73" name="Google Shape;73;p5"/>
          <p:cNvSpPr txBox="1"/>
          <p:nvPr/>
        </p:nvSpPr>
        <p:spPr>
          <a:xfrm>
            <a:off x="4521200" y="5130800"/>
            <a:ext cx="660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 strip along the bottom of the screen. It shows what's open and holds your pinned favorites.</a:t>
            </a:r>
            <a:endParaRPr b="0" i="0" sz="1400" u="none" cap="none" strike="noStrike"/>
          </a:p>
        </p:txBody>
      </p:sp>
      <p:sp>
        <p:nvSpPr>
          <p:cNvPr id="74" name="Google Shape;74;p5"/>
          <p:cNvSpPr txBox="1"/>
          <p:nvPr/>
        </p:nvSpPr>
        <p:spPr>
          <a:xfrm>
            <a:off x="3810000" y="5994400"/>
            <a:ext cx="756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highlight>
                  <a:srgbClr val="D9F04A"/>
                </a:highlight>
                <a:latin typeface="Liter"/>
                <a:ea typeface="Liter"/>
                <a:cs typeface="Liter"/>
                <a:sym typeface="Liter"/>
              </a:rPr>
              <a:t> PRO MOVE </a:t>
            </a: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Right-click the Start button for a hidden admin shortcut menu.</a:t>
            </a:r>
            <a:endParaRPr b="0" i="0" sz="1300" u="none" cap="none" strike="noStrike"/>
          </a:p>
        </p:txBody>
      </p:sp>
      <p:sp>
        <p:nvSpPr>
          <p:cNvPr id="75" name="Google Shape;75;p5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STOP 01 · NAVIGATION</a:t>
            </a:r>
            <a:endParaRPr b="0" i="0" sz="1200" u="none" cap="none" strike="noStrike"/>
          </a:p>
        </p:txBody>
      </p:sp>
      <p:sp>
        <p:nvSpPr>
          <p:cNvPr id="81" name="Google Shape;81;p6"/>
          <p:cNvSpPr txBox="1"/>
          <p:nvPr/>
        </p:nvSpPr>
        <p:spPr>
          <a:xfrm>
            <a:off x="812800" y="8890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SIX SHORTCUTS WORTH MEMORIZING</a:t>
            </a:r>
            <a:endParaRPr b="0" i="0" sz="3200" u="none" cap="none" strike="noStrike"/>
          </a:p>
        </p:txBody>
      </p:sp>
      <p:sp>
        <p:nvSpPr>
          <p:cNvPr id="82" name="Google Shape;82;p6"/>
          <p:cNvSpPr txBox="1"/>
          <p:nvPr/>
        </p:nvSpPr>
        <p:spPr>
          <a:xfrm>
            <a:off x="812800" y="1930400"/>
            <a:ext cx="1778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6</a:t>
            </a:r>
            <a:endParaRPr b="0" i="0" sz="9600" u="none" cap="none" strike="noStrike"/>
          </a:p>
        </p:txBody>
      </p:sp>
      <p:sp>
        <p:nvSpPr>
          <p:cNvPr id="83" name="Google Shape;83;p6"/>
          <p:cNvSpPr txBox="1"/>
          <p:nvPr/>
        </p:nvSpPr>
        <p:spPr>
          <a:xfrm>
            <a:off x="812800" y="34036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key combos that save your shift</a:t>
            </a:r>
            <a:endParaRPr b="0" i="0" sz="1200" u="none" cap="none" strike="noStrike"/>
          </a:p>
        </p:txBody>
      </p:sp>
      <p:sp>
        <p:nvSpPr>
          <p:cNvPr id="84" name="Google Shape;84;p6"/>
          <p:cNvSpPr txBox="1"/>
          <p:nvPr/>
        </p:nvSpPr>
        <p:spPr>
          <a:xfrm>
            <a:off x="3810000" y="1905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Win</a:t>
            </a:r>
            <a:endParaRPr b="0" i="0" sz="1800" u="none" cap="none" strike="noStrike"/>
          </a:p>
        </p:txBody>
      </p:sp>
      <p:sp>
        <p:nvSpPr>
          <p:cNvPr id="85" name="Google Shape;85;p6"/>
          <p:cNvSpPr txBox="1"/>
          <p:nvPr/>
        </p:nvSpPr>
        <p:spPr>
          <a:xfrm>
            <a:off x="6731000" y="19431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Open Start, then type to search anything</a:t>
            </a:r>
            <a:endParaRPr b="0" i="0" sz="1300" u="none" cap="none" strike="noStrike"/>
          </a:p>
        </p:txBody>
      </p:sp>
      <p:sp>
        <p:nvSpPr>
          <p:cNvPr id="86" name="Google Shape;86;p6"/>
          <p:cNvSpPr/>
          <p:nvPr/>
        </p:nvSpPr>
        <p:spPr>
          <a:xfrm>
            <a:off x="3810000" y="24130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3810000" y="25654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Win + D</a:t>
            </a:r>
            <a:endParaRPr b="0" i="0" sz="1800" u="none" cap="none" strike="noStrike"/>
          </a:p>
        </p:txBody>
      </p:sp>
      <p:sp>
        <p:nvSpPr>
          <p:cNvPr id="88" name="Google Shape;88;p6"/>
          <p:cNvSpPr txBox="1"/>
          <p:nvPr/>
        </p:nvSpPr>
        <p:spPr>
          <a:xfrm>
            <a:off x="6731000" y="26035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Show the Desktop instantly</a:t>
            </a:r>
            <a:endParaRPr b="0" i="0" sz="1300" u="none" cap="none" strike="noStrike"/>
          </a:p>
        </p:txBody>
      </p:sp>
      <p:sp>
        <p:nvSpPr>
          <p:cNvPr id="89" name="Google Shape;89;p6"/>
          <p:cNvSpPr/>
          <p:nvPr/>
        </p:nvSpPr>
        <p:spPr>
          <a:xfrm>
            <a:off x="3810000" y="30734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3810000" y="32258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Alt + Tab</a:t>
            </a:r>
            <a:endParaRPr b="0" i="0" sz="1800" u="none" cap="none" strike="noStrike"/>
          </a:p>
        </p:txBody>
      </p:sp>
      <p:sp>
        <p:nvSpPr>
          <p:cNvPr id="91" name="Google Shape;91;p6"/>
          <p:cNvSpPr txBox="1"/>
          <p:nvPr/>
        </p:nvSpPr>
        <p:spPr>
          <a:xfrm>
            <a:off x="6731000" y="32639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Switch between open windows</a:t>
            </a:r>
            <a:endParaRPr b="0" i="0" sz="1300" u="none" cap="none" strike="noStrike"/>
          </a:p>
        </p:txBody>
      </p:sp>
      <p:sp>
        <p:nvSpPr>
          <p:cNvPr id="92" name="Google Shape;92;p6"/>
          <p:cNvSpPr/>
          <p:nvPr/>
        </p:nvSpPr>
        <p:spPr>
          <a:xfrm>
            <a:off x="3810000" y="37338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3810000" y="38862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Win + E</a:t>
            </a:r>
            <a:endParaRPr b="0" i="0" sz="1800" u="none" cap="none" strike="noStrike"/>
          </a:p>
        </p:txBody>
      </p:sp>
      <p:sp>
        <p:nvSpPr>
          <p:cNvPr id="94" name="Google Shape;94;p6"/>
          <p:cNvSpPr txBox="1"/>
          <p:nvPr/>
        </p:nvSpPr>
        <p:spPr>
          <a:xfrm>
            <a:off x="6731000" y="39243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Open File Explorer</a:t>
            </a:r>
            <a:endParaRPr b="0" i="0" sz="1300" u="none" cap="none" strike="noStrike"/>
          </a:p>
        </p:txBody>
      </p:sp>
      <p:sp>
        <p:nvSpPr>
          <p:cNvPr id="95" name="Google Shape;95;p6"/>
          <p:cNvSpPr/>
          <p:nvPr/>
        </p:nvSpPr>
        <p:spPr>
          <a:xfrm>
            <a:off x="3810000" y="43942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3810000" y="4546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Win + L</a:t>
            </a:r>
            <a:endParaRPr b="0" i="0" sz="1800" u="none" cap="none" strike="noStrike"/>
          </a:p>
        </p:txBody>
      </p:sp>
      <p:sp>
        <p:nvSpPr>
          <p:cNvPr id="97" name="Google Shape;97;p6"/>
          <p:cNvSpPr txBox="1"/>
          <p:nvPr/>
        </p:nvSpPr>
        <p:spPr>
          <a:xfrm>
            <a:off x="6731000" y="45847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Lock your PC (more on this next)</a:t>
            </a:r>
            <a:endParaRPr b="0" i="0" sz="1300" u="none" cap="none" strike="noStrike"/>
          </a:p>
        </p:txBody>
      </p:sp>
      <p:sp>
        <p:nvSpPr>
          <p:cNvPr id="98" name="Google Shape;98;p6"/>
          <p:cNvSpPr/>
          <p:nvPr/>
        </p:nvSpPr>
        <p:spPr>
          <a:xfrm>
            <a:off x="3810000" y="50546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3810000" y="5207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Ctrl + Shift + Esc</a:t>
            </a:r>
            <a:endParaRPr b="0" i="0" sz="1800" u="none" cap="none" strike="noStrike"/>
          </a:p>
        </p:txBody>
      </p:sp>
      <p:sp>
        <p:nvSpPr>
          <p:cNvPr id="100" name="Google Shape;100;p6"/>
          <p:cNvSpPr txBox="1"/>
          <p:nvPr/>
        </p:nvSpPr>
        <p:spPr>
          <a:xfrm>
            <a:off x="6731000" y="52451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Open Task Manager directly</a:t>
            </a:r>
            <a:endParaRPr b="0" i="0" sz="1300" u="none" cap="none" strike="noStrike"/>
          </a:p>
        </p:txBody>
      </p:sp>
      <p:sp>
        <p:nvSpPr>
          <p:cNvPr id="101" name="Google Shape;101;p6"/>
          <p:cNvSpPr txBox="1"/>
          <p:nvPr/>
        </p:nvSpPr>
        <p:spPr>
          <a:xfrm>
            <a:off x="812800" y="59690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Start with three — Win, Alt + Tab, and Win + L. The rest will stick with practice.</a:t>
            </a:r>
            <a:endParaRPr b="0" i="0" sz="1300" u="none" cap="none" strike="noStrike"/>
          </a:p>
        </p:txBody>
      </p:sp>
      <p:sp>
        <p:nvSpPr>
          <p:cNvPr id="102" name="Google Shape;102;p6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02 · LOCK SCREEN</a:t>
            </a:r>
            <a:endParaRPr b="0" i="0" sz="1200" u="none" cap="none" strike="noStrike"/>
          </a:p>
        </p:txBody>
      </p:sp>
      <p:sp>
        <p:nvSpPr>
          <p:cNvPr id="108" name="Google Shape;108;p7"/>
          <p:cNvSpPr txBox="1"/>
          <p:nvPr/>
        </p:nvSpPr>
        <p:spPr>
          <a:xfrm>
            <a:off x="812800" y="889000"/>
            <a:ext cx="7112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YOUR PC'S FRONT DOOR</a:t>
            </a:r>
            <a:endParaRPr b="0" i="0" sz="3200" u="none" cap="none" strike="noStrike"/>
          </a:p>
        </p:txBody>
      </p:sp>
      <p:sp>
        <p:nvSpPr>
          <p:cNvPr id="109" name="Google Shape;109;p7"/>
          <p:cNvSpPr txBox="1"/>
          <p:nvPr/>
        </p:nvSpPr>
        <p:spPr>
          <a:xfrm>
            <a:off x="812800" y="1524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The lock screen is what Windows shows before anyone signs in — it greets you, and it guards the PC.</a:t>
            </a:r>
            <a:endParaRPr b="0" i="0" sz="1500" u="none" cap="none" strike="noStrike"/>
          </a:p>
        </p:txBody>
      </p:sp>
      <p:sp>
        <p:nvSpPr>
          <p:cNvPr id="110" name="Google Shape;110;p7"/>
          <p:cNvSpPr/>
          <p:nvPr/>
        </p:nvSpPr>
        <p:spPr>
          <a:xfrm>
            <a:off x="812800" y="2413000"/>
            <a:ext cx="4064000" cy="3048000"/>
          </a:xfrm>
          <a:prstGeom prst="rect">
            <a:avLst/>
          </a:prstGeom>
          <a:solidFill>
            <a:srgbClr val="E8A7B3"/>
          </a:solidFill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1193800" y="3048000"/>
            <a:ext cx="330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9:41</a:t>
            </a:r>
            <a:endParaRPr b="0" i="0" sz="5600" u="none" cap="none" strike="noStrike"/>
          </a:p>
        </p:txBody>
      </p:sp>
      <p:sp>
        <p:nvSpPr>
          <p:cNvPr id="112" name="Google Shape;112;p7"/>
          <p:cNvSpPr txBox="1"/>
          <p:nvPr/>
        </p:nvSpPr>
        <p:spPr>
          <a:xfrm>
            <a:off x="1193800" y="40132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Monday, June 8</a:t>
            </a:r>
            <a:endParaRPr b="0" i="0" sz="1500" u="none" cap="none" strike="noStrike"/>
          </a:p>
        </p:txBody>
      </p:sp>
      <p:sp>
        <p:nvSpPr>
          <p:cNvPr id="113" name="Google Shape;113;p7"/>
          <p:cNvSpPr/>
          <p:nvPr/>
        </p:nvSpPr>
        <p:spPr>
          <a:xfrm>
            <a:off x="1752600" y="4572000"/>
            <a:ext cx="21844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057400" y="4749800"/>
            <a:ext cx="15748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812800" y="56642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Schematic — yours will show your own picture, clock, and chosen notifications.</a:t>
            </a:r>
            <a:endParaRPr b="0" i="0" sz="1200" u="none" cap="none" strike="noStrike"/>
          </a:p>
        </p:txBody>
      </p:sp>
      <p:sp>
        <p:nvSpPr>
          <p:cNvPr id="116" name="Google Shape;116;p7"/>
          <p:cNvSpPr txBox="1"/>
          <p:nvPr/>
        </p:nvSpPr>
        <p:spPr>
          <a:xfrm>
            <a:off x="5588000" y="2413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WHAT IT SHOWS</a:t>
            </a:r>
            <a:endParaRPr b="0" i="0" sz="1500" u="none" cap="none" strike="noStrike"/>
          </a:p>
        </p:txBody>
      </p:sp>
      <p:sp>
        <p:nvSpPr>
          <p:cNvPr id="117" name="Google Shape;117;p7"/>
          <p:cNvSpPr txBox="1"/>
          <p:nvPr/>
        </p:nvSpPr>
        <p:spPr>
          <a:xfrm>
            <a:off x="5588000" y="2743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Time, date, battery, network, and the notifications you choose to allow.</a:t>
            </a:r>
            <a:endParaRPr b="0" i="0" sz="1400" u="none" cap="none" strike="noStrike"/>
          </a:p>
        </p:txBody>
      </p:sp>
      <p:sp>
        <p:nvSpPr>
          <p:cNvPr id="118" name="Google Shape;118;p7"/>
          <p:cNvSpPr/>
          <p:nvPr/>
        </p:nvSpPr>
        <p:spPr>
          <a:xfrm>
            <a:off x="5588000" y="3378200"/>
            <a:ext cx="57912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5588000" y="3581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HOW YOU GET IN</a:t>
            </a:r>
            <a:endParaRPr b="0" i="0" sz="1500" u="none" cap="none" strike="noStrike"/>
          </a:p>
        </p:txBody>
      </p:sp>
      <p:sp>
        <p:nvSpPr>
          <p:cNvPr id="120" name="Google Shape;120;p7"/>
          <p:cNvSpPr txBox="1"/>
          <p:nvPr/>
        </p:nvSpPr>
        <p:spPr>
          <a:xfrm>
            <a:off x="5588000" y="39116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Click or press any key, then sign in with your password or PIN.</a:t>
            </a:r>
            <a:endParaRPr b="0" i="0" sz="1400" u="none" cap="none" strike="noStrike"/>
          </a:p>
        </p:txBody>
      </p:sp>
      <p:sp>
        <p:nvSpPr>
          <p:cNvPr id="121" name="Google Shape;121;p7"/>
          <p:cNvSpPr/>
          <p:nvPr/>
        </p:nvSpPr>
        <p:spPr>
          <a:xfrm>
            <a:off x="5588000" y="4546600"/>
            <a:ext cx="57912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5588000" y="47498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THE GOLDEN RULE</a:t>
            </a:r>
            <a:endParaRPr b="0" i="0" sz="1500" u="none" cap="none" strike="noStrike"/>
          </a:p>
        </p:txBody>
      </p:sp>
      <p:sp>
        <p:nvSpPr>
          <p:cNvPr id="123" name="Google Shape;123;p7"/>
          <p:cNvSpPr txBox="1"/>
          <p:nvPr/>
        </p:nvSpPr>
        <p:spPr>
          <a:xfrm>
            <a:off x="5588000" y="5080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Press Win + L every time you step away. Even for coffee.</a:t>
            </a:r>
            <a:endParaRPr b="0" i="0" sz="1400" u="none" cap="none" strike="noStrike"/>
          </a:p>
        </p:txBody>
      </p:sp>
      <p:sp>
        <p:nvSpPr>
          <p:cNvPr id="124" name="Google Shape;124;p7"/>
          <p:cNvSpPr txBox="1"/>
          <p:nvPr/>
        </p:nvSpPr>
        <p:spPr>
          <a:xfrm>
            <a:off x="5588000" y="5816600"/>
            <a:ext cx="57912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Why admins care — an unlocked, unattended PC is an open door to company data.</a:t>
            </a:r>
            <a:endParaRPr b="0" i="0" sz="1400" u="none" cap="none" strike="noStrike"/>
          </a:p>
        </p:txBody>
      </p:sp>
      <p:sp>
        <p:nvSpPr>
          <p:cNvPr id="125" name="Google Shape;125;p7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02 · LOCK SCREEN</a:t>
            </a:r>
            <a:endParaRPr b="0" i="0" sz="1200" u="none" cap="none" strike="noStrike"/>
          </a:p>
        </p:txBody>
      </p:sp>
      <p:sp>
        <p:nvSpPr>
          <p:cNvPr id="131" name="Google Shape;131;p8"/>
          <p:cNvSpPr txBox="1"/>
          <p:nvPr/>
        </p:nvSpPr>
        <p:spPr>
          <a:xfrm>
            <a:off x="812800" y="1498600"/>
            <a:ext cx="60960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LOCK IT.</a:t>
            </a:r>
            <a:endParaRPr b="0" i="0" sz="7600" u="none" cap="none" strike="noStrike"/>
          </a:p>
        </p:txBody>
      </p:sp>
      <p:sp>
        <p:nvSpPr>
          <p:cNvPr id="132" name="Google Shape;132;p8"/>
          <p:cNvSpPr txBox="1"/>
          <p:nvPr/>
        </p:nvSpPr>
        <p:spPr>
          <a:xfrm>
            <a:off x="812800" y="2692400"/>
            <a:ext cx="66040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EVERY TIME.</a:t>
            </a:r>
            <a:endParaRPr b="0" i="0" sz="7600" u="none" cap="none" strike="noStrike"/>
          </a:p>
        </p:txBody>
      </p:sp>
      <p:sp>
        <p:nvSpPr>
          <p:cNvPr id="133" name="Google Shape;133;p8"/>
          <p:cNvSpPr txBox="1"/>
          <p:nvPr/>
        </p:nvSpPr>
        <p:spPr>
          <a:xfrm>
            <a:off x="7112000" y="154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HABITS</a:t>
            </a:r>
            <a:endParaRPr b="0" i="0" sz="1100" u="none" cap="none" strike="noStrike"/>
          </a:p>
        </p:txBody>
      </p:sp>
      <p:sp>
        <p:nvSpPr>
          <p:cNvPr id="134" name="Google Shape;134;p8"/>
          <p:cNvSpPr txBox="1"/>
          <p:nvPr/>
        </p:nvSpPr>
        <p:spPr>
          <a:xfrm>
            <a:off x="7112000" y="1930400"/>
            <a:ext cx="4267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Stepping away?</a:t>
            </a:r>
            <a:endParaRPr b="0" i="0" sz="1500" u="none" cap="none" strike="noStrike"/>
          </a:p>
        </p:txBody>
      </p:sp>
      <p:sp>
        <p:nvSpPr>
          <p:cNvPr id="135" name="Google Shape;135;p8"/>
          <p:cNvSpPr txBox="1"/>
          <p:nvPr/>
        </p:nvSpPr>
        <p:spPr>
          <a:xfrm>
            <a:off x="7112000" y="22606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Lock it. Win + L takes one second and protects everything open.</a:t>
            </a:r>
            <a:endParaRPr b="0" i="0" sz="1300" u="none" cap="none" strike="noStrike"/>
          </a:p>
        </p:txBody>
      </p:sp>
      <p:sp>
        <p:nvSpPr>
          <p:cNvPr id="136" name="Google Shape;136;p8"/>
          <p:cNvSpPr/>
          <p:nvPr/>
        </p:nvSpPr>
        <p:spPr>
          <a:xfrm>
            <a:off x="7112000" y="2844800"/>
            <a:ext cx="4267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7112000" y="3022600"/>
            <a:ext cx="4267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Sharing a lab or office?</a:t>
            </a:r>
            <a:endParaRPr b="0" i="0" sz="1500" u="none" cap="none" strike="noStrike"/>
          </a:p>
        </p:txBody>
      </p:sp>
      <p:sp>
        <p:nvSpPr>
          <p:cNvPr id="138" name="Google Shape;138;p8"/>
          <p:cNvSpPr txBox="1"/>
          <p:nvPr/>
        </p:nvSpPr>
        <p:spPr>
          <a:xfrm>
            <a:off x="7112000" y="33528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Lock it. Curiosity isn't malice, but it's still a risk.</a:t>
            </a:r>
            <a:endParaRPr b="0" i="0" sz="1300" u="none" cap="none" strike="noStrike"/>
          </a:p>
        </p:txBody>
      </p:sp>
      <p:sp>
        <p:nvSpPr>
          <p:cNvPr id="139" name="Google Shape;139;p8"/>
          <p:cNvSpPr/>
          <p:nvPr/>
        </p:nvSpPr>
        <p:spPr>
          <a:xfrm>
            <a:off x="7112000" y="3937000"/>
            <a:ext cx="4267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7112000" y="4114800"/>
            <a:ext cx="4267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Done for the day?</a:t>
            </a:r>
            <a:endParaRPr b="0" i="0" sz="1500" u="none" cap="none" strike="noStrike"/>
          </a:p>
        </p:txBody>
      </p:sp>
      <p:sp>
        <p:nvSpPr>
          <p:cNvPr id="141" name="Google Shape;141;p8"/>
          <p:cNvSpPr txBox="1"/>
          <p:nvPr/>
        </p:nvSpPr>
        <p:spPr>
          <a:xfrm>
            <a:off x="7112000" y="44450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Sign out — don't just close the lid and walk off.</a:t>
            </a:r>
            <a:endParaRPr b="0" i="0" sz="1300" u="none" cap="none" strike="noStrike"/>
          </a:p>
        </p:txBody>
      </p:sp>
      <p:sp>
        <p:nvSpPr>
          <p:cNvPr id="142" name="Google Shape;142;p8"/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812800" y="59182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Lock screen ≠ signed out — your apps keep running underneath while it's locked.</a:t>
            </a:r>
            <a:endParaRPr b="0" i="0" sz="1300" u="none" cap="none" strike="noStrike"/>
          </a:p>
        </p:txBody>
      </p:sp>
      <p:sp>
        <p:nvSpPr>
          <p:cNvPr id="144" name="Google Shape;144;p8"/>
          <p:cNvSpPr txBox="1"/>
          <p:nvPr/>
        </p:nvSpPr>
        <p:spPr>
          <a:xfrm>
            <a:off x="812800" y="6197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Sign-in options — a password works anywhere; a PIN works on this PC only.</a:t>
            </a:r>
            <a:endParaRPr b="0" i="0" sz="1300" u="none" cap="none" strike="noStrike"/>
          </a:p>
        </p:txBody>
      </p:sp>
      <p:sp>
        <p:nvSpPr>
          <p:cNvPr id="145" name="Google Shape;145;p8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03 · THE DESKTOP</a:t>
            </a:r>
            <a:endParaRPr b="0" i="0" sz="1200" u="none" cap="none" strike="noStrike"/>
          </a:p>
        </p:txBody>
      </p:sp>
      <p:sp>
        <p:nvSpPr>
          <p:cNvPr id="151" name="Google Shape;151;p9"/>
          <p:cNvSpPr txBox="1"/>
          <p:nvPr/>
        </p:nvSpPr>
        <p:spPr>
          <a:xfrm>
            <a:off x="812800" y="889000"/>
            <a:ext cx="7112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MEET YOUR WORKBENCH</a:t>
            </a:r>
            <a:endParaRPr b="0" i="0" sz="3200" u="none" cap="none" strike="noStrike"/>
          </a:p>
        </p:txBody>
      </p:sp>
      <p:sp>
        <p:nvSpPr>
          <p:cNvPr id="152" name="Google Shape;152;p9"/>
          <p:cNvSpPr txBox="1"/>
          <p:nvPr/>
        </p:nvSpPr>
        <p:spPr>
          <a:xfrm>
            <a:off x="812800" y="15240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The desktop is your home base — here's what each part is called and does.</a:t>
            </a:r>
            <a:endParaRPr b="0" i="0" sz="1500" u="none" cap="none" strike="noStrike"/>
          </a:p>
        </p:txBody>
      </p:sp>
      <p:sp>
        <p:nvSpPr>
          <p:cNvPr id="153" name="Google Shape;153;p9"/>
          <p:cNvSpPr/>
          <p:nvPr/>
        </p:nvSpPr>
        <p:spPr>
          <a:xfrm>
            <a:off x="5080000" y="2133600"/>
            <a:ext cx="6299200" cy="3708400"/>
          </a:xfrm>
          <a:prstGeom prst="rect">
            <a:avLst/>
          </a:prstGeom>
          <a:solidFill>
            <a:srgbClr val="F3E8D4"/>
          </a:solidFill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334000" y="2413000"/>
            <a:ext cx="304800" cy="3048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334000" y="2870200"/>
            <a:ext cx="304800" cy="3048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334000" y="3327400"/>
            <a:ext cx="304800" cy="3048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080000" y="5334000"/>
            <a:ext cx="6299200" cy="50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257800" y="5461000"/>
            <a:ext cx="254000" cy="2540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613400" y="5461000"/>
            <a:ext cx="254000" cy="254000"/>
          </a:xfrm>
          <a:prstGeom prst="ellipse">
            <a:avLst/>
          </a:prstGeom>
          <a:noFill/>
          <a:ln cap="flat" cmpd="sng" w="25400">
            <a:solidFill>
              <a:srgbClr val="F3E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5994400" y="5473700"/>
            <a:ext cx="228600" cy="2286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299200" y="5473700"/>
            <a:ext cx="228600" cy="2286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6604000" y="5473700"/>
            <a:ext cx="228600" cy="2286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9652000" y="5511800"/>
            <a:ext cx="152400" cy="1524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9880600" y="5511800"/>
            <a:ext cx="152400" cy="1524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10236200" y="5486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9:41 AM</a:t>
            </a:r>
            <a:endParaRPr b="0" i="0" sz="1000" u="none" cap="none" strike="noStrike"/>
          </a:p>
        </p:txBody>
      </p:sp>
      <p:sp>
        <p:nvSpPr>
          <p:cNvPr id="166" name="Google Shape;166;p9"/>
          <p:cNvSpPr/>
          <p:nvPr/>
        </p:nvSpPr>
        <p:spPr>
          <a:xfrm>
            <a:off x="5740400" y="24638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5740400" y="2463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100" u="none" cap="none" strike="noStrike"/>
          </a:p>
        </p:txBody>
      </p:sp>
      <p:sp>
        <p:nvSpPr>
          <p:cNvPr id="168" name="Google Shape;168;p9"/>
          <p:cNvSpPr/>
          <p:nvPr/>
        </p:nvSpPr>
        <p:spPr>
          <a:xfrm>
            <a:off x="8128000" y="38100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8128000" y="3810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100" u="none" cap="none" strike="noStrike"/>
          </a:p>
        </p:txBody>
      </p:sp>
      <p:sp>
        <p:nvSpPr>
          <p:cNvPr id="170" name="Google Shape;170;p9"/>
          <p:cNvSpPr/>
          <p:nvPr/>
        </p:nvSpPr>
        <p:spPr>
          <a:xfrm>
            <a:off x="5257800" y="50546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5257800" y="5054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100" u="none" cap="none" strike="noStrike"/>
          </a:p>
        </p:txBody>
      </p:sp>
      <p:sp>
        <p:nvSpPr>
          <p:cNvPr id="172" name="Google Shape;172;p9"/>
          <p:cNvSpPr/>
          <p:nvPr/>
        </p:nvSpPr>
        <p:spPr>
          <a:xfrm>
            <a:off x="6248400" y="50546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6248400" y="5054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100" u="none" cap="none" strike="noStrike"/>
          </a:p>
        </p:txBody>
      </p:sp>
      <p:sp>
        <p:nvSpPr>
          <p:cNvPr id="174" name="Google Shape;174;p9"/>
          <p:cNvSpPr/>
          <p:nvPr/>
        </p:nvSpPr>
        <p:spPr>
          <a:xfrm>
            <a:off x="9779000" y="50546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9779000" y="5054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5</a:t>
            </a:r>
            <a:endParaRPr b="0" i="0" sz="1100" u="none" cap="none" strike="noStrike"/>
          </a:p>
        </p:txBody>
      </p:sp>
      <p:sp>
        <p:nvSpPr>
          <p:cNvPr id="176" name="Google Shape;176;p9"/>
          <p:cNvSpPr txBox="1"/>
          <p:nvPr/>
        </p:nvSpPr>
        <p:spPr>
          <a:xfrm>
            <a:off x="812800" y="215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800" u="none" cap="none" strike="noStrike"/>
          </a:p>
        </p:txBody>
      </p:sp>
      <p:sp>
        <p:nvSpPr>
          <p:cNvPr id="177" name="Google Shape;177;p9"/>
          <p:cNvSpPr txBox="1"/>
          <p:nvPr/>
        </p:nvSpPr>
        <p:spPr>
          <a:xfrm>
            <a:off x="1219200" y="2159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ICONS</a:t>
            </a:r>
            <a:endParaRPr b="0" i="0" sz="1500" u="none" cap="none" strike="noStrike"/>
          </a:p>
        </p:txBody>
      </p:sp>
      <p:sp>
        <p:nvSpPr>
          <p:cNvPr id="178" name="Google Shape;178;p9"/>
          <p:cNvSpPr txBox="1"/>
          <p:nvPr/>
        </p:nvSpPr>
        <p:spPr>
          <a:xfrm>
            <a:off x="1219200" y="2463800"/>
            <a:ext cx="34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Shortcuts to apps, files, and folders. Double-click to open.</a:t>
            </a:r>
            <a:endParaRPr b="0" i="0" sz="1200" u="none" cap="none" strike="noStrike"/>
          </a:p>
        </p:txBody>
      </p:sp>
      <p:sp>
        <p:nvSpPr>
          <p:cNvPr id="179" name="Google Shape;179;p9"/>
          <p:cNvSpPr txBox="1"/>
          <p:nvPr/>
        </p:nvSpPr>
        <p:spPr>
          <a:xfrm>
            <a:off x="812800" y="3073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800" u="none" cap="none" strike="noStrike"/>
          </a:p>
        </p:txBody>
      </p:sp>
      <p:sp>
        <p:nvSpPr>
          <p:cNvPr id="180" name="Google Shape;180;p9"/>
          <p:cNvSpPr txBox="1"/>
          <p:nvPr/>
        </p:nvSpPr>
        <p:spPr>
          <a:xfrm>
            <a:off x="1219200" y="30734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WALLPAPER</a:t>
            </a:r>
            <a:endParaRPr b="0" i="0" sz="1500" u="none" cap="none" strike="noStrike"/>
          </a:p>
        </p:txBody>
      </p:sp>
      <p:sp>
        <p:nvSpPr>
          <p:cNvPr id="181" name="Google Shape;181;p9"/>
          <p:cNvSpPr txBox="1"/>
          <p:nvPr/>
        </p:nvSpPr>
        <p:spPr>
          <a:xfrm>
            <a:off x="1219200" y="3378200"/>
            <a:ext cx="34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The background image — yours to change (we'll see how in Settings).</a:t>
            </a:r>
            <a:endParaRPr b="0" i="0" sz="1200" u="none" cap="none" strike="noStrike"/>
          </a:p>
        </p:txBody>
      </p:sp>
      <p:sp>
        <p:nvSpPr>
          <p:cNvPr id="182" name="Google Shape;182;p9"/>
          <p:cNvSpPr txBox="1"/>
          <p:nvPr/>
        </p:nvSpPr>
        <p:spPr>
          <a:xfrm>
            <a:off x="812800" y="39878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800" u="none" cap="none" strike="noStrike"/>
          </a:p>
        </p:txBody>
      </p:sp>
      <p:sp>
        <p:nvSpPr>
          <p:cNvPr id="183" name="Google Shape;183;p9"/>
          <p:cNvSpPr txBox="1"/>
          <p:nvPr/>
        </p:nvSpPr>
        <p:spPr>
          <a:xfrm>
            <a:off x="1219200" y="39878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START BUTTON</a:t>
            </a:r>
            <a:endParaRPr b="0" i="0" sz="1500" u="none" cap="none" strike="noStrike"/>
          </a:p>
        </p:txBody>
      </p:sp>
      <p:sp>
        <p:nvSpPr>
          <p:cNvPr id="184" name="Google Shape;184;p9"/>
          <p:cNvSpPr txBox="1"/>
          <p:nvPr/>
        </p:nvSpPr>
        <p:spPr>
          <a:xfrm>
            <a:off x="1219200" y="4292600"/>
            <a:ext cx="34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Bottom-left of the taskbar — the front door to every app and setting.</a:t>
            </a:r>
            <a:endParaRPr b="0" i="0" sz="1200" u="none" cap="none" strike="noStrike"/>
          </a:p>
        </p:txBody>
      </p:sp>
      <p:sp>
        <p:nvSpPr>
          <p:cNvPr id="185" name="Google Shape;185;p9"/>
          <p:cNvSpPr txBox="1"/>
          <p:nvPr/>
        </p:nvSpPr>
        <p:spPr>
          <a:xfrm>
            <a:off x="812800" y="49022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800" u="none" cap="none" strike="noStrike"/>
          </a:p>
        </p:txBody>
      </p:sp>
      <p:sp>
        <p:nvSpPr>
          <p:cNvPr id="186" name="Google Shape;186;p9"/>
          <p:cNvSpPr txBox="1"/>
          <p:nvPr/>
        </p:nvSpPr>
        <p:spPr>
          <a:xfrm>
            <a:off x="1219200" y="49022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PINNED &amp; OPEN APPS</a:t>
            </a:r>
            <a:endParaRPr b="0" i="0" sz="1500" u="none" cap="none" strike="noStrike"/>
          </a:p>
        </p:txBody>
      </p:sp>
      <p:sp>
        <p:nvSpPr>
          <p:cNvPr id="187" name="Google Shape;187;p9"/>
          <p:cNvSpPr txBox="1"/>
          <p:nvPr/>
        </p:nvSpPr>
        <p:spPr>
          <a:xfrm>
            <a:off x="1219200" y="5207000"/>
            <a:ext cx="34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Your pinned favorites. A line under an icon means it's running.</a:t>
            </a:r>
            <a:endParaRPr b="0" i="0" sz="1200" u="none" cap="none" strike="noStrike"/>
          </a:p>
        </p:txBody>
      </p:sp>
      <p:sp>
        <p:nvSpPr>
          <p:cNvPr id="188" name="Google Shape;188;p9"/>
          <p:cNvSpPr txBox="1"/>
          <p:nvPr/>
        </p:nvSpPr>
        <p:spPr>
          <a:xfrm>
            <a:off x="812800" y="581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5</a:t>
            </a:r>
            <a:endParaRPr b="0" i="0" sz="1800" u="none" cap="none" strike="noStrike"/>
          </a:p>
        </p:txBody>
      </p:sp>
      <p:sp>
        <p:nvSpPr>
          <p:cNvPr id="189" name="Google Shape;189;p9"/>
          <p:cNvSpPr txBox="1"/>
          <p:nvPr/>
        </p:nvSpPr>
        <p:spPr>
          <a:xfrm>
            <a:off x="1219200" y="5816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TRAY &amp; CLOCK</a:t>
            </a:r>
            <a:endParaRPr b="0" i="0" sz="1500" u="none" cap="none" strike="noStrike"/>
          </a:p>
        </p:txBody>
      </p:sp>
      <p:sp>
        <p:nvSpPr>
          <p:cNvPr id="190" name="Google Shape;190;p9"/>
          <p:cNvSpPr txBox="1"/>
          <p:nvPr/>
        </p:nvSpPr>
        <p:spPr>
          <a:xfrm>
            <a:off x="1219200" y="6121400"/>
            <a:ext cx="34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Wi-Fi, volume, battery, and time — click the corner for quick settings.</a:t>
            </a:r>
            <a:endParaRPr b="0" i="0" sz="1200" u="none" cap="none" strike="noStrike"/>
          </a:p>
        </p:txBody>
      </p:sp>
      <p:sp>
        <p:nvSpPr>
          <p:cNvPr id="191" name="Google Shape;191;p9"/>
          <p:cNvSpPr txBox="1"/>
          <p:nvPr/>
        </p:nvSpPr>
        <p:spPr>
          <a:xfrm>
            <a:off x="5080000" y="6070600"/>
            <a:ext cx="629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Schematic — your desktop will look busier; the zones never change.</a:t>
            </a:r>
            <a:endParaRPr b="0" i="0" sz="1100" u="none" cap="none" strike="noStrike"/>
          </a:p>
        </p:txBody>
      </p:sp>
      <p:sp>
        <p:nvSpPr>
          <p:cNvPr id="192" name="Google Shape;192;p9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STOP 03 · THE DESKTOP</a:t>
            </a:r>
            <a:endParaRPr b="0" i="0" sz="1200" u="none" cap="none" strike="noStrike"/>
          </a:p>
        </p:txBody>
      </p:sp>
      <p:sp>
        <p:nvSpPr>
          <p:cNvPr id="198" name="Google Shape;198;p10"/>
          <p:cNvSpPr txBox="1"/>
          <p:nvPr/>
        </p:nvSpPr>
        <p:spPr>
          <a:xfrm>
            <a:off x="812800" y="889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TASKBAR, ZONE BY ZONE</a:t>
            </a:r>
            <a:endParaRPr b="0" i="0" sz="3200" u="none" cap="none" strike="noStrike"/>
          </a:p>
        </p:txBody>
      </p:sp>
      <p:sp>
        <p:nvSpPr>
          <p:cNvPr id="199" name="Google Shape;199;p10"/>
          <p:cNvSpPr/>
          <p:nvPr/>
        </p:nvSpPr>
        <p:spPr>
          <a:xfrm>
            <a:off x="812800" y="2362200"/>
            <a:ext cx="10566400" cy="9144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098800" y="2362200"/>
            <a:ext cx="1270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384800" y="2362200"/>
            <a:ext cx="1270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8940800" y="2362200"/>
            <a:ext cx="1270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1219200" y="2616200"/>
            <a:ext cx="406400" cy="406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3505200" y="2616200"/>
            <a:ext cx="330200" cy="330200"/>
          </a:xfrm>
          <a:prstGeom prst="ellipse">
            <a:avLst/>
          </a:prstGeom>
          <a:noFill/>
          <a:ln cap="flat" cmpd="sng" w="381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3784600" y="2921000"/>
            <a:ext cx="152400" cy="152400"/>
          </a:xfrm>
          <a:custGeom>
            <a:rect b="b" l="l" r="r" t="t"/>
            <a:pathLst>
              <a:path extrusionOk="0" h="12" w="12">
                <a:moveTo>
                  <a:pt x="0" y="0"/>
                </a:moveTo>
                <a:lnTo>
                  <a:pt x="12" y="12"/>
                </a:lnTo>
              </a:path>
            </a:pathLst>
          </a:custGeom>
          <a:noFill/>
          <a:ln cap="flat" cmpd="sng" w="381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"/>
          <p:cNvSpPr/>
          <p:nvPr/>
        </p:nvSpPr>
        <p:spPr>
          <a:xfrm>
            <a:off x="5867400" y="2641600"/>
            <a:ext cx="355600" cy="3556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867400" y="3048000"/>
            <a:ext cx="355600" cy="381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6375400" y="2641600"/>
            <a:ext cx="355600" cy="3556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883400" y="2641600"/>
            <a:ext cx="355600" cy="3556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9398000" y="2667000"/>
            <a:ext cx="203200" cy="2032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9677400" y="2667000"/>
            <a:ext cx="203200" cy="2032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10058400" y="2641600"/>
            <a:ext cx="1117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9:41 AM</a:t>
            </a:r>
            <a:endParaRPr b="0" i="0" sz="1400" u="none" cap="none" strike="noStrike"/>
          </a:p>
        </p:txBody>
      </p:sp>
      <p:sp>
        <p:nvSpPr>
          <p:cNvPr id="213" name="Google Shape;213;p10"/>
          <p:cNvSpPr txBox="1"/>
          <p:nvPr/>
        </p:nvSpPr>
        <p:spPr>
          <a:xfrm>
            <a:off x="812800" y="36576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1 · START</a:t>
            </a:r>
            <a:endParaRPr b="0" i="0" sz="1500" u="none" cap="none" strike="noStrike"/>
          </a:p>
        </p:txBody>
      </p:sp>
      <p:sp>
        <p:nvSpPr>
          <p:cNvPr id="214" name="Google Shape;214;p10"/>
          <p:cNvSpPr txBox="1"/>
          <p:nvPr/>
        </p:nvSpPr>
        <p:spPr>
          <a:xfrm>
            <a:off x="812800" y="39878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Every app and setting on the PC starts here.</a:t>
            </a:r>
            <a:endParaRPr b="0" i="0" sz="1200" u="none" cap="none" strike="noStrike"/>
          </a:p>
        </p:txBody>
      </p:sp>
      <p:sp>
        <p:nvSpPr>
          <p:cNvPr id="215" name="Google Shape;215;p10"/>
          <p:cNvSpPr txBox="1"/>
          <p:nvPr/>
        </p:nvSpPr>
        <p:spPr>
          <a:xfrm>
            <a:off x="3098800" y="36576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2 · SEARCH</a:t>
            </a:r>
            <a:endParaRPr b="0" i="0" sz="1500" u="none" cap="none" strike="noStrike"/>
          </a:p>
        </p:txBody>
      </p:sp>
      <p:sp>
        <p:nvSpPr>
          <p:cNvPr id="216" name="Google Shape;216;p10"/>
          <p:cNvSpPr txBox="1"/>
          <p:nvPr/>
        </p:nvSpPr>
        <p:spPr>
          <a:xfrm>
            <a:off x="3098800" y="39878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Type a few letters to find apps, files, and settings.</a:t>
            </a:r>
            <a:endParaRPr b="0" i="0" sz="1200" u="none" cap="none" strike="noStrike"/>
          </a:p>
        </p:txBody>
      </p:sp>
      <p:sp>
        <p:nvSpPr>
          <p:cNvPr id="217" name="Google Shape;217;p10"/>
          <p:cNvSpPr txBox="1"/>
          <p:nvPr/>
        </p:nvSpPr>
        <p:spPr>
          <a:xfrm>
            <a:off x="5384800" y="36576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3 · PINNED &amp; RUNNING</a:t>
            </a:r>
            <a:endParaRPr b="0" i="0" sz="1500" u="none" cap="none" strike="noStrike"/>
          </a:p>
        </p:txBody>
      </p:sp>
      <p:sp>
        <p:nvSpPr>
          <p:cNvPr id="218" name="Google Shape;218;p10"/>
          <p:cNvSpPr txBox="1"/>
          <p:nvPr/>
        </p:nvSpPr>
        <p:spPr>
          <a:xfrm>
            <a:off x="5384800" y="3987800"/>
            <a:ext cx="3403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Pinned favorites live here. A line under an icon means the app is open.</a:t>
            </a:r>
            <a:endParaRPr b="0" i="0" sz="1200" u="none" cap="none" strike="noStrike"/>
          </a:p>
        </p:txBody>
      </p:sp>
      <p:sp>
        <p:nvSpPr>
          <p:cNvPr id="219" name="Google Shape;219;p10"/>
          <p:cNvSpPr txBox="1"/>
          <p:nvPr/>
        </p:nvSpPr>
        <p:spPr>
          <a:xfrm>
            <a:off x="8940800" y="3657600"/>
            <a:ext cx="24384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4 · TRAY &amp; CLOCK</a:t>
            </a:r>
            <a:endParaRPr b="0" i="0" sz="1500" u="none" cap="none" strike="noStrike"/>
          </a:p>
        </p:txBody>
      </p:sp>
      <p:sp>
        <p:nvSpPr>
          <p:cNvPr id="220" name="Google Shape;220;p10"/>
          <p:cNvSpPr txBox="1"/>
          <p:nvPr/>
        </p:nvSpPr>
        <p:spPr>
          <a:xfrm>
            <a:off x="8940800" y="3987800"/>
            <a:ext cx="2438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Wi-Fi, volume, battery, time. Click the corner for quick settings.</a:t>
            </a:r>
            <a:endParaRPr b="0" i="0" sz="120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812800" y="59436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Pin your top five tools:</a:t>
            </a: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right-click any app → Pin to taskbar.</a:t>
            </a:r>
            <a:endParaRPr b="0" i="0" sz="1300" u="none" cap="none" strike="noStrike"/>
          </a:p>
        </p:txBody>
      </p:sp>
      <p:sp>
        <p:nvSpPr>
          <p:cNvPr id="223" name="Google Shape;223;p10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04 · SETTINGS</a:t>
            </a:r>
            <a:endParaRPr b="0" i="0" sz="1200" u="none" cap="none" strike="noStrike"/>
          </a:p>
        </p:txBody>
      </p:sp>
      <p:sp>
        <p:nvSpPr>
          <p:cNvPr id="229" name="Google Shape;229;p11"/>
          <p:cNvSpPr txBox="1"/>
          <p:nvPr/>
        </p:nvSpPr>
        <p:spPr>
          <a:xfrm>
            <a:off x="812800" y="889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ONE MENU RUNS THE WHOLE PC</a:t>
            </a:r>
            <a:endParaRPr b="0" i="0" sz="3200" u="none" cap="none" strike="noStrike"/>
          </a:p>
        </p:txBody>
      </p:sp>
      <p:sp>
        <p:nvSpPr>
          <p:cNvPr id="230" name="Google Shape;230;p11"/>
          <p:cNvSpPr txBox="1"/>
          <p:nvPr/>
        </p:nvSpPr>
        <p:spPr>
          <a:xfrm>
            <a:off x="812800" y="152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The Settings app is where you change how Windows looks, connects, updates, and behaves.</a:t>
            </a:r>
            <a:endParaRPr b="0" i="0" sz="1500" u="none" cap="none" strike="noStrike"/>
          </a:p>
        </p:txBody>
      </p:sp>
      <p:sp>
        <p:nvSpPr>
          <p:cNvPr id="231" name="Google Shape;231;p11"/>
          <p:cNvSpPr txBox="1"/>
          <p:nvPr/>
        </p:nvSpPr>
        <p:spPr>
          <a:xfrm>
            <a:off x="812800" y="21336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HOW TO OPEN IT</a:t>
            </a:r>
            <a:endParaRPr b="0" i="0" sz="1100" u="none" cap="none" strike="noStrike"/>
          </a:p>
        </p:txBody>
      </p:sp>
      <p:sp>
        <p:nvSpPr>
          <p:cNvPr id="232" name="Google Shape;232;p11"/>
          <p:cNvSpPr txBox="1"/>
          <p:nvPr/>
        </p:nvSpPr>
        <p:spPr>
          <a:xfrm>
            <a:off x="812800" y="2489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Press Win + I</a:t>
            </a:r>
            <a:endParaRPr b="0" i="0" sz="1500" u="none" cap="none" strike="noStrike"/>
          </a:p>
        </p:txBody>
      </p:sp>
      <p:sp>
        <p:nvSpPr>
          <p:cNvPr id="233" name="Google Shape;233;p11"/>
          <p:cNvSpPr txBox="1"/>
          <p:nvPr/>
        </p:nvSpPr>
        <p:spPr>
          <a:xfrm>
            <a:off x="812800" y="2794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The fastest way — works from anywhere.</a:t>
            </a:r>
            <a:endParaRPr b="0" i="0" sz="1300" u="none" cap="none" strike="noStrike"/>
          </a:p>
        </p:txBody>
      </p:sp>
      <p:sp>
        <p:nvSpPr>
          <p:cNvPr id="234" name="Google Shape;234;p11"/>
          <p:cNvSpPr/>
          <p:nvPr/>
        </p:nvSpPr>
        <p:spPr>
          <a:xfrm>
            <a:off x="812800" y="3175000"/>
            <a:ext cx="43180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812800" y="33528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Start → Settings</a:t>
            </a:r>
            <a:endParaRPr b="0" i="0" sz="1500" u="none" cap="none" strike="noStrike"/>
          </a:p>
        </p:txBody>
      </p:sp>
      <p:sp>
        <p:nvSpPr>
          <p:cNvPr id="236" name="Google Shape;236;p11"/>
          <p:cNvSpPr txBox="1"/>
          <p:nvPr/>
        </p:nvSpPr>
        <p:spPr>
          <a:xfrm>
            <a:off x="812800" y="36576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Look for the little gear icon.</a:t>
            </a:r>
            <a:endParaRPr b="0" i="0" sz="1300" u="none" cap="none" strike="noStrike"/>
          </a:p>
        </p:txBody>
      </p:sp>
      <p:sp>
        <p:nvSpPr>
          <p:cNvPr id="237" name="Google Shape;237;p11"/>
          <p:cNvSpPr/>
          <p:nvPr/>
        </p:nvSpPr>
        <p:spPr>
          <a:xfrm>
            <a:off x="812800" y="4038600"/>
            <a:ext cx="43180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812800" y="42164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Right-click Start → Settings</a:t>
            </a:r>
            <a:endParaRPr b="0" i="0" sz="1500" u="none" cap="none" strike="noStrike"/>
          </a:p>
        </p:txBody>
      </p:sp>
      <p:sp>
        <p:nvSpPr>
          <p:cNvPr id="239" name="Google Shape;239;p11"/>
          <p:cNvSpPr txBox="1"/>
          <p:nvPr/>
        </p:nvSpPr>
        <p:spPr>
          <a:xfrm>
            <a:off x="812800" y="45212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The admin shortcut menu strikes again.</a:t>
            </a:r>
            <a:endParaRPr b="0" i="0" sz="1300" u="none" cap="none" strike="noStrike"/>
          </a:p>
        </p:txBody>
      </p:sp>
      <p:sp>
        <p:nvSpPr>
          <p:cNvPr id="240" name="Google Shape;240;p11"/>
          <p:cNvSpPr txBox="1"/>
          <p:nvPr/>
        </p:nvSpPr>
        <p:spPr>
          <a:xfrm>
            <a:off x="812800" y="52070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Don't browse — search.</a:t>
            </a:r>
            <a:endParaRPr b="0" i="0" sz="1900" u="none" cap="none" strike="noStrike"/>
          </a:p>
        </p:txBody>
      </p:sp>
      <p:sp>
        <p:nvSpPr>
          <p:cNvPr id="241" name="Google Shape;241;p11"/>
          <p:cNvSpPr txBox="1"/>
          <p:nvPr/>
        </p:nvSpPr>
        <p:spPr>
          <a:xfrm>
            <a:off x="812800" y="56134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Type what you want in the Settings search box — "display", "password", "Wi-Fi" — and jump straight to it.</a:t>
            </a:r>
            <a:endParaRPr b="0" i="0" sz="130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6096000" y="2032000"/>
            <a:ext cx="5283200" cy="4064000"/>
          </a:xfrm>
          <a:prstGeom prst="rect">
            <a:avLst/>
          </a:prstGeom>
          <a:solidFill>
            <a:srgbClr val="F3E8D4"/>
          </a:solidFill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096000" y="2032000"/>
            <a:ext cx="1524000" cy="40640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299200" y="2489200"/>
            <a:ext cx="9144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6299200" y="2844800"/>
            <a:ext cx="11176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299200" y="3200400"/>
            <a:ext cx="8128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299200" y="3556000"/>
            <a:ext cx="1016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7874000" y="2286000"/>
            <a:ext cx="3200400" cy="3302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8001000" y="2336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Find a setting</a:t>
            </a:r>
            <a:endParaRPr b="0" i="0" sz="1200" u="none" cap="none" strike="noStrike"/>
          </a:p>
        </p:txBody>
      </p:sp>
      <p:sp>
        <p:nvSpPr>
          <p:cNvPr id="250" name="Google Shape;250;p11"/>
          <p:cNvSpPr/>
          <p:nvPr/>
        </p:nvSpPr>
        <p:spPr>
          <a:xfrm>
            <a:off x="7874000" y="2997200"/>
            <a:ext cx="2794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7874000" y="3276600"/>
            <a:ext cx="2286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7874000" y="3556000"/>
            <a:ext cx="2540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7874000" y="3835400"/>
            <a:ext cx="1905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6096000" y="6197600"/>
            <a:ext cx="5283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Schematic — categories down the side, search on top.</a:t>
            </a:r>
            <a:endParaRPr b="0" i="0" sz="1100" u="none" cap="none" strike="noStrike"/>
          </a:p>
        </p:txBody>
      </p:sp>
      <p:sp>
        <p:nvSpPr>
          <p:cNvPr id="255" name="Google Shape;255;p11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09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/>
        </p:nvSpPr>
        <p:spPr>
          <a:xfrm>
            <a:off x="812800" y="5588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STOP 04 · SETTINGS</a:t>
            </a:r>
            <a:endParaRPr b="0" i="0" sz="1200" u="none" cap="none" strike="noStrike"/>
          </a:p>
        </p:txBody>
      </p:sp>
      <p:sp>
        <p:nvSpPr>
          <p:cNvPr id="261" name="Google Shape;261;p12"/>
          <p:cNvSpPr txBox="1"/>
          <p:nvPr/>
        </p:nvSpPr>
        <p:spPr>
          <a:xfrm>
            <a:off x="812800" y="889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FIVE PANELS YOU'LL LIVE IN</a:t>
            </a:r>
            <a:endParaRPr b="0" i="0" sz="3200" u="none" cap="none" strike="noStrike"/>
          </a:p>
        </p:txBody>
      </p:sp>
      <p:sp>
        <p:nvSpPr>
          <p:cNvPr id="262" name="Google Shape;262;p12"/>
          <p:cNvSpPr txBox="1"/>
          <p:nvPr/>
        </p:nvSpPr>
        <p:spPr>
          <a:xfrm>
            <a:off x="812800" y="1930400"/>
            <a:ext cx="16510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5</a:t>
            </a:r>
            <a:endParaRPr b="0" i="0" sz="9200" u="none" cap="none" strike="noStrike"/>
          </a:p>
        </p:txBody>
      </p:sp>
      <p:sp>
        <p:nvSpPr>
          <p:cNvPr id="263" name="Google Shape;263;p12"/>
          <p:cNvSpPr txBox="1"/>
          <p:nvPr/>
        </p:nvSpPr>
        <p:spPr>
          <a:xfrm>
            <a:off x="812800" y="33274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panels cover most of your week</a:t>
            </a:r>
            <a:endParaRPr b="0" i="0" sz="1200" u="none" cap="none" strike="noStrike"/>
          </a:p>
        </p:txBody>
      </p:sp>
      <p:sp>
        <p:nvSpPr>
          <p:cNvPr id="264" name="Google Shape;264;p12"/>
          <p:cNvSpPr txBox="1"/>
          <p:nvPr/>
        </p:nvSpPr>
        <p:spPr>
          <a:xfrm>
            <a:off x="3810000" y="19050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SYSTEM</a:t>
            </a:r>
            <a:endParaRPr b="0" i="0" sz="1700" u="none" cap="none" strike="noStrike"/>
          </a:p>
        </p:txBody>
      </p:sp>
      <p:sp>
        <p:nvSpPr>
          <p:cNvPr id="265" name="Google Shape;265;p12"/>
          <p:cNvSpPr txBox="1"/>
          <p:nvPr/>
        </p:nvSpPr>
        <p:spPr>
          <a:xfrm>
            <a:off x="6604000" y="1930400"/>
            <a:ext cx="4775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Display, sound, storage, battery, and "About this PC".</a:t>
            </a:r>
            <a:endParaRPr b="0" i="0" sz="1300" u="none" cap="none" strike="noStrike"/>
          </a:p>
        </p:txBody>
      </p:sp>
      <p:sp>
        <p:nvSpPr>
          <p:cNvPr id="266" name="Google Shape;266;p12"/>
          <p:cNvSpPr/>
          <p:nvPr/>
        </p:nvSpPr>
        <p:spPr>
          <a:xfrm>
            <a:off x="3810000" y="25400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3810000" y="26924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NETWORK &amp; INTERNET</a:t>
            </a:r>
            <a:endParaRPr b="0" i="0" sz="1700" u="none" cap="none" strike="noStrike"/>
          </a:p>
        </p:txBody>
      </p:sp>
      <p:sp>
        <p:nvSpPr>
          <p:cNvPr id="268" name="Google Shape;268;p12"/>
          <p:cNvSpPr txBox="1"/>
          <p:nvPr/>
        </p:nvSpPr>
        <p:spPr>
          <a:xfrm>
            <a:off x="6604000" y="2717800"/>
            <a:ext cx="4775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Wi-Fi, Ethernet, VPN, and airplane mode.</a:t>
            </a:r>
            <a:endParaRPr b="0" i="0" sz="1300" u="none" cap="none" strike="noStrike"/>
          </a:p>
        </p:txBody>
      </p:sp>
      <p:sp>
        <p:nvSpPr>
          <p:cNvPr id="269" name="Google Shape;269;p12"/>
          <p:cNvSpPr/>
          <p:nvPr/>
        </p:nvSpPr>
        <p:spPr>
          <a:xfrm>
            <a:off x="3810000" y="33274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3810000" y="34798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ACCOUNTS</a:t>
            </a:r>
            <a:endParaRPr b="0" i="0" sz="1700" u="none" cap="none" strike="noStrike"/>
          </a:p>
        </p:txBody>
      </p:sp>
      <p:sp>
        <p:nvSpPr>
          <p:cNvPr id="271" name="Google Shape;271;p12"/>
          <p:cNvSpPr txBox="1"/>
          <p:nvPr/>
        </p:nvSpPr>
        <p:spPr>
          <a:xfrm>
            <a:off x="6604000" y="3505200"/>
            <a:ext cx="4775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Sign-in options, password &amp; PIN, and other users.</a:t>
            </a:r>
            <a:endParaRPr b="0" i="0" sz="1300" u="none" cap="none" strike="noStrike"/>
          </a:p>
        </p:txBody>
      </p:sp>
      <p:sp>
        <p:nvSpPr>
          <p:cNvPr id="272" name="Google Shape;272;p12"/>
          <p:cNvSpPr/>
          <p:nvPr/>
        </p:nvSpPr>
        <p:spPr>
          <a:xfrm>
            <a:off x="3810000" y="41148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3810000" y="42672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WINDOWS UPDATE</a:t>
            </a:r>
            <a:endParaRPr b="0" i="0" sz="1700" u="none" cap="none" strike="noStrike"/>
          </a:p>
        </p:txBody>
      </p:sp>
      <p:sp>
        <p:nvSpPr>
          <p:cNvPr id="274" name="Google Shape;274;p12"/>
          <p:cNvSpPr txBox="1"/>
          <p:nvPr/>
        </p:nvSpPr>
        <p:spPr>
          <a:xfrm>
            <a:off x="6604000" y="4292600"/>
            <a:ext cx="4775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Security patches and restart scheduling.</a:t>
            </a:r>
            <a:endParaRPr b="0" i="0" sz="1300" u="none" cap="none" strike="noStrike"/>
          </a:p>
        </p:txBody>
      </p:sp>
      <p:sp>
        <p:nvSpPr>
          <p:cNvPr id="275" name="Google Shape;275;p12"/>
          <p:cNvSpPr/>
          <p:nvPr/>
        </p:nvSpPr>
        <p:spPr>
          <a:xfrm>
            <a:off x="3810000" y="49022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 txBox="1"/>
          <p:nvPr/>
        </p:nvSpPr>
        <p:spPr>
          <a:xfrm>
            <a:off x="3810000" y="50546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PERSONALIZATION</a:t>
            </a:r>
            <a:endParaRPr b="0" i="0" sz="1700" u="none" cap="none" strike="noStrike"/>
          </a:p>
        </p:txBody>
      </p:sp>
      <p:sp>
        <p:nvSpPr>
          <p:cNvPr id="277" name="Google Shape;277;p12"/>
          <p:cNvSpPr txBox="1"/>
          <p:nvPr/>
        </p:nvSpPr>
        <p:spPr>
          <a:xfrm>
            <a:off x="6604000" y="5080000"/>
            <a:ext cx="4775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Wallpaper, colors, and the lock screen picture.</a:t>
            </a:r>
            <a:endParaRPr b="0" i="0" sz="1300" u="none" cap="none" strike="noStrike"/>
          </a:p>
        </p:txBody>
      </p:sp>
      <p:sp>
        <p:nvSpPr>
          <p:cNvPr id="278" name="Google Shape;278;p12"/>
          <p:cNvSpPr/>
          <p:nvPr/>
        </p:nvSpPr>
        <p:spPr>
          <a:xfrm>
            <a:off x="3810000" y="5689600"/>
            <a:ext cx="7569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812800" y="6070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Control Panel still exists for old-school tools — Settings covers about 90% of daily admin work.</a:t>
            </a:r>
            <a:endParaRPr b="0" i="0" sz="1300" u="none" cap="none" strike="noStrike"/>
          </a:p>
        </p:txBody>
      </p:sp>
      <p:sp>
        <p:nvSpPr>
          <p:cNvPr id="280" name="Google Shape;280;p12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05 · TASK MANAGER</a:t>
            </a:r>
            <a:endParaRPr b="0" i="0" sz="1200" u="none" cap="none" strike="noStrike"/>
          </a:p>
        </p:txBody>
      </p:sp>
      <p:sp>
        <p:nvSpPr>
          <p:cNvPr id="286" name="Google Shape;286;p13"/>
          <p:cNvSpPr txBox="1"/>
          <p:nvPr/>
        </p:nvSpPr>
        <p:spPr>
          <a:xfrm>
            <a:off x="812800" y="889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YOUR PC'S DASHBOARD</a:t>
            </a:r>
            <a:endParaRPr b="0" i="0" sz="3200" u="none" cap="none" strike="noStrike"/>
          </a:p>
        </p:txBody>
      </p:sp>
      <p:sp>
        <p:nvSpPr>
          <p:cNvPr id="287" name="Google Shape;287;p13"/>
          <p:cNvSpPr txBox="1"/>
          <p:nvPr/>
        </p:nvSpPr>
        <p:spPr>
          <a:xfrm>
            <a:off x="812800" y="1524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Task Manager shows everything running on the PC and how hard each part is working. It's your first stop when something feels slow or stuck.</a:t>
            </a:r>
            <a:endParaRPr b="0" i="0" sz="1500" u="none" cap="none" strike="noStrike"/>
          </a:p>
        </p:txBody>
      </p:sp>
      <p:sp>
        <p:nvSpPr>
          <p:cNvPr id="288" name="Google Shape;288;p13"/>
          <p:cNvSpPr txBox="1"/>
          <p:nvPr/>
        </p:nvSpPr>
        <p:spPr>
          <a:xfrm>
            <a:off x="812800" y="22352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OPEN IT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Ctrl + Shift + Esc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(fastest) · Ctrl + Alt + Del → Task Manager · right-click the taskbar</a:t>
            </a:r>
            <a:endParaRPr b="0" i="0" sz="1500" u="none" cap="none" strike="noStrike"/>
          </a:p>
        </p:txBody>
      </p:sp>
      <p:sp>
        <p:nvSpPr>
          <p:cNvPr id="289" name="Google Shape;289;p13"/>
          <p:cNvSpPr/>
          <p:nvPr/>
        </p:nvSpPr>
        <p:spPr>
          <a:xfrm>
            <a:off x="812800" y="2743200"/>
            <a:ext cx="105664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812800" y="30226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PROCESSES</a:t>
            </a:r>
            <a:endParaRPr b="0" i="0" sz="1600" u="none" cap="none" strike="noStrike"/>
          </a:p>
        </p:txBody>
      </p:sp>
      <p:sp>
        <p:nvSpPr>
          <p:cNvPr id="291" name="Google Shape;291;p13"/>
          <p:cNvSpPr txBox="1"/>
          <p:nvPr/>
        </p:nvSpPr>
        <p:spPr>
          <a:xfrm>
            <a:off x="3429000" y="3048000"/>
            <a:ext cx="7950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Everything running right now, and how much CPU and memory each one is using.</a:t>
            </a:r>
            <a:endParaRPr b="0" i="0" sz="1300" u="none" cap="none" strike="noStrike"/>
          </a:p>
        </p:txBody>
      </p:sp>
      <p:sp>
        <p:nvSpPr>
          <p:cNvPr id="292" name="Google Shape;292;p13"/>
          <p:cNvSpPr/>
          <p:nvPr/>
        </p:nvSpPr>
        <p:spPr>
          <a:xfrm>
            <a:off x="812800" y="36576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812800" y="3835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PERFORMANCE</a:t>
            </a:r>
            <a:endParaRPr b="0" i="0" sz="1600" u="none" cap="none" strike="noStrike"/>
          </a:p>
        </p:txBody>
      </p:sp>
      <p:sp>
        <p:nvSpPr>
          <p:cNvPr id="294" name="Google Shape;294;p13"/>
          <p:cNvSpPr txBox="1"/>
          <p:nvPr/>
        </p:nvSpPr>
        <p:spPr>
          <a:xfrm>
            <a:off x="3429000" y="3860800"/>
            <a:ext cx="7950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Live graphs for CPU, memory, disk, and network — the PC's vital signs.</a:t>
            </a:r>
            <a:endParaRPr b="0" i="0" sz="1300" u="none" cap="none" strike="noStrike"/>
          </a:p>
        </p:txBody>
      </p:sp>
      <p:sp>
        <p:nvSpPr>
          <p:cNvPr id="295" name="Google Shape;295;p13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812800" y="46482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STARTUP APPS</a:t>
            </a:r>
            <a:endParaRPr b="0" i="0" sz="1600" u="none" cap="none" strike="noStrike"/>
          </a:p>
        </p:txBody>
      </p:sp>
      <p:sp>
        <p:nvSpPr>
          <p:cNvPr id="297" name="Google Shape;297;p13"/>
          <p:cNvSpPr txBox="1"/>
          <p:nvPr/>
        </p:nvSpPr>
        <p:spPr>
          <a:xfrm>
            <a:off x="3429000" y="4673600"/>
            <a:ext cx="7950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What launches itself at sign-in — disabling heavy ones speeds up boot.</a:t>
            </a:r>
            <a:endParaRPr b="0" i="0" sz="1300" u="none" cap="none" strike="noStrike"/>
          </a:p>
        </p:txBody>
      </p:sp>
      <p:sp>
        <p:nvSpPr>
          <p:cNvPr id="298" name="Google Shape;298;p13"/>
          <p:cNvSpPr/>
          <p:nvPr/>
        </p:nvSpPr>
        <p:spPr>
          <a:xfrm>
            <a:off x="812800" y="52832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812800" y="5461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USERS</a:t>
            </a:r>
            <a:endParaRPr b="0" i="0" sz="1600" u="none" cap="none" strike="noStrike"/>
          </a:p>
        </p:txBody>
      </p:sp>
      <p:sp>
        <p:nvSpPr>
          <p:cNvPr id="300" name="Google Shape;300;p13"/>
          <p:cNvSpPr txBox="1"/>
          <p:nvPr/>
        </p:nvSpPr>
        <p:spPr>
          <a:xfrm>
            <a:off x="3429000" y="5486400"/>
            <a:ext cx="7950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Who is signed in and what they're running — useful on shared machines.</a:t>
            </a:r>
            <a:endParaRPr b="0" i="0" sz="1300" u="none" cap="none" strike="noStrike"/>
          </a:p>
        </p:txBody>
      </p:sp>
      <p:sp>
        <p:nvSpPr>
          <p:cNvPr id="301" name="Google Shape;301;p13"/>
          <p:cNvSpPr/>
          <p:nvPr/>
        </p:nvSpPr>
        <p:spPr>
          <a:xfrm>
            <a:off x="812800" y="60960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11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/>
          <p:nvPr/>
        </p:nvSpPr>
        <p:spPr>
          <a:xfrm>
            <a:off x="812800" y="558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05 · TASK MANAGER · DEMO</a:t>
            </a:r>
            <a:endParaRPr b="0" i="0" sz="1200" u="none" cap="none" strike="noStrike"/>
          </a:p>
        </p:txBody>
      </p:sp>
      <p:sp>
        <p:nvSpPr>
          <p:cNvPr id="308" name="Google Shape;308;p14"/>
          <p:cNvSpPr txBox="1"/>
          <p:nvPr/>
        </p:nvSpPr>
        <p:spPr>
          <a:xfrm>
            <a:off x="812800" y="889000"/>
            <a:ext cx="8636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UNFREEZE AN APP IN 4 STEPS</a:t>
            </a:r>
            <a:endParaRPr b="0" i="0" sz="3200" u="none" cap="none" strike="noStrike"/>
          </a:p>
        </p:txBody>
      </p:sp>
      <p:sp>
        <p:nvSpPr>
          <p:cNvPr id="309" name="Google Shape;309;p14"/>
          <p:cNvSpPr txBox="1"/>
          <p:nvPr/>
        </p:nvSpPr>
        <p:spPr>
          <a:xfrm>
            <a:off x="812800" y="19050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2200" u="none" cap="none" strike="noStrike"/>
          </a:p>
        </p:txBody>
      </p:sp>
      <p:sp>
        <p:nvSpPr>
          <p:cNvPr id="310" name="Google Shape;310;p14"/>
          <p:cNvSpPr txBox="1"/>
          <p:nvPr/>
        </p:nvSpPr>
        <p:spPr>
          <a:xfrm>
            <a:off x="1346200" y="19050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Open Task Manager</a:t>
            </a:r>
            <a:endParaRPr b="0" i="0" sz="1600" u="none" cap="none" strike="noStrike"/>
          </a:p>
        </p:txBody>
      </p:sp>
      <p:sp>
        <p:nvSpPr>
          <p:cNvPr id="311" name="Google Shape;311;p14"/>
          <p:cNvSpPr txBox="1"/>
          <p:nvPr/>
        </p:nvSpPr>
        <p:spPr>
          <a:xfrm>
            <a:off x="1346200" y="22352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Ctrl + Shift + Esc — one hand, three keys.</a:t>
            </a:r>
            <a:endParaRPr b="0" i="0" sz="1300" u="none" cap="none" strike="noStrike"/>
          </a:p>
        </p:txBody>
      </p:sp>
      <p:sp>
        <p:nvSpPr>
          <p:cNvPr id="312" name="Google Shape;312;p14"/>
          <p:cNvSpPr/>
          <p:nvPr/>
        </p:nvSpPr>
        <p:spPr>
          <a:xfrm>
            <a:off x="812800" y="2692400"/>
            <a:ext cx="6350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812800" y="28956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2200" u="none" cap="none" strike="noStrike"/>
          </a:p>
        </p:txBody>
      </p:sp>
      <p:sp>
        <p:nvSpPr>
          <p:cNvPr id="314" name="Google Shape;314;p14"/>
          <p:cNvSpPr txBox="1"/>
          <p:nvPr/>
        </p:nvSpPr>
        <p:spPr>
          <a:xfrm>
            <a:off x="1346200" y="2895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Find the app on the Processes tab</a:t>
            </a:r>
            <a:endParaRPr b="0" i="0" sz="1600" u="none" cap="none" strike="noStrike"/>
          </a:p>
        </p:txBody>
      </p:sp>
      <p:sp>
        <p:nvSpPr>
          <p:cNvPr id="315" name="Google Shape;315;p14"/>
          <p:cNvSpPr txBox="1"/>
          <p:nvPr/>
        </p:nvSpPr>
        <p:spPr>
          <a:xfrm>
            <a:off x="1346200" y="32258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Look for the words "Not responding" next to its name.</a:t>
            </a:r>
            <a:endParaRPr b="0" i="0" sz="1300" u="none" cap="none" strike="noStrike"/>
          </a:p>
        </p:txBody>
      </p:sp>
      <p:sp>
        <p:nvSpPr>
          <p:cNvPr id="316" name="Google Shape;316;p14"/>
          <p:cNvSpPr/>
          <p:nvPr/>
        </p:nvSpPr>
        <p:spPr>
          <a:xfrm>
            <a:off x="812800" y="3683000"/>
            <a:ext cx="6350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812800" y="38862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2200" u="none" cap="none" strike="noStrike"/>
          </a:p>
        </p:txBody>
      </p:sp>
      <p:sp>
        <p:nvSpPr>
          <p:cNvPr id="318" name="Google Shape;318;p14"/>
          <p:cNvSpPr txBox="1"/>
          <p:nvPr/>
        </p:nvSpPr>
        <p:spPr>
          <a:xfrm>
            <a:off x="1346200" y="38862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Click it once, then click End task</a:t>
            </a:r>
            <a:endParaRPr b="0" i="0" sz="1600" u="none" cap="none" strike="noStrike"/>
          </a:p>
        </p:txBody>
      </p:sp>
      <p:sp>
        <p:nvSpPr>
          <p:cNvPr id="319" name="Google Shape;319;p14"/>
          <p:cNvSpPr txBox="1"/>
          <p:nvPr/>
        </p:nvSpPr>
        <p:spPr>
          <a:xfrm>
            <a:off x="1346200" y="42164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Windows closes just that app — nothing else.</a:t>
            </a:r>
            <a:endParaRPr b="0" i="0" sz="1300" u="none" cap="none" strike="noStrike"/>
          </a:p>
        </p:txBody>
      </p:sp>
      <p:sp>
        <p:nvSpPr>
          <p:cNvPr id="320" name="Google Shape;320;p14"/>
          <p:cNvSpPr/>
          <p:nvPr/>
        </p:nvSpPr>
        <p:spPr>
          <a:xfrm>
            <a:off x="812800" y="4673600"/>
            <a:ext cx="6350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812800" y="48768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2200" u="none" cap="none" strike="noStrike"/>
          </a:p>
        </p:txBody>
      </p:sp>
      <p:sp>
        <p:nvSpPr>
          <p:cNvPr id="322" name="Google Shape;322;p14"/>
          <p:cNvSpPr txBox="1"/>
          <p:nvPr/>
        </p:nvSpPr>
        <p:spPr>
          <a:xfrm>
            <a:off x="1346200" y="48768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Reopen the app and carry on</a:t>
            </a:r>
            <a:endParaRPr b="0" i="0" sz="1600" u="none" cap="none" strike="noStrike"/>
          </a:p>
        </p:txBody>
      </p:sp>
      <p:sp>
        <p:nvSpPr>
          <p:cNvPr id="323" name="Google Shape;323;p14"/>
          <p:cNvSpPr txBox="1"/>
          <p:nvPr/>
        </p:nvSpPr>
        <p:spPr>
          <a:xfrm>
            <a:off x="1346200" y="52070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Unsaved work inside that app is gone; everything else is safe.</a:t>
            </a:r>
            <a:endParaRPr b="0" i="0" sz="1300" u="none" cap="none" strike="noStrike"/>
          </a:p>
        </p:txBody>
      </p:sp>
      <p:sp>
        <p:nvSpPr>
          <p:cNvPr id="324" name="Google Shape;324;p14"/>
          <p:cNvSpPr/>
          <p:nvPr/>
        </p:nvSpPr>
        <p:spPr>
          <a:xfrm>
            <a:off x="812800" y="5664200"/>
            <a:ext cx="6350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8128000" y="19050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YOU DID IT RIGHT IF</a:t>
            </a:r>
            <a:endParaRPr b="0" i="0" sz="1100" u="none" cap="none" strike="noStrike"/>
          </a:p>
        </p:txBody>
      </p:sp>
      <p:sp>
        <p:nvSpPr>
          <p:cNvPr id="326" name="Google Shape;326;p14"/>
          <p:cNvSpPr txBox="1"/>
          <p:nvPr/>
        </p:nvSpPr>
        <p:spPr>
          <a:xfrm>
            <a:off x="8128000" y="2235200"/>
            <a:ext cx="3251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frozen window closes and your other apps stay open.</a:t>
            </a:r>
            <a:endParaRPr b="0" i="0" sz="1400" u="none" cap="none" strike="noStrike"/>
          </a:p>
        </p:txBody>
      </p:sp>
      <p:sp>
        <p:nvSpPr>
          <p:cNvPr id="327" name="Google Shape;327;p14"/>
          <p:cNvSpPr/>
          <p:nvPr/>
        </p:nvSpPr>
        <p:spPr>
          <a:xfrm>
            <a:off x="8128000" y="3276600"/>
            <a:ext cx="32512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8128000" y="35306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LAST RESORT RULE</a:t>
            </a:r>
            <a:endParaRPr b="0" i="0" sz="1100" u="none" cap="none" strike="noStrike"/>
          </a:p>
        </p:txBody>
      </p:sp>
      <p:sp>
        <p:nvSpPr>
          <p:cNvPr id="329" name="Google Shape;329;p14"/>
          <p:cNvSpPr txBox="1"/>
          <p:nvPr/>
        </p:nvSpPr>
        <p:spPr>
          <a:xfrm>
            <a:off x="8128000" y="3860800"/>
            <a:ext cx="32512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Wait 30 seconds first — many apps recover on their own. End task throws away unsaved work in that app only.</a:t>
            </a:r>
            <a:endParaRPr b="0" i="0" sz="1300" u="none" cap="none" strike="noStrike"/>
          </a:p>
        </p:txBody>
      </p:sp>
      <p:sp>
        <p:nvSpPr>
          <p:cNvPr id="330" name="Google Shape;330;p14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06 · SOFTWARE CENTER</a:t>
            </a:r>
            <a:endParaRPr b="0" i="0" sz="1200" u="none" cap="none" strike="noStrike"/>
          </a:p>
        </p:txBody>
      </p:sp>
      <p:sp>
        <p:nvSpPr>
          <p:cNvPr id="336" name="Google Shape;336;p15"/>
          <p:cNvSpPr txBox="1"/>
          <p:nvPr/>
        </p:nvSpPr>
        <p:spPr>
          <a:xfrm>
            <a:off x="812800" y="889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 COMPANY APP STORE</a:t>
            </a:r>
            <a:endParaRPr b="0" i="0" sz="3200" u="none" cap="none" strike="noStrike"/>
          </a:p>
        </p:txBody>
      </p:sp>
      <p:sp>
        <p:nvSpPr>
          <p:cNvPr id="337" name="Google Shape;337;p15"/>
          <p:cNvSpPr txBox="1"/>
          <p:nvPr/>
        </p:nvSpPr>
        <p:spPr>
          <a:xfrm>
            <a:off x="812800" y="1524000"/>
            <a:ext cx="9906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Software Center is where your organization hands out approved apps. Install what you need — no admin password, no sketchy downloads.</a:t>
            </a:r>
            <a:endParaRPr b="0" i="0" sz="1500" u="none" cap="none" strike="noStrike"/>
          </a:p>
        </p:txBody>
      </p:sp>
      <p:sp>
        <p:nvSpPr>
          <p:cNvPr id="338" name="Google Shape;338;p15"/>
          <p:cNvSpPr txBox="1"/>
          <p:nvPr/>
        </p:nvSpPr>
        <p:spPr>
          <a:xfrm>
            <a:off x="812800" y="2311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HOW IT WORKS</a:t>
            </a:r>
            <a:endParaRPr b="0" i="0" sz="1100" u="none" cap="none" strike="noStrike"/>
          </a:p>
        </p:txBody>
      </p:sp>
      <p:sp>
        <p:nvSpPr>
          <p:cNvPr id="339" name="Google Shape;339;p15"/>
          <p:cNvSpPr txBox="1"/>
          <p:nvPr/>
        </p:nvSpPr>
        <p:spPr>
          <a:xfrm>
            <a:off x="812800" y="26924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2000" u="none" cap="none" strike="noStrike"/>
          </a:p>
        </p:txBody>
      </p:sp>
      <p:sp>
        <p:nvSpPr>
          <p:cNvPr id="340" name="Google Shape;340;p15"/>
          <p:cNvSpPr txBox="1"/>
          <p:nvPr/>
        </p:nvSpPr>
        <p:spPr>
          <a:xfrm>
            <a:off x="1270000" y="2692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Find it</a:t>
            </a:r>
            <a:endParaRPr b="0" i="0" sz="1500" u="none" cap="none" strike="noStrike"/>
          </a:p>
        </p:txBody>
      </p:sp>
      <p:sp>
        <p:nvSpPr>
          <p:cNvPr id="341" name="Google Shape;341;p15"/>
          <p:cNvSpPr txBox="1"/>
          <p:nvPr/>
        </p:nvSpPr>
        <p:spPr>
          <a:xfrm>
            <a:off x="1270000" y="29972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Press Win, type "Software Center", hit Enter.</a:t>
            </a:r>
            <a:endParaRPr b="0" i="0" sz="1300" u="none" cap="none" strike="noStrike"/>
          </a:p>
        </p:txBody>
      </p:sp>
      <p:sp>
        <p:nvSpPr>
          <p:cNvPr id="342" name="Google Shape;342;p15"/>
          <p:cNvSpPr/>
          <p:nvPr/>
        </p:nvSpPr>
        <p:spPr>
          <a:xfrm>
            <a:off x="812800" y="3581400"/>
            <a:ext cx="53340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 txBox="1"/>
          <p:nvPr/>
        </p:nvSpPr>
        <p:spPr>
          <a:xfrm>
            <a:off x="812800" y="37592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2000" u="none" cap="none" strike="noStrike"/>
          </a:p>
        </p:txBody>
      </p:sp>
      <p:sp>
        <p:nvSpPr>
          <p:cNvPr id="344" name="Google Shape;344;p15"/>
          <p:cNvSpPr txBox="1"/>
          <p:nvPr/>
        </p:nvSpPr>
        <p:spPr>
          <a:xfrm>
            <a:off x="1270000" y="3759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Pick your app</a:t>
            </a:r>
            <a:endParaRPr b="0" i="0" sz="1500" u="none" cap="none" strike="noStrike"/>
          </a:p>
        </p:txBody>
      </p:sp>
      <p:sp>
        <p:nvSpPr>
          <p:cNvPr id="345" name="Google Shape;345;p15"/>
          <p:cNvSpPr txBox="1"/>
          <p:nvPr/>
        </p:nvSpPr>
        <p:spPr>
          <a:xfrm>
            <a:off x="1270000" y="40640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Browse or search the approved list — like an app store.</a:t>
            </a:r>
            <a:endParaRPr b="0" i="0" sz="1300" u="none" cap="none" strike="noStrike"/>
          </a:p>
        </p:txBody>
      </p:sp>
      <p:sp>
        <p:nvSpPr>
          <p:cNvPr id="346" name="Google Shape;346;p15"/>
          <p:cNvSpPr/>
          <p:nvPr/>
        </p:nvSpPr>
        <p:spPr>
          <a:xfrm>
            <a:off x="812800" y="4648200"/>
            <a:ext cx="53340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 txBox="1"/>
          <p:nvPr/>
        </p:nvSpPr>
        <p:spPr>
          <a:xfrm>
            <a:off x="812800" y="48260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2000" u="none" cap="none" strike="noStrike"/>
          </a:p>
        </p:txBody>
      </p:sp>
      <p:sp>
        <p:nvSpPr>
          <p:cNvPr id="348" name="Google Shape;348;p15"/>
          <p:cNvSpPr txBox="1"/>
          <p:nvPr/>
        </p:nvSpPr>
        <p:spPr>
          <a:xfrm>
            <a:off x="1270000" y="4826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Click Install</a:t>
            </a:r>
            <a:endParaRPr b="0" i="0" sz="1500" u="none" cap="none" strike="noStrike"/>
          </a:p>
        </p:txBody>
      </p:sp>
      <p:sp>
        <p:nvSpPr>
          <p:cNvPr id="349" name="Google Shape;349;p15"/>
          <p:cNvSpPr txBox="1"/>
          <p:nvPr/>
        </p:nvSpPr>
        <p:spPr>
          <a:xfrm>
            <a:off x="1270000" y="51308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It downloads, installs, and keeps itself updated.</a:t>
            </a:r>
            <a:endParaRPr b="0" i="0" sz="1300" u="none" cap="none" strike="noStrike"/>
          </a:p>
        </p:txBody>
      </p:sp>
      <p:sp>
        <p:nvSpPr>
          <p:cNvPr id="350" name="Google Shape;350;p15"/>
          <p:cNvSpPr txBox="1"/>
          <p:nvPr/>
        </p:nvSpPr>
        <p:spPr>
          <a:xfrm>
            <a:off x="7112000" y="2311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WHY IT EXISTS</a:t>
            </a:r>
            <a:endParaRPr b="0" i="0" sz="1100" u="none" cap="none" strike="noStrike"/>
          </a:p>
        </p:txBody>
      </p:sp>
      <p:sp>
        <p:nvSpPr>
          <p:cNvPr id="351" name="Google Shape;351;p15"/>
          <p:cNvSpPr txBox="1"/>
          <p:nvPr/>
        </p:nvSpPr>
        <p:spPr>
          <a:xfrm>
            <a:off x="7112000" y="2692400"/>
            <a:ext cx="4267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APPROVED &amp; SAFE</a:t>
            </a:r>
            <a:endParaRPr b="0" i="0" sz="1500" u="none" cap="none" strike="noStrike"/>
          </a:p>
        </p:txBody>
      </p:sp>
      <p:sp>
        <p:nvSpPr>
          <p:cNvPr id="352" name="Google Shape;352;p15"/>
          <p:cNvSpPr txBox="1"/>
          <p:nvPr/>
        </p:nvSpPr>
        <p:spPr>
          <a:xfrm>
            <a:off x="7112000" y="29972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IT has checked every app on the list before you see it.</a:t>
            </a:r>
            <a:endParaRPr b="0" i="0" sz="1300" u="none" cap="none" strike="noStrike"/>
          </a:p>
        </p:txBody>
      </p:sp>
      <p:sp>
        <p:nvSpPr>
          <p:cNvPr id="353" name="Google Shape;353;p15"/>
          <p:cNvSpPr/>
          <p:nvPr/>
        </p:nvSpPr>
        <p:spPr>
          <a:xfrm>
            <a:off x="7112000" y="3581400"/>
            <a:ext cx="42672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7112000" y="3759200"/>
            <a:ext cx="4267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NO PASSWORD NEEDED</a:t>
            </a:r>
            <a:endParaRPr b="0" i="0" sz="1500" u="none" cap="none" strike="noStrike"/>
          </a:p>
        </p:txBody>
      </p:sp>
      <p:sp>
        <p:nvSpPr>
          <p:cNvPr id="355" name="Google Shape;355;p15"/>
          <p:cNvSpPr txBox="1"/>
          <p:nvPr/>
        </p:nvSpPr>
        <p:spPr>
          <a:xfrm>
            <a:off x="7112000" y="40640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Standard users can install from it — no admin rights required.</a:t>
            </a:r>
            <a:endParaRPr b="0" i="0" sz="1300" u="none" cap="none" strike="noStrike"/>
          </a:p>
        </p:txBody>
      </p:sp>
      <p:sp>
        <p:nvSpPr>
          <p:cNvPr id="356" name="Google Shape;356;p15"/>
          <p:cNvSpPr/>
          <p:nvPr/>
        </p:nvSpPr>
        <p:spPr>
          <a:xfrm>
            <a:off x="7112000" y="4648200"/>
            <a:ext cx="42672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7112000" y="4826000"/>
            <a:ext cx="4267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LICENSES HANDLED</a:t>
            </a:r>
            <a:endParaRPr b="0" i="0" sz="1500" u="none" cap="none" strike="noStrike"/>
          </a:p>
        </p:txBody>
      </p:sp>
      <p:sp>
        <p:nvSpPr>
          <p:cNvPr id="358" name="Google Shape;358;p15"/>
          <p:cNvSpPr txBox="1"/>
          <p:nvPr/>
        </p:nvSpPr>
        <p:spPr>
          <a:xfrm>
            <a:off x="7112000" y="51308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No keys to type, no paperwork for you — IT manages it.</a:t>
            </a:r>
            <a:endParaRPr b="0" i="0" sz="1300" u="none" cap="none" strike="noStrike"/>
          </a:p>
        </p:txBody>
      </p:sp>
      <p:sp>
        <p:nvSpPr>
          <p:cNvPr id="359" name="Google Shape;359;p15"/>
          <p:cNvSpPr txBox="1"/>
          <p:nvPr/>
        </p:nvSpPr>
        <p:spPr>
          <a:xfrm>
            <a:off x="812800" y="60198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Can't find what you need? Request it from IT — don't install random internet downloads.</a:t>
            </a:r>
            <a:endParaRPr b="0" i="0" sz="1400" u="none" cap="none" strike="noStrike"/>
          </a:p>
        </p:txBody>
      </p:sp>
      <p:sp>
        <p:nvSpPr>
          <p:cNvPr id="360" name="Google Shape;360;p15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13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STOP 06 · SOFTWARE CENTER</a:t>
            </a:r>
            <a:endParaRPr b="0" i="0" sz="1200" u="none" cap="none" strike="noStrike"/>
          </a:p>
        </p:txBody>
      </p:sp>
      <p:sp>
        <p:nvSpPr>
          <p:cNvPr id="366" name="Google Shape;366;p16"/>
          <p:cNvSpPr txBox="1"/>
          <p:nvPr/>
        </p:nvSpPr>
        <p:spPr>
          <a:xfrm>
            <a:off x="812800" y="889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GET APPS THE SAFE WAY</a:t>
            </a:r>
            <a:endParaRPr b="0" i="0" sz="3200" u="none" cap="none" strike="noStrike"/>
          </a:p>
        </p:txBody>
      </p:sp>
      <p:sp>
        <p:nvSpPr>
          <p:cNvPr id="367" name="Google Shape;367;p16"/>
          <p:cNvSpPr txBox="1"/>
          <p:nvPr/>
        </p:nvSpPr>
        <p:spPr>
          <a:xfrm>
            <a:off x="812800" y="17780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DO</a:t>
            </a:r>
            <a:endParaRPr b="0" i="0" sz="2000" u="none" cap="none" strike="noStrike"/>
          </a:p>
        </p:txBody>
      </p:sp>
      <p:sp>
        <p:nvSpPr>
          <p:cNvPr id="368" name="Google Shape;368;p16"/>
          <p:cNvSpPr/>
          <p:nvPr/>
        </p:nvSpPr>
        <p:spPr>
          <a:xfrm>
            <a:off x="812800" y="2209800"/>
            <a:ext cx="4826000" cy="25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 txBox="1"/>
          <p:nvPr/>
        </p:nvSpPr>
        <p:spPr>
          <a:xfrm>
            <a:off x="812800" y="2514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Install work apps from Software Center.</a:t>
            </a:r>
            <a:endParaRPr b="0" i="0" sz="1500" u="none" cap="none" strike="noStrike"/>
          </a:p>
        </p:txBody>
      </p:sp>
      <p:sp>
        <p:nvSpPr>
          <p:cNvPr id="370" name="Google Shape;370;p16"/>
          <p:cNvSpPr/>
          <p:nvPr/>
        </p:nvSpPr>
        <p:spPr>
          <a:xfrm>
            <a:off x="812800" y="29972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 txBox="1"/>
          <p:nvPr/>
        </p:nvSpPr>
        <p:spPr>
          <a:xfrm>
            <a:off x="812800" y="3225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Say yes when updates prompt you.</a:t>
            </a:r>
            <a:endParaRPr b="0" i="0" sz="1500" u="none" cap="none" strike="noStrike"/>
          </a:p>
        </p:txBody>
      </p:sp>
      <p:sp>
        <p:nvSpPr>
          <p:cNvPr id="372" name="Google Shape;372;p16"/>
          <p:cNvSpPr/>
          <p:nvPr/>
        </p:nvSpPr>
        <p:spPr>
          <a:xfrm>
            <a:off x="812800" y="37084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 txBox="1"/>
          <p:nvPr/>
        </p:nvSpPr>
        <p:spPr>
          <a:xfrm>
            <a:off x="812800" y="3937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Restart when updates ask — patches protect you.</a:t>
            </a:r>
            <a:endParaRPr b="0" i="0" sz="1500" u="none" cap="none" strike="noStrike"/>
          </a:p>
        </p:txBody>
      </p:sp>
      <p:sp>
        <p:nvSpPr>
          <p:cNvPr id="374" name="Google Shape;374;p16"/>
          <p:cNvSpPr/>
          <p:nvPr/>
        </p:nvSpPr>
        <p:spPr>
          <a:xfrm>
            <a:off x="812800" y="44196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 txBox="1"/>
          <p:nvPr/>
        </p:nvSpPr>
        <p:spPr>
          <a:xfrm>
            <a:off x="812800" y="4648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Request tools you can't find from IT.</a:t>
            </a:r>
            <a:endParaRPr b="0" i="0" sz="1500" u="none" cap="none" strike="noStrike"/>
          </a:p>
        </p:txBody>
      </p:sp>
      <p:sp>
        <p:nvSpPr>
          <p:cNvPr id="376" name="Google Shape;376;p16"/>
          <p:cNvSpPr/>
          <p:nvPr/>
        </p:nvSpPr>
        <p:spPr>
          <a:xfrm>
            <a:off x="812800" y="51308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6553200" y="17780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DON'T</a:t>
            </a:r>
            <a:endParaRPr b="0" i="0" sz="2000" u="none" cap="none" strike="noStrike"/>
          </a:p>
        </p:txBody>
      </p:sp>
      <p:sp>
        <p:nvSpPr>
          <p:cNvPr id="378" name="Google Shape;378;p16"/>
          <p:cNvSpPr/>
          <p:nvPr/>
        </p:nvSpPr>
        <p:spPr>
          <a:xfrm>
            <a:off x="6553200" y="2209800"/>
            <a:ext cx="4826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6553200" y="2514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Download installers from random websites.</a:t>
            </a:r>
            <a:endParaRPr b="0" i="0" sz="1500" u="none" cap="none" strike="noStrike"/>
          </a:p>
        </p:txBody>
      </p:sp>
      <p:sp>
        <p:nvSpPr>
          <p:cNvPr id="380" name="Google Shape;380;p16"/>
          <p:cNvSpPr/>
          <p:nvPr/>
        </p:nvSpPr>
        <p:spPr>
          <a:xfrm>
            <a:off x="6553200" y="29972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6553200" y="3225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Click "Free download!" ads and pop-ups.</a:t>
            </a:r>
            <a:endParaRPr b="0" i="0" sz="1500" u="none" cap="none" strike="noStrike"/>
          </a:p>
        </p:txBody>
      </p:sp>
      <p:sp>
        <p:nvSpPr>
          <p:cNvPr id="382" name="Google Shape;382;p16"/>
          <p:cNvSpPr/>
          <p:nvPr/>
        </p:nvSpPr>
        <p:spPr>
          <a:xfrm>
            <a:off x="6553200" y="37084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6553200" y="3937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Share licensed installers with friends.</a:t>
            </a:r>
            <a:endParaRPr b="0" i="0" sz="1500" u="none" cap="none" strike="noStrike"/>
          </a:p>
        </p:txBody>
      </p:sp>
      <p:sp>
        <p:nvSpPr>
          <p:cNvPr id="384" name="Google Shape;384;p16"/>
          <p:cNvSpPr/>
          <p:nvPr/>
        </p:nvSpPr>
        <p:spPr>
          <a:xfrm>
            <a:off x="6553200" y="44196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6553200" y="4648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Snooze restart prompts for days.</a:t>
            </a:r>
            <a:endParaRPr b="0" i="0" sz="1500" u="none" cap="none" strike="noStrike"/>
          </a:p>
        </p:txBody>
      </p:sp>
      <p:sp>
        <p:nvSpPr>
          <p:cNvPr id="386" name="Google Shape;386;p16"/>
          <p:cNvSpPr/>
          <p:nvPr/>
        </p:nvSpPr>
        <p:spPr>
          <a:xfrm>
            <a:off x="6553200" y="5130800"/>
            <a:ext cx="4826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812800" y="5816600"/>
            <a:ext cx="105664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812800" y="60198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Unapproved software is the #1 way malware walks into a company.</a:t>
            </a:r>
            <a:endParaRPr b="0" i="0" sz="1500" u="none" cap="none" strike="noStrike"/>
          </a:p>
        </p:txBody>
      </p:sp>
      <p:sp>
        <p:nvSpPr>
          <p:cNvPr id="389" name="Google Shape;389;p16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"/>
          <p:cNvSpPr txBox="1"/>
          <p:nvPr/>
        </p:nvSpPr>
        <p:spPr>
          <a:xfrm>
            <a:off x="812800" y="558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07 · REMOTE DESKTOP (RDP)</a:t>
            </a:r>
            <a:endParaRPr b="0" i="0" sz="1200" u="none" cap="none" strike="noStrike"/>
          </a:p>
        </p:txBody>
      </p:sp>
      <p:sp>
        <p:nvSpPr>
          <p:cNvPr id="395" name="Google Shape;395;p17"/>
          <p:cNvSpPr txBox="1"/>
          <p:nvPr/>
        </p:nvSpPr>
        <p:spPr>
          <a:xfrm>
            <a:off x="812800" y="889000"/>
            <a:ext cx="8382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DRIVE A PC YOU CAN'T TOUCH</a:t>
            </a:r>
            <a:endParaRPr b="0" i="0" sz="3200" u="none" cap="none" strike="noStrike"/>
          </a:p>
        </p:txBody>
      </p:sp>
      <p:sp>
        <p:nvSpPr>
          <p:cNvPr id="396" name="Google Shape;396;p17"/>
          <p:cNvSpPr txBox="1"/>
          <p:nvPr/>
        </p:nvSpPr>
        <p:spPr>
          <a:xfrm>
            <a:off x="812800" y="1524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Remote Desktop Protocol (RDP) shows another Windows PC's screen in a window on yours — and lets you control it as if you were sitting there.</a:t>
            </a:r>
            <a:endParaRPr b="0" i="0" sz="1500" u="none" cap="none" strike="noStrike"/>
          </a:p>
        </p:txBody>
      </p:sp>
      <p:sp>
        <p:nvSpPr>
          <p:cNvPr id="397" name="Google Shape;397;p17"/>
          <p:cNvSpPr/>
          <p:nvPr/>
        </p:nvSpPr>
        <p:spPr>
          <a:xfrm>
            <a:off x="1016000" y="2540000"/>
            <a:ext cx="2540000" cy="1651000"/>
          </a:xfrm>
          <a:prstGeom prst="rect">
            <a:avLst/>
          </a:prstGeom>
          <a:solidFill>
            <a:srgbClr val="E8A7B3"/>
          </a:solidFill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 txBox="1"/>
          <p:nvPr/>
        </p:nvSpPr>
        <p:spPr>
          <a:xfrm>
            <a:off x="1016000" y="4343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YOUR PC</a:t>
            </a:r>
            <a:endParaRPr b="0" i="0" sz="1400" u="none" cap="none" strike="noStrike"/>
          </a:p>
        </p:txBody>
      </p:sp>
      <p:sp>
        <p:nvSpPr>
          <p:cNvPr id="399" name="Google Shape;399;p17"/>
          <p:cNvSpPr/>
          <p:nvPr/>
        </p:nvSpPr>
        <p:spPr>
          <a:xfrm>
            <a:off x="3835400" y="3073400"/>
            <a:ext cx="1778000" cy="58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 txBox="1"/>
          <p:nvPr/>
        </p:nvSpPr>
        <p:spPr>
          <a:xfrm>
            <a:off x="3835400" y="2743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over the network</a:t>
            </a:r>
            <a:endParaRPr b="0" i="0" sz="1200" u="none" cap="none" strike="noStrike"/>
          </a:p>
        </p:txBody>
      </p:sp>
      <p:sp>
        <p:nvSpPr>
          <p:cNvPr id="401" name="Google Shape;401;p17"/>
          <p:cNvSpPr/>
          <p:nvPr/>
        </p:nvSpPr>
        <p:spPr>
          <a:xfrm>
            <a:off x="5892800" y="2540000"/>
            <a:ext cx="2540000" cy="1651000"/>
          </a:xfrm>
          <a:prstGeom prst="rect">
            <a:avLst/>
          </a:prstGeom>
          <a:solidFill>
            <a:srgbClr val="2557D6"/>
          </a:solidFill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6273800" y="2844800"/>
            <a:ext cx="1168400" cy="787400"/>
          </a:xfrm>
          <a:prstGeom prst="rect">
            <a:avLst/>
          </a:prstGeom>
          <a:solidFill>
            <a:srgbClr val="F3E8D4"/>
          </a:solidFill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5892800" y="4343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REMOTE PC</a:t>
            </a:r>
            <a:endParaRPr b="0" i="0" sz="1400" u="none" cap="none" strike="noStrike"/>
          </a:p>
        </p:txBody>
      </p:sp>
      <p:sp>
        <p:nvSpPr>
          <p:cNvPr id="404" name="Google Shape;404;p17"/>
          <p:cNvSpPr txBox="1"/>
          <p:nvPr/>
        </p:nvSpPr>
        <p:spPr>
          <a:xfrm>
            <a:off x="8890000" y="2540000"/>
            <a:ext cx="24892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Its screen appears in a window on yours — mouse and keyboard work on both.</a:t>
            </a:r>
            <a:endParaRPr b="0" i="0" sz="1300" u="none" cap="none" strike="noStrike"/>
          </a:p>
        </p:txBody>
      </p:sp>
      <p:sp>
        <p:nvSpPr>
          <p:cNvPr id="405" name="Google Shape;405;p17"/>
          <p:cNvSpPr txBox="1"/>
          <p:nvPr/>
        </p:nvSpPr>
        <p:spPr>
          <a:xfrm>
            <a:off x="812800" y="50546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WHEN ADMINS USE IT</a:t>
            </a:r>
            <a:endParaRPr b="0" i="0" sz="1100" u="none" cap="none" strike="noStrike"/>
          </a:p>
        </p:txBody>
      </p:sp>
      <p:sp>
        <p:nvSpPr>
          <p:cNvPr id="406" name="Google Shape;406;p17"/>
          <p:cNvSpPr txBox="1"/>
          <p:nvPr/>
        </p:nvSpPr>
        <p:spPr>
          <a:xfrm>
            <a:off x="812800" y="53848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Fix a user's PC without leaving your desk.</a:t>
            </a:r>
            <a:endParaRPr b="0" i="0" sz="1300" u="none" cap="none" strike="noStrike"/>
          </a:p>
        </p:txBody>
      </p:sp>
      <p:sp>
        <p:nvSpPr>
          <p:cNvPr id="407" name="Google Shape;407;p17"/>
          <p:cNvSpPr txBox="1"/>
          <p:nvPr/>
        </p:nvSpPr>
        <p:spPr>
          <a:xfrm>
            <a:off x="4368800" y="5384800"/>
            <a:ext cx="3302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Manage servers that have no monitor attached.</a:t>
            </a:r>
            <a:endParaRPr b="0" i="0" sz="1300" u="none" cap="none" strike="noStrike"/>
          </a:p>
        </p:txBody>
      </p:sp>
      <p:sp>
        <p:nvSpPr>
          <p:cNvPr id="408" name="Google Shape;408;p17"/>
          <p:cNvSpPr txBox="1"/>
          <p:nvPr/>
        </p:nvSpPr>
        <p:spPr>
          <a:xfrm>
            <a:off x="8255000" y="5384800"/>
            <a:ext cx="312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Reach your work PC from home.</a:t>
            </a:r>
            <a:endParaRPr b="0" i="0" sz="1300" u="none" cap="none" strike="noStrike"/>
          </a:p>
        </p:txBody>
      </p:sp>
      <p:sp>
        <p:nvSpPr>
          <p:cNvPr id="409" name="Google Shape;409;p17"/>
          <p:cNvSpPr/>
          <p:nvPr/>
        </p:nvSpPr>
        <p:spPr>
          <a:xfrm>
            <a:off x="812800" y="6121400"/>
            <a:ext cx="10566400" cy="127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 txBox="1"/>
          <p:nvPr/>
        </p:nvSpPr>
        <p:spPr>
          <a:xfrm>
            <a:off x="812800" y="62738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Needs — the remote PC powered on, on the network, set to allow Remote Desktop, and permission for you.</a:t>
            </a:r>
            <a:endParaRPr b="0" i="0" sz="1200" u="none" cap="none" strike="noStrike"/>
          </a:p>
        </p:txBody>
      </p:sp>
      <p:sp>
        <p:nvSpPr>
          <p:cNvPr id="411" name="Google Shape;411;p17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15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"/>
          <p:cNvSpPr txBox="1"/>
          <p:nvPr/>
        </p:nvSpPr>
        <p:spPr>
          <a:xfrm>
            <a:off x="812800" y="558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STOP 07 · REMOTE DESKTOP (RDP)</a:t>
            </a:r>
            <a:endParaRPr b="0" i="0" sz="1200" u="none" cap="none" strike="noStrike"/>
          </a:p>
        </p:txBody>
      </p:sp>
      <p:sp>
        <p:nvSpPr>
          <p:cNvPr id="417" name="Google Shape;417;p18"/>
          <p:cNvSpPr txBox="1"/>
          <p:nvPr/>
        </p:nvSpPr>
        <p:spPr>
          <a:xfrm>
            <a:off x="812800" y="889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CONNECT IN FOUR MOVES</a:t>
            </a:r>
            <a:endParaRPr b="0" i="0" sz="3200" u="none" cap="none" strike="noStrike"/>
          </a:p>
        </p:txBody>
      </p:sp>
      <p:sp>
        <p:nvSpPr>
          <p:cNvPr id="418" name="Google Shape;418;p18"/>
          <p:cNvSpPr txBox="1"/>
          <p:nvPr/>
        </p:nvSpPr>
        <p:spPr>
          <a:xfrm>
            <a:off x="812800" y="18796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2200" u="none" cap="none" strike="noStrike"/>
          </a:p>
        </p:txBody>
      </p:sp>
      <p:sp>
        <p:nvSpPr>
          <p:cNvPr id="419" name="Google Shape;419;p18"/>
          <p:cNvSpPr txBox="1"/>
          <p:nvPr/>
        </p:nvSpPr>
        <p:spPr>
          <a:xfrm>
            <a:off x="1346200" y="18796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Open the tool</a:t>
            </a:r>
            <a:endParaRPr b="0" i="0" sz="1600" u="none" cap="none" strike="noStrike"/>
          </a:p>
        </p:txBody>
      </p:sp>
      <p:sp>
        <p:nvSpPr>
          <p:cNvPr id="420" name="Google Shape;420;p18"/>
          <p:cNvSpPr txBox="1"/>
          <p:nvPr/>
        </p:nvSpPr>
        <p:spPr>
          <a:xfrm>
            <a:off x="1346200" y="22098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Press Win, type "Remote Desktop Connection" (or mstsc), hit Enter.</a:t>
            </a:r>
            <a:endParaRPr b="0" i="0" sz="1300" u="none" cap="none" strike="noStrike"/>
          </a:p>
        </p:txBody>
      </p:sp>
      <p:sp>
        <p:nvSpPr>
          <p:cNvPr id="421" name="Google Shape;421;p18"/>
          <p:cNvSpPr/>
          <p:nvPr/>
        </p:nvSpPr>
        <p:spPr>
          <a:xfrm>
            <a:off x="812800" y="2794000"/>
            <a:ext cx="6477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 txBox="1"/>
          <p:nvPr/>
        </p:nvSpPr>
        <p:spPr>
          <a:xfrm>
            <a:off x="812800" y="29718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2200" u="none" cap="none" strike="noStrike"/>
          </a:p>
        </p:txBody>
      </p:sp>
      <p:sp>
        <p:nvSpPr>
          <p:cNvPr id="423" name="Google Shape;423;p18"/>
          <p:cNvSpPr txBox="1"/>
          <p:nvPr/>
        </p:nvSpPr>
        <p:spPr>
          <a:xfrm>
            <a:off x="1346200" y="297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Name the machine</a:t>
            </a:r>
            <a:endParaRPr b="0" i="0" sz="1600" u="none" cap="none" strike="noStrike"/>
          </a:p>
        </p:txBody>
      </p:sp>
      <p:sp>
        <p:nvSpPr>
          <p:cNvPr id="424" name="Google Shape;424;p18"/>
          <p:cNvSpPr txBox="1"/>
          <p:nvPr/>
        </p:nvSpPr>
        <p:spPr>
          <a:xfrm>
            <a:off x="1346200" y="33020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Type its computer name or IP address, then Connect.</a:t>
            </a:r>
            <a:endParaRPr b="0" i="0" sz="1300" u="none" cap="none" strike="noStrike"/>
          </a:p>
        </p:txBody>
      </p:sp>
      <p:sp>
        <p:nvSpPr>
          <p:cNvPr id="425" name="Google Shape;425;p18"/>
          <p:cNvSpPr/>
          <p:nvPr/>
        </p:nvSpPr>
        <p:spPr>
          <a:xfrm>
            <a:off x="812800" y="3886200"/>
            <a:ext cx="6477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812800" y="40640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2200" u="none" cap="none" strike="noStrike"/>
          </a:p>
        </p:txBody>
      </p:sp>
      <p:sp>
        <p:nvSpPr>
          <p:cNvPr id="427" name="Google Shape;427;p18"/>
          <p:cNvSpPr txBox="1"/>
          <p:nvPr/>
        </p:nvSpPr>
        <p:spPr>
          <a:xfrm>
            <a:off x="1346200" y="4064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Sign in</a:t>
            </a:r>
            <a:endParaRPr b="0" i="0" sz="1600" u="none" cap="none" strike="noStrike"/>
          </a:p>
        </p:txBody>
      </p:sp>
      <p:sp>
        <p:nvSpPr>
          <p:cNvPr id="428" name="Google Shape;428;p18"/>
          <p:cNvSpPr txBox="1"/>
          <p:nvPr/>
        </p:nvSpPr>
        <p:spPr>
          <a:xfrm>
            <a:off x="1346200" y="43942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Use your own username and password — never someone else's.</a:t>
            </a:r>
            <a:endParaRPr b="0" i="0" sz="1300" u="none" cap="none" strike="noStrike"/>
          </a:p>
        </p:txBody>
      </p:sp>
      <p:sp>
        <p:nvSpPr>
          <p:cNvPr id="429" name="Google Shape;429;p18"/>
          <p:cNvSpPr/>
          <p:nvPr/>
        </p:nvSpPr>
        <p:spPr>
          <a:xfrm>
            <a:off x="812800" y="4978400"/>
            <a:ext cx="6477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812800" y="51562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2200" u="none" cap="none" strike="noStrike"/>
          </a:p>
        </p:txBody>
      </p:sp>
      <p:sp>
        <p:nvSpPr>
          <p:cNvPr id="431" name="Google Shape;431;p18"/>
          <p:cNvSpPr txBox="1"/>
          <p:nvPr/>
        </p:nvSpPr>
        <p:spPr>
          <a:xfrm>
            <a:off x="1346200" y="5156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Finish right</a:t>
            </a:r>
            <a:endParaRPr b="0" i="0" sz="1600" u="none" cap="none" strike="noStrike"/>
          </a:p>
        </p:txBody>
      </p:sp>
      <p:sp>
        <p:nvSpPr>
          <p:cNvPr id="432" name="Google Shape;432;p18"/>
          <p:cNvSpPr txBox="1"/>
          <p:nvPr/>
        </p:nvSpPr>
        <p:spPr>
          <a:xfrm>
            <a:off x="1346200" y="54864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Sign out. Just closing the window leaves you logged in on that machine.</a:t>
            </a:r>
            <a:endParaRPr b="0" i="0" sz="1300" u="none" cap="none" strike="noStrike"/>
          </a:p>
        </p:txBody>
      </p:sp>
      <p:sp>
        <p:nvSpPr>
          <p:cNvPr id="433" name="Google Shape;433;p18"/>
          <p:cNvSpPr txBox="1"/>
          <p:nvPr/>
        </p:nvSpPr>
        <p:spPr>
          <a:xfrm>
            <a:off x="8077200" y="18796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SAFETY RULES</a:t>
            </a:r>
            <a:endParaRPr b="0" i="0" sz="1100" u="none" cap="none" strike="noStrike"/>
          </a:p>
        </p:txBody>
      </p:sp>
      <p:sp>
        <p:nvSpPr>
          <p:cNvPr id="434" name="Google Shape;434;p18"/>
          <p:cNvSpPr txBox="1"/>
          <p:nvPr/>
        </p:nvSpPr>
        <p:spPr>
          <a:xfrm>
            <a:off x="8077200" y="2235200"/>
            <a:ext cx="3302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Authorized machines only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connecting is a permission, not a right.</a:t>
            </a:r>
            <a:endParaRPr b="0" i="0" sz="1300" u="none" cap="none" strike="noStrike"/>
          </a:p>
        </p:txBody>
      </p:sp>
      <p:sp>
        <p:nvSpPr>
          <p:cNvPr id="435" name="Google Shape;435;p18"/>
          <p:cNvSpPr/>
          <p:nvPr/>
        </p:nvSpPr>
        <p:spPr>
          <a:xfrm>
            <a:off x="8077200" y="3048000"/>
            <a:ext cx="3302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 txBox="1"/>
          <p:nvPr/>
        </p:nvSpPr>
        <p:spPr>
          <a:xfrm>
            <a:off x="8077200" y="3225800"/>
            <a:ext cx="3302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Never save passwords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on shared or lab PCs.</a:t>
            </a:r>
            <a:endParaRPr b="0" i="0" sz="1300" u="none" cap="none" strike="noStrike"/>
          </a:p>
        </p:txBody>
      </p:sp>
      <p:sp>
        <p:nvSpPr>
          <p:cNvPr id="437" name="Google Shape;437;p18"/>
          <p:cNvSpPr/>
          <p:nvPr/>
        </p:nvSpPr>
        <p:spPr>
          <a:xfrm>
            <a:off x="8077200" y="4038600"/>
            <a:ext cx="3302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"/>
          <p:cNvSpPr txBox="1"/>
          <p:nvPr/>
        </p:nvSpPr>
        <p:spPr>
          <a:xfrm>
            <a:off x="8077200" y="4216400"/>
            <a:ext cx="3302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Always sign out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when the work is done.</a:t>
            </a:r>
            <a:endParaRPr b="0" i="0" sz="1300" u="none" cap="none" strike="noStrike"/>
          </a:p>
        </p:txBody>
      </p:sp>
      <p:sp>
        <p:nvSpPr>
          <p:cNvPr id="439" name="Google Shape;439;p18"/>
          <p:cNvSpPr/>
          <p:nvPr/>
        </p:nvSpPr>
        <p:spPr>
          <a:xfrm>
            <a:off x="8077200" y="5029200"/>
            <a:ext cx="3302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08 · FILE EXPLORER</a:t>
            </a:r>
            <a:endParaRPr b="0" i="0" sz="1200" u="none" cap="none" strike="noStrike"/>
          </a:p>
        </p:txBody>
      </p:sp>
      <p:sp>
        <p:nvSpPr>
          <p:cNvPr id="446" name="Google Shape;446;p19"/>
          <p:cNvSpPr txBox="1"/>
          <p:nvPr/>
        </p:nvSpPr>
        <p:spPr>
          <a:xfrm>
            <a:off x="812800" y="889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EVERY FILE LIVES SOMEWHERE</a:t>
            </a:r>
            <a:endParaRPr b="0" i="0" sz="3200" u="none" cap="none" strike="noStrike"/>
          </a:p>
        </p:txBody>
      </p:sp>
      <p:sp>
        <p:nvSpPr>
          <p:cNvPr id="447" name="Google Shape;447;p19"/>
          <p:cNvSpPr txBox="1"/>
          <p:nvPr/>
        </p:nvSpPr>
        <p:spPr>
          <a:xfrm>
            <a:off x="812800" y="15240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File Explorer is the filing cabinet of Windows — press Win + E to open it. Here's the layout.</a:t>
            </a:r>
            <a:endParaRPr b="0" i="0" sz="1500" u="none" cap="none" strike="noStrike"/>
          </a:p>
        </p:txBody>
      </p:sp>
      <p:sp>
        <p:nvSpPr>
          <p:cNvPr id="448" name="Google Shape;448;p19"/>
          <p:cNvSpPr/>
          <p:nvPr/>
        </p:nvSpPr>
        <p:spPr>
          <a:xfrm>
            <a:off x="4826000" y="2032000"/>
            <a:ext cx="6553200" cy="4064000"/>
          </a:xfrm>
          <a:prstGeom prst="rect">
            <a:avLst/>
          </a:prstGeom>
          <a:solidFill>
            <a:srgbClr val="F3E8D4"/>
          </a:solidFill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4826000" y="2032000"/>
            <a:ext cx="6553200" cy="4318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5029200" y="2235200"/>
            <a:ext cx="4318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5613400" y="2235200"/>
            <a:ext cx="3302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6096000" y="2235200"/>
            <a:ext cx="508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5029200" y="2616200"/>
            <a:ext cx="4572000" cy="3048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 txBox="1"/>
          <p:nvPr/>
        </p:nvSpPr>
        <p:spPr>
          <a:xfrm>
            <a:off x="5156200" y="26670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This PC  &gt;  Documents  &gt;  Reports</a:t>
            </a:r>
            <a:endParaRPr b="0" i="0" sz="1200" u="none" cap="none" strike="noStrike"/>
          </a:p>
        </p:txBody>
      </p:sp>
      <p:sp>
        <p:nvSpPr>
          <p:cNvPr id="455" name="Google Shape;455;p19"/>
          <p:cNvSpPr/>
          <p:nvPr/>
        </p:nvSpPr>
        <p:spPr>
          <a:xfrm>
            <a:off x="4826000" y="3048000"/>
            <a:ext cx="1905000" cy="3048000"/>
          </a:xfrm>
          <a:prstGeom prst="rect">
            <a:avLst/>
          </a:prstGeom>
          <a:solidFill>
            <a:srgbClr val="E7D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 txBox="1"/>
          <p:nvPr/>
        </p:nvSpPr>
        <p:spPr>
          <a:xfrm>
            <a:off x="5003800" y="32258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Quick access</a:t>
            </a:r>
            <a:endParaRPr b="0" i="0" sz="1100" u="none" cap="none" strike="noStrike"/>
          </a:p>
        </p:txBody>
      </p:sp>
      <p:sp>
        <p:nvSpPr>
          <p:cNvPr id="457" name="Google Shape;457;p19"/>
          <p:cNvSpPr txBox="1"/>
          <p:nvPr/>
        </p:nvSpPr>
        <p:spPr>
          <a:xfrm>
            <a:off x="5003800" y="35306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This PC</a:t>
            </a:r>
            <a:endParaRPr b="0" i="0" sz="1100" u="none" cap="none" strike="noStrike"/>
          </a:p>
        </p:txBody>
      </p:sp>
      <p:sp>
        <p:nvSpPr>
          <p:cNvPr id="458" name="Google Shape;458;p19"/>
          <p:cNvSpPr txBox="1"/>
          <p:nvPr/>
        </p:nvSpPr>
        <p:spPr>
          <a:xfrm>
            <a:off x="5003800" y="38354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Documents</a:t>
            </a:r>
            <a:endParaRPr b="0" i="0" sz="1100" u="none" cap="none" strike="noStrike"/>
          </a:p>
        </p:txBody>
      </p:sp>
      <p:sp>
        <p:nvSpPr>
          <p:cNvPr id="459" name="Google Shape;459;p19"/>
          <p:cNvSpPr txBox="1"/>
          <p:nvPr/>
        </p:nvSpPr>
        <p:spPr>
          <a:xfrm>
            <a:off x="5003800" y="41402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Downloads</a:t>
            </a:r>
            <a:endParaRPr b="0" i="0" sz="1100" u="none" cap="none" strike="noStrike"/>
          </a:p>
        </p:txBody>
      </p:sp>
      <p:sp>
        <p:nvSpPr>
          <p:cNvPr id="460" name="Google Shape;460;p19"/>
          <p:cNvSpPr/>
          <p:nvPr/>
        </p:nvSpPr>
        <p:spPr>
          <a:xfrm>
            <a:off x="7010400" y="3251200"/>
            <a:ext cx="152400" cy="152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9"/>
          <p:cNvSpPr/>
          <p:nvPr/>
        </p:nvSpPr>
        <p:spPr>
          <a:xfrm>
            <a:off x="7264400" y="3314700"/>
            <a:ext cx="1905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7010400" y="3657600"/>
            <a:ext cx="152400" cy="152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"/>
          <p:cNvSpPr/>
          <p:nvPr/>
        </p:nvSpPr>
        <p:spPr>
          <a:xfrm>
            <a:off x="7264400" y="3721100"/>
            <a:ext cx="1524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7010400" y="4064000"/>
            <a:ext cx="152400" cy="1524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7264400" y="4127500"/>
            <a:ext cx="1778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7010400" y="4470400"/>
            <a:ext cx="152400" cy="1524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7264400" y="4533900"/>
            <a:ext cx="1270000" cy="381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5080000" y="21336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 txBox="1"/>
          <p:nvPr/>
        </p:nvSpPr>
        <p:spPr>
          <a:xfrm>
            <a:off x="5080000" y="2133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100" u="none" cap="none" strike="noStrike"/>
          </a:p>
        </p:txBody>
      </p:sp>
      <p:sp>
        <p:nvSpPr>
          <p:cNvPr id="470" name="Google Shape;470;p19"/>
          <p:cNvSpPr/>
          <p:nvPr/>
        </p:nvSpPr>
        <p:spPr>
          <a:xfrm>
            <a:off x="9753600" y="26543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 txBox="1"/>
          <p:nvPr/>
        </p:nvSpPr>
        <p:spPr>
          <a:xfrm>
            <a:off x="9753600" y="26543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100" u="none" cap="none" strike="noStrike"/>
          </a:p>
        </p:txBody>
      </p:sp>
      <p:sp>
        <p:nvSpPr>
          <p:cNvPr id="472" name="Google Shape;472;p19"/>
          <p:cNvSpPr/>
          <p:nvPr/>
        </p:nvSpPr>
        <p:spPr>
          <a:xfrm>
            <a:off x="6451600" y="56642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 txBox="1"/>
          <p:nvPr/>
        </p:nvSpPr>
        <p:spPr>
          <a:xfrm>
            <a:off x="6451600" y="5664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100" u="none" cap="none" strike="noStrike"/>
          </a:p>
        </p:txBody>
      </p:sp>
      <p:sp>
        <p:nvSpPr>
          <p:cNvPr id="474" name="Google Shape;474;p19"/>
          <p:cNvSpPr/>
          <p:nvPr/>
        </p:nvSpPr>
        <p:spPr>
          <a:xfrm>
            <a:off x="10871200" y="3251200"/>
            <a:ext cx="228600" cy="228600"/>
          </a:xfrm>
          <a:prstGeom prst="ellipse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 txBox="1"/>
          <p:nvPr/>
        </p:nvSpPr>
        <p:spPr>
          <a:xfrm>
            <a:off x="10871200" y="3251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100" u="none" cap="none" strike="noStrike"/>
          </a:p>
        </p:txBody>
      </p:sp>
      <p:sp>
        <p:nvSpPr>
          <p:cNvPr id="476" name="Google Shape;476;p19"/>
          <p:cNvSpPr txBox="1"/>
          <p:nvPr/>
        </p:nvSpPr>
        <p:spPr>
          <a:xfrm>
            <a:off x="812800" y="215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800" u="none" cap="none" strike="noStrike"/>
          </a:p>
        </p:txBody>
      </p:sp>
      <p:sp>
        <p:nvSpPr>
          <p:cNvPr id="477" name="Google Shape;477;p19"/>
          <p:cNvSpPr txBox="1"/>
          <p:nvPr/>
        </p:nvSpPr>
        <p:spPr>
          <a:xfrm>
            <a:off x="1193800" y="2159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RIBBON</a:t>
            </a:r>
            <a:endParaRPr b="0" i="0" sz="1500" u="none" cap="none" strike="noStrike"/>
          </a:p>
        </p:txBody>
      </p:sp>
      <p:sp>
        <p:nvSpPr>
          <p:cNvPr id="478" name="Google Shape;478;p19"/>
          <p:cNvSpPr txBox="1"/>
          <p:nvPr/>
        </p:nvSpPr>
        <p:spPr>
          <a:xfrm>
            <a:off x="1193800" y="24638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Actions — copy, move, rename, delete, new folder.</a:t>
            </a:r>
            <a:endParaRPr b="0" i="0" sz="1200" u="none" cap="none" strike="noStrike"/>
          </a:p>
        </p:txBody>
      </p:sp>
      <p:sp>
        <p:nvSpPr>
          <p:cNvPr id="479" name="Google Shape;479;p19"/>
          <p:cNvSpPr txBox="1"/>
          <p:nvPr/>
        </p:nvSpPr>
        <p:spPr>
          <a:xfrm>
            <a:off x="812800" y="3175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800" u="none" cap="none" strike="noStrike"/>
          </a:p>
        </p:txBody>
      </p:sp>
      <p:sp>
        <p:nvSpPr>
          <p:cNvPr id="480" name="Google Shape;480;p19"/>
          <p:cNvSpPr txBox="1"/>
          <p:nvPr/>
        </p:nvSpPr>
        <p:spPr>
          <a:xfrm>
            <a:off x="1193800" y="3175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ADDRESS BAR</a:t>
            </a:r>
            <a:endParaRPr b="0" i="0" sz="1500" u="none" cap="none" strike="noStrike"/>
          </a:p>
        </p:txBody>
      </p:sp>
      <p:sp>
        <p:nvSpPr>
          <p:cNvPr id="481" name="Google Shape;481;p19"/>
          <p:cNvSpPr txBox="1"/>
          <p:nvPr/>
        </p:nvSpPr>
        <p:spPr>
          <a:xfrm>
            <a:off x="1193800" y="34798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Where you are right now — click a crumb to jump back.</a:t>
            </a:r>
            <a:endParaRPr b="0" i="0" sz="1200" u="none" cap="none" strike="noStrike"/>
          </a:p>
        </p:txBody>
      </p:sp>
      <p:sp>
        <p:nvSpPr>
          <p:cNvPr id="482" name="Google Shape;482;p19"/>
          <p:cNvSpPr txBox="1"/>
          <p:nvPr/>
        </p:nvSpPr>
        <p:spPr>
          <a:xfrm>
            <a:off x="812800" y="4191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800" u="none" cap="none" strike="noStrike"/>
          </a:p>
        </p:txBody>
      </p:sp>
      <p:sp>
        <p:nvSpPr>
          <p:cNvPr id="483" name="Google Shape;483;p19"/>
          <p:cNvSpPr txBox="1"/>
          <p:nvPr/>
        </p:nvSpPr>
        <p:spPr>
          <a:xfrm>
            <a:off x="1193800" y="4191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NAVIGATION PANE</a:t>
            </a:r>
            <a:endParaRPr b="0" i="0" sz="1500" u="none" cap="none" strike="noStrike"/>
          </a:p>
        </p:txBody>
      </p:sp>
      <p:sp>
        <p:nvSpPr>
          <p:cNvPr id="484" name="Google Shape;484;p19"/>
          <p:cNvSpPr txBox="1"/>
          <p:nvPr/>
        </p:nvSpPr>
        <p:spPr>
          <a:xfrm>
            <a:off x="1193800" y="44958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Shortcuts to Quick access, This PC, and your folders.</a:t>
            </a:r>
            <a:endParaRPr b="0" i="0" sz="1200" u="none" cap="none" strike="noStrike"/>
          </a:p>
        </p:txBody>
      </p:sp>
      <p:sp>
        <p:nvSpPr>
          <p:cNvPr id="485" name="Google Shape;485;p19"/>
          <p:cNvSpPr txBox="1"/>
          <p:nvPr/>
        </p:nvSpPr>
        <p:spPr>
          <a:xfrm>
            <a:off x="812800" y="5207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800" u="none" cap="none" strike="noStrike"/>
          </a:p>
        </p:txBody>
      </p:sp>
      <p:sp>
        <p:nvSpPr>
          <p:cNvPr id="486" name="Google Shape;486;p19"/>
          <p:cNvSpPr txBox="1"/>
          <p:nvPr/>
        </p:nvSpPr>
        <p:spPr>
          <a:xfrm>
            <a:off x="1193800" y="5207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FILE LIST</a:t>
            </a:r>
            <a:endParaRPr b="0" i="0" sz="1500" u="none" cap="none" strike="noStrike"/>
          </a:p>
        </p:txBody>
      </p:sp>
      <p:sp>
        <p:nvSpPr>
          <p:cNvPr id="487" name="Google Shape;487;p19"/>
          <p:cNvSpPr txBox="1"/>
          <p:nvPr/>
        </p:nvSpPr>
        <p:spPr>
          <a:xfrm>
            <a:off x="1193800" y="55118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Your actual files and folders, with their details.</a:t>
            </a:r>
            <a:endParaRPr b="0" i="0" sz="1200" u="none" cap="none" strike="noStrike"/>
          </a:p>
        </p:txBody>
      </p:sp>
      <p:sp>
        <p:nvSpPr>
          <p:cNvPr id="488" name="Google Shape;488;p19"/>
          <p:cNvSpPr txBox="1"/>
          <p:nvPr/>
        </p:nvSpPr>
        <p:spPr>
          <a:xfrm>
            <a:off x="4826000" y="6223000"/>
            <a:ext cx="6553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Schematic — real windows have more buttons; these four zones never change.</a:t>
            </a:r>
            <a:endParaRPr b="0" i="0" sz="1100" u="none" cap="none" strike="noStrike"/>
          </a:p>
        </p:txBody>
      </p:sp>
      <p:sp>
        <p:nvSpPr>
          <p:cNvPr id="489" name="Google Shape;489;p19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17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STOP 08 · FILE EXPLORER</a:t>
            </a:r>
            <a:endParaRPr b="0" i="0" sz="1200" u="none" cap="none" strike="noStrike"/>
          </a:p>
        </p:txBody>
      </p:sp>
      <p:sp>
        <p:nvSpPr>
          <p:cNvPr id="495" name="Google Shape;495;p20"/>
          <p:cNvSpPr txBox="1"/>
          <p:nvPr/>
        </p:nvSpPr>
        <p:spPr>
          <a:xfrm>
            <a:off x="812800" y="889000"/>
            <a:ext cx="8382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EVERY FILE HAS AN ADDRESS</a:t>
            </a:r>
            <a:endParaRPr b="0" i="0" sz="3200" u="none" cap="none" strike="noStrike"/>
          </a:p>
        </p:txBody>
      </p:sp>
      <p:sp>
        <p:nvSpPr>
          <p:cNvPr id="496" name="Google Shape;496;p20"/>
          <p:cNvSpPr txBox="1"/>
          <p:nvPr/>
        </p:nvSpPr>
        <p:spPr>
          <a:xfrm>
            <a:off x="812800" y="1854200"/>
            <a:ext cx="965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C:\</a:t>
            </a:r>
            <a:r>
              <a:rPr b="1" i="0" lang="en-US" sz="2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Users\Ana\</a:t>
            </a:r>
            <a:r>
              <a:rPr b="1" i="0" lang="en-US" sz="26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Documents\</a:t>
            </a:r>
            <a:r>
              <a:rPr b="1" i="0" lang="en-US" sz="26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report.docx</a:t>
            </a:r>
            <a:endParaRPr b="0" i="0" sz="2600" u="none" cap="none" strike="noStrike"/>
          </a:p>
        </p:txBody>
      </p:sp>
      <p:sp>
        <p:nvSpPr>
          <p:cNvPr id="497" name="Google Shape;497;p20"/>
          <p:cNvSpPr/>
          <p:nvPr/>
        </p:nvSpPr>
        <p:spPr>
          <a:xfrm>
            <a:off x="812800" y="2667000"/>
            <a:ext cx="127000" cy="1270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0"/>
          <p:cNvSpPr txBox="1"/>
          <p:nvPr/>
        </p:nvSpPr>
        <p:spPr>
          <a:xfrm>
            <a:off x="1041400" y="25908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drive — the PC's main storage</a:t>
            </a:r>
            <a:endParaRPr b="0" i="0" sz="1200" u="none" cap="none" strike="noStrike"/>
          </a:p>
        </p:txBody>
      </p:sp>
      <p:sp>
        <p:nvSpPr>
          <p:cNvPr id="499" name="Google Shape;499;p20"/>
          <p:cNvSpPr/>
          <p:nvPr/>
        </p:nvSpPr>
        <p:spPr>
          <a:xfrm>
            <a:off x="3073400" y="2667000"/>
            <a:ext cx="127000" cy="1270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 txBox="1"/>
          <p:nvPr/>
        </p:nvSpPr>
        <p:spPr>
          <a:xfrm>
            <a:off x="3302000" y="25908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whose folder it is — one per user</a:t>
            </a:r>
            <a:endParaRPr b="0" i="0" sz="1200" u="none" cap="none" strike="noStrike"/>
          </a:p>
        </p:txBody>
      </p:sp>
      <p:sp>
        <p:nvSpPr>
          <p:cNvPr id="501" name="Google Shape;501;p20"/>
          <p:cNvSpPr/>
          <p:nvPr/>
        </p:nvSpPr>
        <p:spPr>
          <a:xfrm>
            <a:off x="5588000" y="2667000"/>
            <a:ext cx="127000" cy="1270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 txBox="1"/>
          <p:nvPr/>
        </p:nvSpPr>
        <p:spPr>
          <a:xfrm>
            <a:off x="5816600" y="25908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folder — a box inside the box</a:t>
            </a:r>
            <a:endParaRPr b="0" i="0" sz="1200" u="none" cap="none" strike="noStrike"/>
          </a:p>
        </p:txBody>
      </p:sp>
      <p:sp>
        <p:nvSpPr>
          <p:cNvPr id="503" name="Google Shape;503;p20"/>
          <p:cNvSpPr/>
          <p:nvPr/>
        </p:nvSpPr>
        <p:spPr>
          <a:xfrm>
            <a:off x="7975600" y="2667000"/>
            <a:ext cx="127000" cy="1270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 txBox="1"/>
          <p:nvPr/>
        </p:nvSpPr>
        <p:spPr>
          <a:xfrm>
            <a:off x="8204200" y="25908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file — .docx tells you its type</a:t>
            </a:r>
            <a:endParaRPr b="0" i="0" sz="1200" u="none" cap="none" strike="noStrike"/>
          </a:p>
        </p:txBody>
      </p:sp>
      <p:sp>
        <p:nvSpPr>
          <p:cNvPr id="505" name="Google Shape;505;p20"/>
          <p:cNvSpPr txBox="1"/>
          <p:nvPr/>
        </p:nvSpPr>
        <p:spPr>
          <a:xfrm>
            <a:off x="812800" y="3606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DRIVE LETTERS YOU'LL SEE</a:t>
            </a:r>
            <a:endParaRPr b="0" i="0" sz="1100" u="none" cap="none" strike="noStrike"/>
          </a:p>
        </p:txBody>
      </p:sp>
      <p:sp>
        <p:nvSpPr>
          <p:cNvPr id="506" name="Google Shape;506;p20"/>
          <p:cNvSpPr txBox="1"/>
          <p:nvPr/>
        </p:nvSpPr>
        <p:spPr>
          <a:xfrm>
            <a:off x="812800" y="39878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C:</a:t>
            </a:r>
            <a:endParaRPr b="0" i="0" sz="1600" u="none" cap="none" strike="noStrike"/>
          </a:p>
        </p:txBody>
      </p:sp>
      <p:sp>
        <p:nvSpPr>
          <p:cNvPr id="507" name="Google Shape;507;p20"/>
          <p:cNvSpPr txBox="1"/>
          <p:nvPr/>
        </p:nvSpPr>
        <p:spPr>
          <a:xfrm>
            <a:off x="2159000" y="40132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main drive — Windows and most work files live here.</a:t>
            </a:r>
            <a:endParaRPr b="0" i="0" sz="1300" u="none" cap="none" strike="noStrike"/>
          </a:p>
        </p:txBody>
      </p:sp>
      <p:sp>
        <p:nvSpPr>
          <p:cNvPr id="508" name="Google Shape;508;p20"/>
          <p:cNvSpPr/>
          <p:nvPr/>
        </p:nvSpPr>
        <p:spPr>
          <a:xfrm>
            <a:off x="812800" y="4470400"/>
            <a:ext cx="8890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 txBox="1"/>
          <p:nvPr/>
        </p:nvSpPr>
        <p:spPr>
          <a:xfrm>
            <a:off x="812800" y="46482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D: / E:</a:t>
            </a:r>
            <a:endParaRPr b="0" i="0" sz="1600" u="none" cap="none" strike="noStrike"/>
          </a:p>
        </p:txBody>
      </p:sp>
      <p:sp>
        <p:nvSpPr>
          <p:cNvPr id="510" name="Google Shape;510;p20"/>
          <p:cNvSpPr txBox="1"/>
          <p:nvPr/>
        </p:nvSpPr>
        <p:spPr>
          <a:xfrm>
            <a:off x="2159000" y="46736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Often USB sticks or extra drives plugged into the PC.</a:t>
            </a:r>
            <a:endParaRPr b="0" i="0" sz="1300" u="none" cap="none" strike="noStrike"/>
          </a:p>
        </p:txBody>
      </p:sp>
      <p:sp>
        <p:nvSpPr>
          <p:cNvPr id="511" name="Google Shape;511;p20"/>
          <p:cNvSpPr/>
          <p:nvPr/>
        </p:nvSpPr>
        <p:spPr>
          <a:xfrm>
            <a:off x="812800" y="5130800"/>
            <a:ext cx="8890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 txBox="1"/>
          <p:nvPr/>
        </p:nvSpPr>
        <p:spPr>
          <a:xfrm>
            <a:off x="812800" y="5308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S: / H:</a:t>
            </a:r>
            <a:endParaRPr b="0" i="0" sz="1600" u="none" cap="none" strike="noStrike"/>
          </a:p>
        </p:txBody>
      </p:sp>
      <p:sp>
        <p:nvSpPr>
          <p:cNvPr id="513" name="Google Shape;513;p20"/>
          <p:cNvSpPr txBox="1"/>
          <p:nvPr/>
        </p:nvSpPr>
        <p:spPr>
          <a:xfrm>
            <a:off x="2159000" y="53340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Network drives (letters vary) — shared company folders.</a:t>
            </a:r>
            <a:endParaRPr b="0" i="0" sz="1300" u="none" cap="none" strike="noStrike"/>
          </a:p>
        </p:txBody>
      </p:sp>
      <p:sp>
        <p:nvSpPr>
          <p:cNvPr id="514" name="Google Shape;514;p20"/>
          <p:cNvSpPr/>
          <p:nvPr/>
        </p:nvSpPr>
        <p:spPr>
          <a:xfrm>
            <a:off x="812800" y="5791200"/>
            <a:ext cx="8890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 txBox="1"/>
          <p:nvPr/>
        </p:nvSpPr>
        <p:spPr>
          <a:xfrm>
            <a:off x="812800" y="61214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House rule — save to Documents or your network drive, not the Desktop or Downloads.</a:t>
            </a:r>
            <a:endParaRPr b="0" i="0" sz="1400" u="none" cap="none" strike="noStrike"/>
          </a:p>
        </p:txBody>
      </p:sp>
      <p:sp>
        <p:nvSpPr>
          <p:cNvPr id="516" name="Google Shape;516;p20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STOP 08 · FILE EXPLORER</a:t>
            </a:r>
            <a:endParaRPr b="0" i="0" sz="1200" u="none" cap="none" strike="noStrike"/>
          </a:p>
        </p:txBody>
      </p:sp>
      <p:sp>
        <p:nvSpPr>
          <p:cNvPr id="522" name="Google Shape;522;p21"/>
          <p:cNvSpPr txBox="1"/>
          <p:nvPr/>
        </p:nvSpPr>
        <p:spPr>
          <a:xfrm>
            <a:off x="812800" y="889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SIX MOVES YOU'LL USE DAILY</a:t>
            </a:r>
            <a:endParaRPr b="0" i="0" sz="3200" u="none" cap="none" strike="noStrike"/>
          </a:p>
        </p:txBody>
      </p:sp>
      <p:sp>
        <p:nvSpPr>
          <p:cNvPr id="523" name="Google Shape;523;p21"/>
          <p:cNvSpPr txBox="1"/>
          <p:nvPr/>
        </p:nvSpPr>
        <p:spPr>
          <a:xfrm>
            <a:off x="812800" y="17526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COPY &amp; PASTE</a:t>
            </a:r>
            <a:endParaRPr b="0" i="0" sz="1500" u="none" cap="none" strike="noStrike"/>
          </a:p>
        </p:txBody>
      </p:sp>
      <p:sp>
        <p:nvSpPr>
          <p:cNvPr id="524" name="Google Shape;524;p21"/>
          <p:cNvSpPr txBox="1"/>
          <p:nvPr/>
        </p:nvSpPr>
        <p:spPr>
          <a:xfrm>
            <a:off x="3429000" y="1778000"/>
            <a:ext cx="795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Ctrl + C, then Ctrl + V — duplicates a file where you paste.</a:t>
            </a:r>
            <a:endParaRPr b="0" i="0" sz="1300" u="none" cap="none" strike="noStrike"/>
          </a:p>
        </p:txBody>
      </p:sp>
      <p:sp>
        <p:nvSpPr>
          <p:cNvPr id="525" name="Google Shape;525;p21"/>
          <p:cNvSpPr/>
          <p:nvPr/>
        </p:nvSpPr>
        <p:spPr>
          <a:xfrm>
            <a:off x="812800" y="23114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 txBox="1"/>
          <p:nvPr/>
        </p:nvSpPr>
        <p:spPr>
          <a:xfrm>
            <a:off x="812800" y="24638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CUT &amp; PASTE</a:t>
            </a:r>
            <a:endParaRPr b="0" i="0" sz="1500" u="none" cap="none" strike="noStrike"/>
          </a:p>
        </p:txBody>
      </p:sp>
      <p:sp>
        <p:nvSpPr>
          <p:cNvPr id="527" name="Google Shape;527;p21"/>
          <p:cNvSpPr txBox="1"/>
          <p:nvPr/>
        </p:nvSpPr>
        <p:spPr>
          <a:xfrm>
            <a:off x="3429000" y="2489200"/>
            <a:ext cx="795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Ctrl + X, then Ctrl + V — moves the file instead of copying it.</a:t>
            </a:r>
            <a:endParaRPr b="0" i="0" sz="1300" u="none" cap="none" strike="noStrike"/>
          </a:p>
        </p:txBody>
      </p:sp>
      <p:sp>
        <p:nvSpPr>
          <p:cNvPr id="528" name="Google Shape;528;p21"/>
          <p:cNvSpPr/>
          <p:nvPr/>
        </p:nvSpPr>
        <p:spPr>
          <a:xfrm>
            <a:off x="812800" y="30226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"/>
          <p:cNvSpPr txBox="1"/>
          <p:nvPr/>
        </p:nvSpPr>
        <p:spPr>
          <a:xfrm>
            <a:off x="812800" y="3175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RENAME</a:t>
            </a:r>
            <a:endParaRPr b="0" i="0" sz="1500" u="none" cap="none" strike="noStrike"/>
          </a:p>
        </p:txBody>
      </p:sp>
      <p:sp>
        <p:nvSpPr>
          <p:cNvPr id="530" name="Google Shape;530;p21"/>
          <p:cNvSpPr txBox="1"/>
          <p:nvPr/>
        </p:nvSpPr>
        <p:spPr>
          <a:xfrm>
            <a:off x="3429000" y="3200400"/>
            <a:ext cx="795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Select it, press F2 (or right-click → Rename). Clear names save you later.</a:t>
            </a:r>
            <a:endParaRPr b="0" i="0" sz="1300" u="none" cap="none" strike="noStrike"/>
          </a:p>
        </p:txBody>
      </p:sp>
      <p:sp>
        <p:nvSpPr>
          <p:cNvPr id="531" name="Google Shape;531;p21"/>
          <p:cNvSpPr/>
          <p:nvPr/>
        </p:nvSpPr>
        <p:spPr>
          <a:xfrm>
            <a:off x="812800" y="37338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"/>
          <p:cNvSpPr txBox="1"/>
          <p:nvPr/>
        </p:nvSpPr>
        <p:spPr>
          <a:xfrm>
            <a:off x="812800" y="38862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NEW FOLDER</a:t>
            </a:r>
            <a:endParaRPr b="0" i="0" sz="1500" u="none" cap="none" strike="noStrike"/>
          </a:p>
        </p:txBody>
      </p:sp>
      <p:sp>
        <p:nvSpPr>
          <p:cNvPr id="533" name="Google Shape;533;p21"/>
          <p:cNvSpPr txBox="1"/>
          <p:nvPr/>
        </p:nvSpPr>
        <p:spPr>
          <a:xfrm>
            <a:off x="3429000" y="3911600"/>
            <a:ext cx="795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Ctrl + Shift + N — a folder a week keeps the chaos away.</a:t>
            </a:r>
            <a:endParaRPr b="0" i="0" sz="1300" u="none" cap="none" strike="noStrike"/>
          </a:p>
        </p:txBody>
      </p:sp>
      <p:sp>
        <p:nvSpPr>
          <p:cNvPr id="534" name="Google Shape;534;p21"/>
          <p:cNvSpPr/>
          <p:nvPr/>
        </p:nvSpPr>
        <p:spPr>
          <a:xfrm>
            <a:off x="812800" y="44450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/>
          <p:cNvSpPr txBox="1"/>
          <p:nvPr/>
        </p:nvSpPr>
        <p:spPr>
          <a:xfrm>
            <a:off x="812800" y="4597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SEARCH BOX</a:t>
            </a:r>
            <a:endParaRPr b="0" i="0" sz="1500" u="none" cap="none" strike="noStrike"/>
          </a:p>
        </p:txBody>
      </p:sp>
      <p:sp>
        <p:nvSpPr>
          <p:cNvPr id="536" name="Google Shape;536;p21"/>
          <p:cNvSpPr txBox="1"/>
          <p:nvPr/>
        </p:nvSpPr>
        <p:spPr>
          <a:xfrm>
            <a:off x="3429000" y="4622800"/>
            <a:ext cx="795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Top-right corner — searches inside the folder you're standing in.</a:t>
            </a:r>
            <a:endParaRPr b="0" i="0" sz="1300" u="none" cap="none" strike="noStrike"/>
          </a:p>
        </p:txBody>
      </p:sp>
      <p:sp>
        <p:nvSpPr>
          <p:cNvPr id="537" name="Google Shape;537;p21"/>
          <p:cNvSpPr/>
          <p:nvPr/>
        </p:nvSpPr>
        <p:spPr>
          <a:xfrm>
            <a:off x="812800" y="51562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/>
          <p:cNvSpPr txBox="1"/>
          <p:nvPr/>
        </p:nvSpPr>
        <p:spPr>
          <a:xfrm>
            <a:off x="812800" y="53086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DELETE</a:t>
            </a:r>
            <a:endParaRPr b="0" i="0" sz="1500" u="none" cap="none" strike="noStrike"/>
          </a:p>
        </p:txBody>
      </p:sp>
      <p:sp>
        <p:nvSpPr>
          <p:cNvPr id="539" name="Google Shape;539;p21"/>
          <p:cNvSpPr txBox="1"/>
          <p:nvPr/>
        </p:nvSpPr>
        <p:spPr>
          <a:xfrm>
            <a:off x="3429000" y="5334000"/>
            <a:ext cx="795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Delete key sends files to the Recycle Bin — your safety net.</a:t>
            </a:r>
            <a:endParaRPr b="0" i="0" sz="1300" u="none" cap="none" strike="noStrike"/>
          </a:p>
        </p:txBody>
      </p:sp>
      <p:sp>
        <p:nvSpPr>
          <p:cNvPr id="540" name="Google Shape;540;p21"/>
          <p:cNvSpPr/>
          <p:nvPr/>
        </p:nvSpPr>
        <p:spPr>
          <a:xfrm>
            <a:off x="812800" y="5867400"/>
            <a:ext cx="10566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"/>
          <p:cNvSpPr txBox="1"/>
          <p:nvPr/>
        </p:nvSpPr>
        <p:spPr>
          <a:xfrm>
            <a:off x="812800" y="60706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highlight>
                  <a:srgbClr val="D9F04A"/>
                </a:highlight>
                <a:latin typeface="Liter"/>
                <a:ea typeface="Liter"/>
                <a:cs typeface="Liter"/>
                <a:sym typeface="Liter"/>
              </a:rPr>
              <a:t> HEADS UP </a:t>
            </a: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Shift + Delete</a:t>
            </a: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skips the Recycle Bin — gone for good. Avoid it for now.</a:t>
            </a:r>
            <a:endParaRPr b="0" i="0" sz="1300" u="none" cap="none" strike="noStrike"/>
          </a:p>
        </p:txBody>
      </p:sp>
      <p:sp>
        <p:nvSpPr>
          <p:cNvPr id="542" name="Google Shape;542;p21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19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2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PRACTICE · HANDS-ON LAB</a:t>
            </a:r>
            <a:endParaRPr b="0" i="0" sz="1200" u="none" cap="none" strike="noStrike"/>
          </a:p>
        </p:txBody>
      </p:sp>
      <p:sp>
        <p:nvSpPr>
          <p:cNvPr id="548" name="Google Shape;548;p22"/>
          <p:cNvSpPr txBox="1"/>
          <p:nvPr/>
        </p:nvSpPr>
        <p:spPr>
          <a:xfrm>
            <a:off x="812800" y="889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YOUR 15-MINUTE LAB</a:t>
            </a:r>
            <a:endParaRPr b="0" i="0" sz="3400" u="none" cap="none" strike="noStrike"/>
          </a:p>
        </p:txBody>
      </p:sp>
      <p:sp>
        <p:nvSpPr>
          <p:cNvPr id="549" name="Google Shape;549;p22"/>
          <p:cNvSpPr txBox="1"/>
          <p:nvPr/>
        </p:nvSpPr>
        <p:spPr>
          <a:xfrm>
            <a:off x="812800" y="15240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Do these on your training PC. Check each one off with a partner — say out loud what you did.</a:t>
            </a:r>
            <a:endParaRPr b="0" i="0" sz="1400" u="none" cap="none" strike="noStrike"/>
          </a:p>
        </p:txBody>
      </p:sp>
      <p:sp>
        <p:nvSpPr>
          <p:cNvPr id="550" name="Google Shape;550;p22"/>
          <p:cNvSpPr txBox="1"/>
          <p:nvPr/>
        </p:nvSpPr>
        <p:spPr>
          <a:xfrm>
            <a:off x="812800" y="21336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800" u="none" cap="none" strike="noStrike"/>
          </a:p>
        </p:txBody>
      </p:sp>
      <p:sp>
        <p:nvSpPr>
          <p:cNvPr id="551" name="Google Shape;551;p22"/>
          <p:cNvSpPr txBox="1"/>
          <p:nvPr/>
        </p:nvSpPr>
        <p:spPr>
          <a:xfrm>
            <a:off x="1320800" y="21336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Lock and unlock your PC with Win + L.</a:t>
            </a:r>
            <a:endParaRPr b="0" i="0" sz="1400" u="none" cap="none" strike="noStrike"/>
          </a:p>
        </p:txBody>
      </p:sp>
      <p:sp>
        <p:nvSpPr>
          <p:cNvPr id="552" name="Google Shape;552;p22"/>
          <p:cNvSpPr txBox="1"/>
          <p:nvPr/>
        </p:nvSpPr>
        <p:spPr>
          <a:xfrm>
            <a:off x="812800" y="30988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800" u="none" cap="none" strike="noStrike"/>
          </a:p>
        </p:txBody>
      </p:sp>
      <p:sp>
        <p:nvSpPr>
          <p:cNvPr id="553" name="Google Shape;553;p22"/>
          <p:cNvSpPr txBox="1"/>
          <p:nvPr/>
        </p:nvSpPr>
        <p:spPr>
          <a:xfrm>
            <a:off x="1320800" y="3098800"/>
            <a:ext cx="482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Open Settings with Win + I and find System → Storage.</a:t>
            </a:r>
            <a:endParaRPr b="0" i="0" sz="1400" u="none" cap="none" strike="noStrike"/>
          </a:p>
        </p:txBody>
      </p:sp>
      <p:sp>
        <p:nvSpPr>
          <p:cNvPr id="554" name="Google Shape;554;p22"/>
          <p:cNvSpPr txBox="1"/>
          <p:nvPr/>
        </p:nvSpPr>
        <p:spPr>
          <a:xfrm>
            <a:off x="812800" y="40640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800" u="none" cap="none" strike="noStrike"/>
          </a:p>
        </p:txBody>
      </p:sp>
      <p:sp>
        <p:nvSpPr>
          <p:cNvPr id="555" name="Google Shape;555;p22"/>
          <p:cNvSpPr txBox="1"/>
          <p:nvPr/>
        </p:nvSpPr>
        <p:spPr>
          <a:xfrm>
            <a:off x="1320800" y="40640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Pin File Explorer and Settings to your taskbar.</a:t>
            </a:r>
            <a:endParaRPr b="0" i="0" sz="1400" u="none" cap="none" strike="noStrike"/>
          </a:p>
        </p:txBody>
      </p:sp>
      <p:sp>
        <p:nvSpPr>
          <p:cNvPr id="556" name="Google Shape;556;p22"/>
          <p:cNvSpPr txBox="1"/>
          <p:nvPr/>
        </p:nvSpPr>
        <p:spPr>
          <a:xfrm>
            <a:off x="6604000" y="21336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800" u="none" cap="none" strike="noStrike"/>
          </a:p>
        </p:txBody>
      </p:sp>
      <p:sp>
        <p:nvSpPr>
          <p:cNvPr id="557" name="Google Shape;557;p22"/>
          <p:cNvSpPr txBox="1"/>
          <p:nvPr/>
        </p:nvSpPr>
        <p:spPr>
          <a:xfrm>
            <a:off x="7112000" y="2133600"/>
            <a:ext cx="42672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In Task Manager, find which app uses the most memory.</a:t>
            </a:r>
            <a:endParaRPr b="0" i="0" sz="1400" u="none" cap="none" strike="noStrike"/>
          </a:p>
        </p:txBody>
      </p:sp>
      <p:sp>
        <p:nvSpPr>
          <p:cNvPr id="558" name="Google Shape;558;p22"/>
          <p:cNvSpPr txBox="1"/>
          <p:nvPr/>
        </p:nvSpPr>
        <p:spPr>
          <a:xfrm>
            <a:off x="6604000" y="30988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5</a:t>
            </a:r>
            <a:endParaRPr b="0" i="0" sz="1800" u="none" cap="none" strike="noStrike"/>
          </a:p>
        </p:txBody>
      </p:sp>
      <p:sp>
        <p:nvSpPr>
          <p:cNvPr id="559" name="Google Shape;559;p22"/>
          <p:cNvSpPr txBox="1"/>
          <p:nvPr/>
        </p:nvSpPr>
        <p:spPr>
          <a:xfrm>
            <a:off x="7112000" y="309880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In Documents, create a folder named "Lab1" and move a file into it.</a:t>
            </a:r>
            <a:endParaRPr b="0" i="0" sz="1400" u="none" cap="none" strike="noStrike"/>
          </a:p>
        </p:txBody>
      </p:sp>
      <p:sp>
        <p:nvSpPr>
          <p:cNvPr id="560" name="Google Shape;560;p22"/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 txBox="1"/>
          <p:nvPr/>
        </p:nvSpPr>
        <p:spPr>
          <a:xfrm>
            <a:off x="812800" y="59436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Done means — you can repeat each task without notes. Practice scenario, training PCs only.</a:t>
            </a:r>
            <a:endParaRPr b="0" i="0" sz="1300" u="none" cap="none" strike="noStrike"/>
          </a:p>
        </p:txBody>
      </p:sp>
      <p:sp>
        <p:nvSpPr>
          <p:cNvPr id="562" name="Google Shape;562;p22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3"/>
          <p:cNvSpPr txBox="1"/>
          <p:nvPr/>
        </p:nvSpPr>
        <p:spPr>
          <a:xfrm>
            <a:off x="812800" y="558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JOB AID · KEEP THIS PAGE</a:t>
            </a:r>
            <a:endParaRPr b="0" i="0" sz="1200" u="none" cap="none" strike="noStrike"/>
          </a:p>
        </p:txBody>
      </p:sp>
      <p:sp>
        <p:nvSpPr>
          <p:cNvPr id="568" name="Google Shape;568;p23"/>
          <p:cNvSpPr txBox="1"/>
          <p:nvPr/>
        </p:nvSpPr>
        <p:spPr>
          <a:xfrm>
            <a:off x="812800" y="889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FIRST-WEEK CHEAT SHEET</a:t>
            </a:r>
            <a:endParaRPr b="0" i="0" sz="3200" u="none" cap="none" strike="noStrike"/>
          </a:p>
        </p:txBody>
      </p:sp>
      <p:sp>
        <p:nvSpPr>
          <p:cNvPr id="569" name="Google Shape;569;p23"/>
          <p:cNvSpPr txBox="1"/>
          <p:nvPr/>
        </p:nvSpPr>
        <p:spPr>
          <a:xfrm>
            <a:off x="812800" y="16764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WHEN THIS HAPPENS → DO THIS</a:t>
            </a:r>
            <a:endParaRPr b="0" i="0" sz="1100" u="none" cap="none" strike="noStrike"/>
          </a:p>
        </p:txBody>
      </p:sp>
      <p:sp>
        <p:nvSpPr>
          <p:cNvPr id="570" name="Google Shape;570;p23"/>
          <p:cNvSpPr txBox="1"/>
          <p:nvPr/>
        </p:nvSpPr>
        <p:spPr>
          <a:xfrm>
            <a:off x="812800" y="2032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PC feels slow</a:t>
            </a:r>
            <a:endParaRPr b="0" i="0" sz="1300" u="none" cap="none" strike="noStrike"/>
          </a:p>
        </p:txBody>
      </p:sp>
      <p:sp>
        <p:nvSpPr>
          <p:cNvPr id="571" name="Google Shape;571;p23"/>
          <p:cNvSpPr txBox="1"/>
          <p:nvPr/>
        </p:nvSpPr>
        <p:spPr>
          <a:xfrm>
            <a:off x="4013200" y="2032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Task Manager (Ctrl + Shift + Esc)</a:t>
            </a:r>
            <a:endParaRPr b="0" i="0" sz="1300" u="none" cap="none" strike="noStrike"/>
          </a:p>
        </p:txBody>
      </p:sp>
      <p:sp>
        <p:nvSpPr>
          <p:cNvPr id="572" name="Google Shape;572;p23"/>
          <p:cNvSpPr/>
          <p:nvPr/>
        </p:nvSpPr>
        <p:spPr>
          <a:xfrm>
            <a:off x="812800" y="2438400"/>
            <a:ext cx="7010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3"/>
          <p:cNvSpPr txBox="1"/>
          <p:nvPr/>
        </p:nvSpPr>
        <p:spPr>
          <a:xfrm>
            <a:off x="812800" y="26162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App is frozen</a:t>
            </a:r>
            <a:endParaRPr b="0" i="0" sz="1300" u="none" cap="none" strike="noStrike"/>
          </a:p>
        </p:txBody>
      </p:sp>
      <p:sp>
        <p:nvSpPr>
          <p:cNvPr id="574" name="Google Shape;574;p23"/>
          <p:cNvSpPr txBox="1"/>
          <p:nvPr/>
        </p:nvSpPr>
        <p:spPr>
          <a:xfrm>
            <a:off x="4013200" y="2616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Task Manager → End task</a:t>
            </a:r>
            <a:endParaRPr b="0" i="0" sz="1300" u="none" cap="none" strike="noStrike"/>
          </a:p>
        </p:txBody>
      </p:sp>
      <p:sp>
        <p:nvSpPr>
          <p:cNvPr id="575" name="Google Shape;575;p23"/>
          <p:cNvSpPr/>
          <p:nvPr/>
        </p:nvSpPr>
        <p:spPr>
          <a:xfrm>
            <a:off x="812800" y="3022600"/>
            <a:ext cx="7010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 txBox="1"/>
          <p:nvPr/>
        </p:nvSpPr>
        <p:spPr>
          <a:xfrm>
            <a:off x="812800" y="3200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Need an app</a:t>
            </a:r>
            <a:endParaRPr b="0" i="0" sz="1300" u="none" cap="none" strike="noStrike"/>
          </a:p>
        </p:txBody>
      </p:sp>
      <p:sp>
        <p:nvSpPr>
          <p:cNvPr id="577" name="Google Shape;577;p23"/>
          <p:cNvSpPr txBox="1"/>
          <p:nvPr/>
        </p:nvSpPr>
        <p:spPr>
          <a:xfrm>
            <a:off x="4013200" y="320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Software Center → Install</a:t>
            </a:r>
            <a:endParaRPr b="0" i="0" sz="1300" u="none" cap="none" strike="noStrike"/>
          </a:p>
        </p:txBody>
      </p:sp>
      <p:sp>
        <p:nvSpPr>
          <p:cNvPr id="578" name="Google Shape;578;p23"/>
          <p:cNvSpPr/>
          <p:nvPr/>
        </p:nvSpPr>
        <p:spPr>
          <a:xfrm>
            <a:off x="812800" y="3606800"/>
            <a:ext cx="7010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3"/>
          <p:cNvSpPr txBox="1"/>
          <p:nvPr/>
        </p:nvSpPr>
        <p:spPr>
          <a:xfrm>
            <a:off x="812800" y="37846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Need to change a setting</a:t>
            </a:r>
            <a:endParaRPr b="0" i="0" sz="1300" u="none" cap="none" strike="noStrike"/>
          </a:p>
        </p:txBody>
      </p:sp>
      <p:sp>
        <p:nvSpPr>
          <p:cNvPr id="580" name="Google Shape;580;p23"/>
          <p:cNvSpPr txBox="1"/>
          <p:nvPr/>
        </p:nvSpPr>
        <p:spPr>
          <a:xfrm>
            <a:off x="4013200" y="3784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Settings (Win + I), then search</a:t>
            </a:r>
            <a:endParaRPr b="0" i="0" sz="1300" u="none" cap="none" strike="noStrike"/>
          </a:p>
        </p:txBody>
      </p:sp>
      <p:sp>
        <p:nvSpPr>
          <p:cNvPr id="581" name="Google Shape;581;p23"/>
          <p:cNvSpPr/>
          <p:nvPr/>
        </p:nvSpPr>
        <p:spPr>
          <a:xfrm>
            <a:off x="812800" y="4191000"/>
            <a:ext cx="7010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3"/>
          <p:cNvSpPr txBox="1"/>
          <p:nvPr/>
        </p:nvSpPr>
        <p:spPr>
          <a:xfrm>
            <a:off x="812800" y="43688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Can't find something</a:t>
            </a:r>
            <a:endParaRPr b="0" i="0" sz="1300" u="none" cap="none" strike="noStrike"/>
          </a:p>
        </p:txBody>
      </p:sp>
      <p:sp>
        <p:nvSpPr>
          <p:cNvPr id="583" name="Google Shape;583;p23"/>
          <p:cNvSpPr txBox="1"/>
          <p:nvPr/>
        </p:nvSpPr>
        <p:spPr>
          <a:xfrm>
            <a:off x="4013200" y="4368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Start search or Explorer search box</a:t>
            </a:r>
            <a:endParaRPr b="0" i="0" sz="1300" u="none" cap="none" strike="noStrike"/>
          </a:p>
        </p:txBody>
      </p:sp>
      <p:sp>
        <p:nvSpPr>
          <p:cNvPr id="584" name="Google Shape;584;p23"/>
          <p:cNvSpPr/>
          <p:nvPr/>
        </p:nvSpPr>
        <p:spPr>
          <a:xfrm>
            <a:off x="812800" y="4775200"/>
            <a:ext cx="7010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3"/>
          <p:cNvSpPr txBox="1"/>
          <p:nvPr/>
        </p:nvSpPr>
        <p:spPr>
          <a:xfrm>
            <a:off x="812800" y="4953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Stepping away</a:t>
            </a:r>
            <a:endParaRPr b="0" i="0" sz="1300" u="none" cap="none" strike="noStrike"/>
          </a:p>
        </p:txBody>
      </p:sp>
      <p:sp>
        <p:nvSpPr>
          <p:cNvPr id="586" name="Google Shape;586;p23"/>
          <p:cNvSpPr txBox="1"/>
          <p:nvPr/>
        </p:nvSpPr>
        <p:spPr>
          <a:xfrm>
            <a:off x="4013200" y="4953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 + L — lock it</a:t>
            </a:r>
            <a:endParaRPr b="0" i="0" sz="1300" u="none" cap="none" strike="noStrike"/>
          </a:p>
        </p:txBody>
      </p:sp>
      <p:sp>
        <p:nvSpPr>
          <p:cNvPr id="587" name="Google Shape;587;p23"/>
          <p:cNvSpPr/>
          <p:nvPr/>
        </p:nvSpPr>
        <p:spPr>
          <a:xfrm>
            <a:off x="812800" y="5359400"/>
            <a:ext cx="7010400" cy="12700"/>
          </a:xfrm>
          <a:prstGeom prst="rect">
            <a:avLst/>
          </a:prstGeom>
          <a:solidFill>
            <a:srgbClr val="8B81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3"/>
          <p:cNvSpPr txBox="1"/>
          <p:nvPr/>
        </p:nvSpPr>
        <p:spPr>
          <a:xfrm>
            <a:off x="8382000" y="1676400"/>
            <a:ext cx="299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SHORTCUTS</a:t>
            </a:r>
            <a:endParaRPr b="0" i="0" sz="1100" u="none" cap="none" strike="noStrike"/>
          </a:p>
        </p:txBody>
      </p:sp>
      <p:sp>
        <p:nvSpPr>
          <p:cNvPr id="589" name="Google Shape;589;p23"/>
          <p:cNvSpPr txBox="1"/>
          <p:nvPr/>
        </p:nvSpPr>
        <p:spPr>
          <a:xfrm>
            <a:off x="8382000" y="2006600"/>
            <a:ext cx="29972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Start / search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 + D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show Desktop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Alt + Tab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switch windows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 + E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File Explorer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 + I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Settings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 + L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lock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Ctrl + Shift + Esc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Task Manager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Ctrl + C / X / V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copy / cut / paste</a:t>
            </a:r>
            <a:endParaRPr b="0" i="0" sz="12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F2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rename</a:t>
            </a:r>
            <a:endParaRPr b="0" i="0" sz="1200" u="none" cap="none" strike="noStrike"/>
          </a:p>
        </p:txBody>
      </p:sp>
      <p:sp>
        <p:nvSpPr>
          <p:cNvPr id="590" name="Google Shape;590;p23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8175"/>
                </a:solidFill>
                <a:latin typeface="Liter"/>
                <a:ea typeface="Liter"/>
                <a:cs typeface="Liter"/>
                <a:sym typeface="Liter"/>
              </a:rPr>
              <a:t>21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4"/>
          <p:cNvSpPr txBox="1"/>
          <p:nvPr/>
        </p:nvSpPr>
        <p:spPr>
          <a:xfrm>
            <a:off x="812800" y="5588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WRAP-UP</a:t>
            </a:r>
            <a:endParaRPr b="0" i="0" sz="1200" u="none" cap="none" strike="noStrike"/>
          </a:p>
        </p:txBody>
      </p:sp>
      <p:sp>
        <p:nvSpPr>
          <p:cNvPr id="596" name="Google Shape;596;p24"/>
          <p:cNvSpPr txBox="1"/>
          <p:nvPr/>
        </p:nvSpPr>
        <p:spPr>
          <a:xfrm>
            <a:off x="812800" y="1371600"/>
            <a:ext cx="91440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YOU CAN DRIVE</a:t>
            </a:r>
            <a:endParaRPr b="0" i="0" sz="6200" u="none" cap="none" strike="noStrike"/>
          </a:p>
        </p:txBody>
      </p:sp>
      <p:sp>
        <p:nvSpPr>
          <p:cNvPr id="597" name="Google Shape;597;p24"/>
          <p:cNvSpPr txBox="1"/>
          <p:nvPr/>
        </p:nvSpPr>
        <p:spPr>
          <a:xfrm>
            <a:off x="812800" y="2387600"/>
            <a:ext cx="91440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WINDOWS NOW.</a:t>
            </a:r>
            <a:endParaRPr b="0" i="0" sz="6200" u="none" cap="none" strike="noStrike"/>
          </a:p>
        </p:txBody>
      </p:sp>
      <p:sp>
        <p:nvSpPr>
          <p:cNvPr id="598" name="Google Shape;598;p24"/>
          <p:cNvSpPr txBox="1"/>
          <p:nvPr/>
        </p:nvSpPr>
        <p:spPr>
          <a:xfrm>
            <a:off x="812800" y="3708400"/>
            <a:ext cx="9906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Navigate, lock, tweak settings, watch Task Manager, install safely, connect remotely, and keep files tidy — the daily moves of a data systems administrator.</a:t>
            </a:r>
            <a:endParaRPr b="0" i="0" sz="1600" u="none" cap="none" strike="noStrike"/>
          </a:p>
        </p:txBody>
      </p:sp>
      <p:sp>
        <p:nvSpPr>
          <p:cNvPr id="599" name="Google Shape;599;p24"/>
          <p:cNvSpPr txBox="1"/>
          <p:nvPr/>
        </p:nvSpPr>
        <p:spPr>
          <a:xfrm>
            <a:off x="812800" y="46482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Next up — Module 02: User Accounts &amp; Permissions.</a:t>
            </a:r>
            <a:endParaRPr b="0" i="0" sz="1300" u="none" cap="none" strike="noStrike"/>
          </a:p>
        </p:txBody>
      </p:sp>
      <p:sp>
        <p:nvSpPr>
          <p:cNvPr id="600" name="Google Shape;600;p24"/>
          <p:cNvSpPr/>
          <p:nvPr/>
        </p:nvSpPr>
        <p:spPr>
          <a:xfrm>
            <a:off x="812800" y="5689600"/>
            <a:ext cx="10566400" cy="6858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"/>
          <p:cNvSpPr txBox="1"/>
          <p:nvPr/>
        </p:nvSpPr>
        <p:spPr>
          <a:xfrm>
            <a:off x="812800" y="58674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PRACTICE · EXPLORE · ASK QUESTIONS</a:t>
            </a:r>
            <a:endParaRPr b="0" i="0" sz="1800" u="none" cap="none" strike="noStrike"/>
          </a:p>
        </p:txBody>
      </p:sp>
      <p:sp>
        <p:nvSpPr>
          <p:cNvPr id="602" name="Google Shape;602;p24"/>
          <p:cNvSpPr txBox="1"/>
          <p:nvPr/>
        </p:nvSpPr>
        <p:spPr>
          <a:xfrm>
            <a:off x="11023600" y="63754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