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12192000" cy="6858000"/>
  <p:embeddedFontLst>
    <p:embeddedFont>
      <p:font typeface="Jersey 15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Jersey15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Welcome the class. This course teaches one job skill: finding and fixing computer and network problems methodically, then writing down what you did.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Show the whole course as six stops. Each stop is one unit. Preview what learners will be able to do by the 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" name="Google Shape;21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Unit 1 with the classic vague ticket. Ask students what they would do first — most will guess. The unit replaces guessing with a method.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Teach the six steps as one habit. Stress step 3 (one change at a time) and step 6 (document) — beginners skip both.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Three directions to attack a problem, all referencing the OSI ladder from Unit 2. Ask students which direction fits which symptom.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Run as a think-pair-share. Scope questions first, then the scenario. Completion criterion: one sentence naming what is affected, what is not, and the first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Unit 2. The OSI model is a map, not memorization homework. Layers 1-4 are where nearly every hands-on network fault lives.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 the ladder bottom-up. L1 at the bottom is where you start. Each rung has one check question students can say out loud.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Run the bottom line as a rapid-fire game: instructor calls a symptom, class calls the layer.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Demo live with cmd. The four pings bisect the problem space — this is divide-and-conquer from Unit 01 made concrete.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Myth check. Both misconceptions are extremely common among beginners — surface them explicitly before they harden.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Unit 3. Demonstrate Win+R live before showing the slides that follow — the speed sells itself.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Have students type each command as you cover it. The personal cheat sheet is this unit's exit artifact.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point: menus, Run, and command line all reach the same consoles. Run is simply the fastest door. Decode the file endings so the commands stop feeling like magic spells.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Unit 4. These three tools answer three questions: what's running, what's stopped, what went wrong.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7" name="Google Shape;317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Triage order matters: look before you kill. Ending a task is the last step, not the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Print Spooler demo is the safest service experiment: instantly visible cause and effect, zero risk.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1" name="Google Shape;351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Event Viewer connects directly to Unit 06: logs are the evidence you quote in your log-book entries.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0" name="Google Shape;370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Unit 5. Launch it the Unit-3 way: Win+R, inetcpl.cpl. This unit handles the classic "internet is down" ticket where the network is actually fine.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1" name="Google Shape;391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Sequence matters: run the ping ladder first. Only when it passes do you look here. The bogus-proxy ticket is a real classic — sometimes a malware leftover.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2" name="Google Shape;402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Unit 6. Frame documentation as a superpower, not homework: it is what makes the next fix faster.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4" name="Google Shape;434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six lines map 1:1 to ticket fields in any help-desk system. A ticket system is just a log book with search.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5" name="Google Shape;445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Close with the transfer: the kit fits on one cheat-sheet card. The assignment — keep a log book at every lab — starts this week.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6" name="Google Shape;466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7874000" y="711200"/>
            <a:ext cx="3606800" cy="2489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3"/>
          <p:cNvSpPr/>
          <p:nvPr/>
        </p:nvSpPr>
        <p:spPr>
          <a:xfrm flipH="1" rot="10800000">
            <a:off x="9093200" y="2489200"/>
            <a:ext cx="2133600" cy="1676400"/>
          </a:xfrm>
          <a:prstGeom prst="rtTriangle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7620000" y="3276600"/>
            <a:ext cx="1879600" cy="14224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10312400" y="4216400"/>
            <a:ext cx="1168400" cy="7874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711200" y="6604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DATA SYSTEMS ADMINISTRATOR · ENTRY-LEVEL COURSE</a:t>
            </a:r>
            <a:endParaRPr b="0" i="0" sz="1300" u="none" cap="none" strike="noStrike"/>
          </a:p>
        </p:txBody>
      </p:sp>
      <p:sp>
        <p:nvSpPr>
          <p:cNvPr id="16" name="Google Shape;16;p3"/>
          <p:cNvSpPr txBox="1"/>
          <p:nvPr/>
        </p:nvSpPr>
        <p:spPr>
          <a:xfrm>
            <a:off x="660400" y="1168400"/>
            <a:ext cx="6604000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TROUBLE-</a:t>
            </a:r>
            <a:endParaRPr b="0" i="0" sz="1600" u="none" cap="none" strike="noStrike"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SHOOTING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600" u="none" cap="none" strike="noStrike"/>
          </a:p>
        </p:txBody>
      </p:sp>
      <p:sp>
        <p:nvSpPr>
          <p:cNvPr id="17" name="Google Shape;17;p3"/>
          <p:cNvSpPr txBox="1"/>
          <p:nvPr/>
        </p:nvSpPr>
        <p:spPr>
          <a:xfrm>
            <a:off x="711200" y="5080000"/>
            <a:ext cx="59690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Find it. Fix it. </a:t>
            </a:r>
            <a:r>
              <a:rPr b="0" i="0" lang="en-US" sz="2100" u="sng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Write it down.</a:t>
            </a:r>
            <a:endParaRPr b="0" i="0" sz="2100" u="none" cap="none" strike="noStrike"/>
          </a:p>
        </p:txBody>
      </p:sp>
      <p:sp>
        <p:nvSpPr>
          <p:cNvPr id="18" name="Google Shape;18;p3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711200" y="60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COURSE ROUTE</a:t>
            </a:r>
            <a:endParaRPr b="0" i="0" sz="1200" u="none" cap="none" strike="noStrike"/>
          </a:p>
        </p:txBody>
      </p:sp>
      <p:sp>
        <p:nvSpPr>
          <p:cNvPr id="24" name="Google Shape;24;p4"/>
          <p:cNvSpPr txBox="1"/>
          <p:nvPr/>
        </p:nvSpPr>
        <p:spPr>
          <a:xfrm>
            <a:off x="711200" y="9398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ONE SKILL.</a:t>
            </a:r>
            <a:endParaRPr b="0" i="0" sz="1600" u="none" cap="none" strike="noStrike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SIX STOPS.</a:t>
            </a:r>
            <a:endParaRPr b="0" i="0" sz="1600" u="none" cap="none" strike="noStrike"/>
          </a:p>
        </p:txBody>
      </p:sp>
      <p:sp>
        <p:nvSpPr>
          <p:cNvPr id="25" name="Google Shape;25;p4"/>
          <p:cNvSpPr txBox="1"/>
          <p:nvPr/>
        </p:nvSpPr>
        <p:spPr>
          <a:xfrm>
            <a:off x="711200" y="2489200"/>
            <a:ext cx="2159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6</a:t>
            </a:r>
            <a:endParaRPr b="0" i="0" sz="15000" u="none" cap="none" strike="noStrike"/>
          </a:p>
        </p:txBody>
      </p:sp>
      <p:sp>
        <p:nvSpPr>
          <p:cNvPr id="26" name="Google Shape;26;p4"/>
          <p:cNvSpPr txBox="1"/>
          <p:nvPr/>
        </p:nvSpPr>
        <p:spPr>
          <a:xfrm>
            <a:off x="711200" y="4470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hands-on units, one job skill each</a:t>
            </a:r>
            <a:endParaRPr b="0" i="0" sz="1300" u="none" cap="none" strike="noStrike"/>
          </a:p>
        </p:txBody>
      </p:sp>
      <p:sp>
        <p:nvSpPr>
          <p:cNvPr id="27" name="Google Shape;27;p4"/>
          <p:cNvSpPr txBox="1"/>
          <p:nvPr/>
        </p:nvSpPr>
        <p:spPr>
          <a:xfrm>
            <a:off x="711200" y="53340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F04A"/>
                </a:solidFill>
                <a:latin typeface="Arial"/>
                <a:ea typeface="Arial"/>
                <a:cs typeface="Arial"/>
                <a:sym typeface="Arial"/>
              </a:rPr>
              <a:t>AFTER THIS COURSE</a:t>
            </a:r>
            <a:endParaRPr b="0" i="0" sz="1100" u="none" cap="none" strike="noStrike"/>
          </a:p>
        </p:txBody>
      </p:sp>
      <p:sp>
        <p:nvSpPr>
          <p:cNvPr id="28" name="Google Shape;28;p4"/>
          <p:cNvSpPr txBox="1"/>
          <p:nvPr/>
        </p:nvSpPr>
        <p:spPr>
          <a:xfrm>
            <a:off x="711200" y="5613400"/>
            <a:ext cx="28448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You can isolate a fault layer by layer, open any admin tool in seconds, read the logs, and write the ticket.</a:t>
            </a:r>
            <a:endParaRPr b="0" i="0" sz="1200" u="none" cap="none" strike="noStrike"/>
          </a:p>
        </p:txBody>
      </p:sp>
      <p:sp>
        <p:nvSpPr>
          <p:cNvPr id="29" name="Google Shape;29;p4"/>
          <p:cNvSpPr txBox="1"/>
          <p:nvPr/>
        </p:nvSpPr>
        <p:spPr>
          <a:xfrm>
            <a:off x="3810000" y="2489200"/>
            <a:ext cx="584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01</a:t>
            </a:r>
            <a:endParaRPr b="0" i="0" sz="2600" u="none" cap="none" strike="noStrike"/>
          </a:p>
        </p:txBody>
      </p:sp>
      <p:sp>
        <p:nvSpPr>
          <p:cNvPr id="30" name="Google Shape;30;p4"/>
          <p:cNvSpPr txBox="1"/>
          <p:nvPr/>
        </p:nvSpPr>
        <p:spPr>
          <a:xfrm>
            <a:off x="4521200" y="25146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Think like a troubleshooter</a:t>
            </a:r>
            <a:endParaRPr b="0" i="0" sz="1600" u="none" cap="none" strike="noStrike"/>
          </a:p>
        </p:txBody>
      </p:sp>
      <p:sp>
        <p:nvSpPr>
          <p:cNvPr id="31" name="Google Shape;31;p4"/>
          <p:cNvSpPr txBox="1"/>
          <p:nvPr/>
        </p:nvSpPr>
        <p:spPr>
          <a:xfrm>
            <a:off x="4521200" y="28067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the six-step method, start to finish</a:t>
            </a:r>
            <a:endParaRPr b="0" i="0" sz="1200" u="none" cap="none" strike="noStrike"/>
          </a:p>
        </p:txBody>
      </p:sp>
      <p:sp>
        <p:nvSpPr>
          <p:cNvPr id="32" name="Google Shape;32;p4"/>
          <p:cNvSpPr txBox="1"/>
          <p:nvPr/>
        </p:nvSpPr>
        <p:spPr>
          <a:xfrm>
            <a:off x="3810000" y="3149600"/>
            <a:ext cx="584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02</a:t>
            </a:r>
            <a:endParaRPr b="0" i="0" sz="2600" u="none" cap="none" strike="noStrike"/>
          </a:p>
        </p:txBody>
      </p:sp>
      <p:sp>
        <p:nvSpPr>
          <p:cNvPr id="33" name="Google Shape;33;p4"/>
          <p:cNvSpPr txBox="1"/>
          <p:nvPr/>
        </p:nvSpPr>
        <p:spPr>
          <a:xfrm>
            <a:off x="4521200" y="31750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Read the OSI ladder</a:t>
            </a:r>
            <a:endParaRPr b="0" i="0" sz="1600" u="none" cap="none" strike="noStrike"/>
          </a:p>
        </p:txBody>
      </p:sp>
      <p:sp>
        <p:nvSpPr>
          <p:cNvPr id="34" name="Google Shape;34;p4"/>
          <p:cNvSpPr txBox="1"/>
          <p:nvPr/>
        </p:nvSpPr>
        <p:spPr>
          <a:xfrm>
            <a:off x="4521200" y="34671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layers 1–4, symptom by symptom</a:t>
            </a:r>
            <a:endParaRPr b="0" i="0" sz="1200" u="none" cap="none" strike="noStrike"/>
          </a:p>
        </p:txBody>
      </p:sp>
      <p:sp>
        <p:nvSpPr>
          <p:cNvPr id="35" name="Google Shape;35;p4"/>
          <p:cNvSpPr txBox="1"/>
          <p:nvPr/>
        </p:nvSpPr>
        <p:spPr>
          <a:xfrm>
            <a:off x="3810000" y="3810000"/>
            <a:ext cx="584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03</a:t>
            </a:r>
            <a:endParaRPr b="0" i="0" sz="2600" u="none" cap="none" strike="noStrike"/>
          </a:p>
        </p:txBody>
      </p:sp>
      <p:sp>
        <p:nvSpPr>
          <p:cNvPr id="36" name="Google Shape;36;p4"/>
          <p:cNvSpPr txBox="1"/>
          <p:nvPr/>
        </p:nvSpPr>
        <p:spPr>
          <a:xfrm>
            <a:off x="4521200" y="38354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Drive the Run menu</a:t>
            </a:r>
            <a:endParaRPr b="0" i="0" sz="1600" u="none" cap="none" strike="noStrike"/>
          </a:p>
        </p:txBody>
      </p:sp>
      <p:sp>
        <p:nvSpPr>
          <p:cNvPr id="37" name="Google Shape;37;p4"/>
          <p:cNvSpPr txBox="1"/>
          <p:nvPr/>
        </p:nvSpPr>
        <p:spPr>
          <a:xfrm>
            <a:off x="4521200" y="41275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Win+R — the fast lane to every admin tool</a:t>
            </a:r>
            <a:endParaRPr b="0" i="0" sz="1200" u="none" cap="none" strike="noStrike"/>
          </a:p>
        </p:txBody>
      </p:sp>
      <p:sp>
        <p:nvSpPr>
          <p:cNvPr id="38" name="Google Shape;38;p4"/>
          <p:cNvSpPr txBox="1"/>
          <p:nvPr/>
        </p:nvSpPr>
        <p:spPr>
          <a:xfrm>
            <a:off x="3810000" y="4470400"/>
            <a:ext cx="584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04</a:t>
            </a:r>
            <a:endParaRPr b="0" i="0" sz="2600" u="none" cap="none" strike="noStrike"/>
          </a:p>
        </p:txBody>
      </p:sp>
      <p:sp>
        <p:nvSpPr>
          <p:cNvPr id="39" name="Google Shape;39;p4"/>
          <p:cNvSpPr txBox="1"/>
          <p:nvPr/>
        </p:nvSpPr>
        <p:spPr>
          <a:xfrm>
            <a:off x="4521200" y="44958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Triage with Windows tools</a:t>
            </a:r>
            <a:endParaRPr b="0" i="0" sz="1600" u="none" cap="none" strike="noStrike"/>
          </a:p>
        </p:txBody>
      </p:sp>
      <p:sp>
        <p:nvSpPr>
          <p:cNvPr id="40" name="Google Shape;40;p4"/>
          <p:cNvSpPr txBox="1"/>
          <p:nvPr/>
        </p:nvSpPr>
        <p:spPr>
          <a:xfrm>
            <a:off x="4521200" y="47879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Task Manager · Services · Event Viewer</a:t>
            </a:r>
            <a:endParaRPr b="0" i="0" sz="1200" u="none" cap="none" strike="noStrike"/>
          </a:p>
        </p:txBody>
      </p:sp>
      <p:sp>
        <p:nvSpPr>
          <p:cNvPr id="41" name="Google Shape;41;p4"/>
          <p:cNvSpPr txBox="1"/>
          <p:nvPr/>
        </p:nvSpPr>
        <p:spPr>
          <a:xfrm>
            <a:off x="3810000" y="5130800"/>
            <a:ext cx="584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05</a:t>
            </a:r>
            <a:endParaRPr b="0" i="0" sz="2600" u="none" cap="none" strike="noStrike"/>
          </a:p>
        </p:txBody>
      </p:sp>
      <p:sp>
        <p:nvSpPr>
          <p:cNvPr id="42" name="Google Shape;42;p4"/>
          <p:cNvSpPr txBox="1"/>
          <p:nvPr/>
        </p:nvSpPr>
        <p:spPr>
          <a:xfrm>
            <a:off x="4521200" y="51562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Tune Internet Options</a:t>
            </a:r>
            <a:endParaRPr b="0" i="0" sz="1600" u="none" cap="none" strike="noStrike"/>
          </a:p>
        </p:txBody>
      </p:sp>
      <p:sp>
        <p:nvSpPr>
          <p:cNvPr id="43" name="Google Shape;43;p4"/>
          <p:cNvSpPr txBox="1"/>
          <p:nvPr/>
        </p:nvSpPr>
        <p:spPr>
          <a:xfrm>
            <a:off x="4521200" y="54483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when ping works but the browser doesn't</a:t>
            </a:r>
            <a:endParaRPr b="0" i="0" sz="1200" u="none" cap="none" strike="noStrike"/>
          </a:p>
        </p:txBody>
      </p:sp>
      <p:sp>
        <p:nvSpPr>
          <p:cNvPr id="44" name="Google Shape;44;p4"/>
          <p:cNvSpPr txBox="1"/>
          <p:nvPr/>
        </p:nvSpPr>
        <p:spPr>
          <a:xfrm>
            <a:off x="3810000" y="5791200"/>
            <a:ext cx="584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06</a:t>
            </a:r>
            <a:endParaRPr b="0" i="0" sz="2600" u="none" cap="none" strike="noStrike"/>
          </a:p>
        </p:txBody>
      </p:sp>
      <p:sp>
        <p:nvSpPr>
          <p:cNvPr id="45" name="Google Shape;45;p4"/>
          <p:cNvSpPr txBox="1"/>
          <p:nvPr/>
        </p:nvSpPr>
        <p:spPr>
          <a:xfrm>
            <a:off x="4521200" y="58166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Log it at the help desk</a:t>
            </a:r>
            <a:endParaRPr b="0" i="0" sz="1600" u="none" cap="none" strike="noStrike"/>
          </a:p>
        </p:txBody>
      </p:sp>
      <p:sp>
        <p:nvSpPr>
          <p:cNvPr id="46" name="Google Shape;46;p4"/>
          <p:cNvSpPr txBox="1"/>
          <p:nvPr/>
        </p:nvSpPr>
        <p:spPr>
          <a:xfrm>
            <a:off x="4521200" y="61087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record keeping that saves the next tech</a:t>
            </a:r>
            <a:endParaRPr b="0" i="0" sz="1200" u="none" cap="none" strike="noStrike"/>
          </a:p>
        </p:txBody>
      </p:sp>
      <p:sp>
        <p:nvSpPr>
          <p:cNvPr id="47" name="Google Shape;47;p4"/>
          <p:cNvSpPr/>
          <p:nvPr/>
        </p:nvSpPr>
        <p:spPr>
          <a:xfrm>
            <a:off x="3810000" y="3098800"/>
            <a:ext cx="7670800" cy="25400"/>
          </a:xfrm>
          <a:custGeom>
            <a:rect b="b" l="l" r="r" t="t"/>
            <a:pathLst>
              <a:path extrusionOk="0" h="2" w="604">
                <a:moveTo>
                  <a:pt x="0" y="1"/>
                </a:moveTo>
                <a:lnTo>
                  <a:pt x="604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"/>
          <p:cNvSpPr/>
          <p:nvPr/>
        </p:nvSpPr>
        <p:spPr>
          <a:xfrm>
            <a:off x="3810000" y="3759200"/>
            <a:ext cx="7670800" cy="25400"/>
          </a:xfrm>
          <a:custGeom>
            <a:rect b="b" l="l" r="r" t="t"/>
            <a:pathLst>
              <a:path extrusionOk="0" h="2" w="604">
                <a:moveTo>
                  <a:pt x="0" y="1"/>
                </a:moveTo>
                <a:lnTo>
                  <a:pt x="604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"/>
          <p:cNvSpPr/>
          <p:nvPr/>
        </p:nvSpPr>
        <p:spPr>
          <a:xfrm>
            <a:off x="3810000" y="4419600"/>
            <a:ext cx="7670800" cy="25400"/>
          </a:xfrm>
          <a:custGeom>
            <a:rect b="b" l="l" r="r" t="t"/>
            <a:pathLst>
              <a:path extrusionOk="0" h="2" w="604">
                <a:moveTo>
                  <a:pt x="0" y="1"/>
                </a:moveTo>
                <a:lnTo>
                  <a:pt x="604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"/>
          <p:cNvSpPr/>
          <p:nvPr/>
        </p:nvSpPr>
        <p:spPr>
          <a:xfrm>
            <a:off x="3810000" y="5080000"/>
            <a:ext cx="7670800" cy="25400"/>
          </a:xfrm>
          <a:custGeom>
            <a:rect b="b" l="l" r="r" t="t"/>
            <a:pathLst>
              <a:path extrusionOk="0" h="2" w="604">
                <a:moveTo>
                  <a:pt x="0" y="1"/>
                </a:moveTo>
                <a:lnTo>
                  <a:pt x="604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"/>
          <p:cNvSpPr/>
          <p:nvPr/>
        </p:nvSpPr>
        <p:spPr>
          <a:xfrm>
            <a:off x="3810000" y="5740400"/>
            <a:ext cx="7670800" cy="25400"/>
          </a:xfrm>
          <a:custGeom>
            <a:rect b="b" l="l" r="r" t="t"/>
            <a:pathLst>
              <a:path extrusionOk="0" h="2" w="604">
                <a:moveTo>
                  <a:pt x="0" y="1"/>
                </a:moveTo>
                <a:lnTo>
                  <a:pt x="604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7620000" y="889000"/>
            <a:ext cx="3860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01</a:t>
            </a:r>
            <a:endParaRPr b="0" i="0" sz="21000" u="none" cap="none" strike="noStrike"/>
          </a:p>
        </p:txBody>
      </p:sp>
      <p:sp>
        <p:nvSpPr>
          <p:cNvPr id="58" name="Google Shape;58;p5"/>
          <p:cNvSpPr/>
          <p:nvPr/>
        </p:nvSpPr>
        <p:spPr>
          <a:xfrm>
            <a:off x="10871200" y="4064000"/>
            <a:ext cx="609600" cy="431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711200" y="76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01 · METHOD</a:t>
            </a:r>
            <a:endParaRPr b="0" i="0" sz="1200" u="none" cap="none" strike="noStrike"/>
          </a:p>
        </p:txBody>
      </p:sp>
      <p:sp>
        <p:nvSpPr>
          <p:cNvPr id="60" name="Google Shape;60;p5"/>
          <p:cNvSpPr txBox="1"/>
          <p:nvPr/>
        </p:nvSpPr>
        <p:spPr>
          <a:xfrm>
            <a:off x="711200" y="1905000"/>
            <a:ext cx="660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THINK LIKE A</a:t>
            </a:r>
            <a:endParaRPr b="0" i="0" sz="1600" u="none" cap="none" strike="noStrike"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TROUBLESHOOTER</a:t>
            </a:r>
            <a:endParaRPr b="0" i="0" sz="1600" u="none" cap="none" strike="noStrike"/>
          </a:p>
        </p:txBody>
      </p:sp>
      <p:sp>
        <p:nvSpPr>
          <p:cNvPr id="61" name="Google Shape;61;p5"/>
          <p:cNvSpPr txBox="1"/>
          <p:nvPr/>
        </p:nvSpPr>
        <p:spPr>
          <a:xfrm>
            <a:off x="711200" y="3886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A user says: “The internet is broken.”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Where do you even start? This unit gives you a method that always has a next step.</a:t>
            </a:r>
            <a:endParaRPr b="0" i="0" sz="1600" u="none" cap="none" strike="noStrike"/>
          </a:p>
        </p:txBody>
      </p:sp>
      <p:sp>
        <p:nvSpPr>
          <p:cNvPr id="62" name="Google Shape;62;p5"/>
          <p:cNvSpPr txBox="1"/>
          <p:nvPr/>
        </p:nvSpPr>
        <p:spPr>
          <a:xfrm>
            <a:off x="711200" y="55372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In this unit: the six-step method · three ways to attack a problem · narrowing the blast radius</a:t>
            </a:r>
            <a:endParaRPr b="0" i="0" sz="1250" u="none" cap="none" strike="noStrike"/>
          </a:p>
        </p:txBody>
      </p:sp>
      <p:sp>
        <p:nvSpPr>
          <p:cNvPr id="63" name="Google Shape;63;p5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01 · THE METHOD</a:t>
            </a:r>
            <a:endParaRPr b="0" i="0" sz="1200" u="none" cap="none" strike="noStrike"/>
          </a:p>
        </p:txBody>
      </p:sp>
      <p:sp>
        <p:nvSpPr>
          <p:cNvPr id="69" name="Google Shape;69;p6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70" name="Google Shape;70;p6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Six steps. Same order. Every single ticket.</a:t>
            </a:r>
            <a:endParaRPr b="0" i="0" sz="3600" u="none" cap="none" strike="noStrike"/>
          </a:p>
        </p:txBody>
      </p:sp>
      <p:sp>
        <p:nvSpPr>
          <p:cNvPr id="71" name="Google Shape;71;p6"/>
          <p:cNvSpPr txBox="1"/>
          <p:nvPr/>
        </p:nvSpPr>
        <p:spPr>
          <a:xfrm>
            <a:off x="711200" y="18796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1</a:t>
            </a:r>
            <a:endParaRPr b="0" i="0" sz="2800" u="none" cap="none" strike="noStrike"/>
          </a:p>
        </p:txBody>
      </p:sp>
      <p:sp>
        <p:nvSpPr>
          <p:cNvPr id="72" name="Google Shape;72;p6"/>
          <p:cNvSpPr txBox="1"/>
          <p:nvPr/>
        </p:nvSpPr>
        <p:spPr>
          <a:xfrm>
            <a:off x="1422400" y="1930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Identify the problem</a:t>
            </a:r>
            <a:endParaRPr b="0" i="0" sz="1650" u="none" cap="none" strike="noStrike"/>
          </a:p>
        </p:txBody>
      </p:sp>
      <p:sp>
        <p:nvSpPr>
          <p:cNvPr id="73" name="Google Shape;73;p6"/>
          <p:cNvSpPr txBox="1"/>
          <p:nvPr/>
        </p:nvSpPr>
        <p:spPr>
          <a:xfrm>
            <a:off x="5181600" y="1930400"/>
            <a:ext cx="629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Ask: what exactly fails? What changed? Since when?</a:t>
            </a:r>
            <a:endParaRPr b="0" i="0" sz="1300" u="none" cap="none" strike="noStrike"/>
          </a:p>
        </p:txBody>
      </p:sp>
      <p:sp>
        <p:nvSpPr>
          <p:cNvPr id="74" name="Google Shape;74;p6"/>
          <p:cNvSpPr txBox="1"/>
          <p:nvPr/>
        </p:nvSpPr>
        <p:spPr>
          <a:xfrm>
            <a:off x="711200" y="25908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2</a:t>
            </a:r>
            <a:endParaRPr b="0" i="0" sz="2800" u="none" cap="none" strike="noStrike"/>
          </a:p>
        </p:txBody>
      </p:sp>
      <p:sp>
        <p:nvSpPr>
          <p:cNvPr id="75" name="Google Shape;75;p6"/>
          <p:cNvSpPr txBox="1"/>
          <p:nvPr/>
        </p:nvSpPr>
        <p:spPr>
          <a:xfrm>
            <a:off x="1422400" y="2641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Establish a theory</a:t>
            </a:r>
            <a:endParaRPr b="0" i="0" sz="1650" u="none" cap="none" strike="noStrike"/>
          </a:p>
        </p:txBody>
      </p:sp>
      <p:sp>
        <p:nvSpPr>
          <p:cNvPr id="76" name="Google Shape;76;p6"/>
          <p:cNvSpPr txBox="1"/>
          <p:nvPr/>
        </p:nvSpPr>
        <p:spPr>
          <a:xfrm>
            <a:off x="5181600" y="2641600"/>
            <a:ext cx="629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Start with the most likely cause, not the most exotic one.</a:t>
            </a:r>
            <a:endParaRPr b="0" i="0" sz="1300" u="none" cap="none" strike="noStrike"/>
          </a:p>
        </p:txBody>
      </p:sp>
      <p:sp>
        <p:nvSpPr>
          <p:cNvPr id="77" name="Google Shape;77;p6"/>
          <p:cNvSpPr txBox="1"/>
          <p:nvPr/>
        </p:nvSpPr>
        <p:spPr>
          <a:xfrm>
            <a:off x="711200" y="33020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3</a:t>
            </a:r>
            <a:endParaRPr b="0" i="0" sz="2800" u="none" cap="none" strike="noStrike"/>
          </a:p>
        </p:txBody>
      </p:sp>
      <p:sp>
        <p:nvSpPr>
          <p:cNvPr id="78" name="Google Shape;78;p6"/>
          <p:cNvSpPr txBox="1"/>
          <p:nvPr/>
        </p:nvSpPr>
        <p:spPr>
          <a:xfrm>
            <a:off x="1422400" y="33528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Test the theory</a:t>
            </a:r>
            <a:endParaRPr b="0" i="0" sz="1650" u="none" cap="none" strike="noStrike"/>
          </a:p>
        </p:txBody>
      </p:sp>
      <p:sp>
        <p:nvSpPr>
          <p:cNvPr id="79" name="Google Shape;79;p6"/>
          <p:cNvSpPr txBox="1"/>
          <p:nvPr/>
        </p:nvSpPr>
        <p:spPr>
          <a:xfrm>
            <a:off x="5181600" y="3352800"/>
            <a:ext cx="629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Change one thing at a time, so you know what worked.</a:t>
            </a:r>
            <a:endParaRPr b="0" i="0" sz="1300" u="none" cap="none" strike="noStrike"/>
          </a:p>
        </p:txBody>
      </p:sp>
      <p:sp>
        <p:nvSpPr>
          <p:cNvPr id="80" name="Google Shape;80;p6"/>
          <p:cNvSpPr txBox="1"/>
          <p:nvPr/>
        </p:nvSpPr>
        <p:spPr>
          <a:xfrm>
            <a:off x="711200" y="40132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4</a:t>
            </a:r>
            <a:endParaRPr b="0" i="0" sz="2800" u="none" cap="none" strike="noStrike"/>
          </a:p>
        </p:txBody>
      </p:sp>
      <p:sp>
        <p:nvSpPr>
          <p:cNvPr id="81" name="Google Shape;81;p6"/>
          <p:cNvSpPr txBox="1"/>
          <p:nvPr/>
        </p:nvSpPr>
        <p:spPr>
          <a:xfrm>
            <a:off x="1422400" y="4064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Plan the fix</a:t>
            </a:r>
            <a:endParaRPr b="0" i="0" sz="1650" u="none" cap="none" strike="noStrike"/>
          </a:p>
        </p:txBody>
      </p:sp>
      <p:sp>
        <p:nvSpPr>
          <p:cNvPr id="82" name="Google Shape;82;p6"/>
          <p:cNvSpPr txBox="1"/>
          <p:nvPr/>
        </p:nvSpPr>
        <p:spPr>
          <a:xfrm>
            <a:off x="5181600" y="4064000"/>
            <a:ext cx="629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Big or risky changes get a plan before anyone touches anything.</a:t>
            </a:r>
            <a:endParaRPr b="0" i="0" sz="1300" u="none" cap="none" strike="noStrike"/>
          </a:p>
        </p:txBody>
      </p:sp>
      <p:sp>
        <p:nvSpPr>
          <p:cNvPr id="83" name="Google Shape;83;p6"/>
          <p:cNvSpPr txBox="1"/>
          <p:nvPr/>
        </p:nvSpPr>
        <p:spPr>
          <a:xfrm>
            <a:off x="711200" y="47244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5</a:t>
            </a:r>
            <a:endParaRPr b="0" i="0" sz="2800" u="none" cap="none" strike="noStrike"/>
          </a:p>
        </p:txBody>
      </p:sp>
      <p:sp>
        <p:nvSpPr>
          <p:cNvPr id="84" name="Google Shape;84;p6"/>
          <p:cNvSpPr txBox="1"/>
          <p:nvPr/>
        </p:nvSpPr>
        <p:spPr>
          <a:xfrm>
            <a:off x="1422400" y="47752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650" u="none" cap="none" strike="noStrike"/>
          </a:p>
        </p:txBody>
      </p:sp>
      <p:sp>
        <p:nvSpPr>
          <p:cNvPr id="85" name="Google Shape;85;p6"/>
          <p:cNvSpPr txBox="1"/>
          <p:nvPr/>
        </p:nvSpPr>
        <p:spPr>
          <a:xfrm>
            <a:off x="5181600" y="4775200"/>
            <a:ext cx="629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Confirm the original problem is gone — and nothing new broke.</a:t>
            </a:r>
            <a:endParaRPr b="0" i="0" sz="1300" u="none" cap="none" strike="noStrike"/>
          </a:p>
        </p:txBody>
      </p:sp>
      <p:sp>
        <p:nvSpPr>
          <p:cNvPr id="86" name="Google Shape;86;p6"/>
          <p:cNvSpPr txBox="1"/>
          <p:nvPr/>
        </p:nvSpPr>
        <p:spPr>
          <a:xfrm>
            <a:off x="711200" y="54356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6</a:t>
            </a:r>
            <a:endParaRPr b="0" i="0" sz="2800" u="none" cap="none" strike="noStrike"/>
          </a:p>
        </p:txBody>
      </p:sp>
      <p:sp>
        <p:nvSpPr>
          <p:cNvPr id="87" name="Google Shape;87;p6"/>
          <p:cNvSpPr txBox="1"/>
          <p:nvPr/>
        </p:nvSpPr>
        <p:spPr>
          <a:xfrm>
            <a:off x="1422400" y="5486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 b="0" i="0" sz="1650" u="none" cap="none" strike="noStrike"/>
          </a:p>
        </p:txBody>
      </p:sp>
      <p:sp>
        <p:nvSpPr>
          <p:cNvPr id="88" name="Google Shape;88;p6"/>
          <p:cNvSpPr txBox="1"/>
          <p:nvPr/>
        </p:nvSpPr>
        <p:spPr>
          <a:xfrm>
            <a:off x="5181600" y="5486400"/>
            <a:ext cx="629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Write down what happened — Unit 06 shows you how.</a:t>
            </a:r>
            <a:endParaRPr b="0" i="0" sz="1300" u="none" cap="none" strike="noStrike"/>
          </a:p>
        </p:txBody>
      </p:sp>
      <p:sp>
        <p:nvSpPr>
          <p:cNvPr id="89" name="Google Shape;89;p6"/>
          <p:cNvSpPr/>
          <p:nvPr/>
        </p:nvSpPr>
        <p:spPr>
          <a:xfrm>
            <a:off x="711200" y="25146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"/>
          <p:cNvSpPr/>
          <p:nvPr/>
        </p:nvSpPr>
        <p:spPr>
          <a:xfrm>
            <a:off x="711200" y="32258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"/>
          <p:cNvSpPr/>
          <p:nvPr/>
        </p:nvSpPr>
        <p:spPr>
          <a:xfrm>
            <a:off x="711200" y="3937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"/>
          <p:cNvSpPr/>
          <p:nvPr/>
        </p:nvSpPr>
        <p:spPr>
          <a:xfrm>
            <a:off x="711200" y="46482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"/>
          <p:cNvSpPr/>
          <p:nvPr/>
        </p:nvSpPr>
        <p:spPr>
          <a:xfrm>
            <a:off x="711200" y="53594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"/>
          <p:cNvSpPr txBox="1"/>
          <p:nvPr/>
        </p:nvSpPr>
        <p:spPr>
          <a:xfrm>
            <a:off x="711200" y="61722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The industry-standard (CompTIA-style) troubleshooting method — the same loop real help desks run on every ticket.</a:t>
            </a:r>
            <a:endParaRPr b="0" i="0" sz="1150" u="none" cap="none" strike="noStrike"/>
          </a:p>
        </p:txBody>
      </p:sp>
      <p:sp>
        <p:nvSpPr>
          <p:cNvPr id="95" name="Google Shape;95;p6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01 · STRATEGY</a:t>
            </a:r>
            <a:endParaRPr b="0" i="0" sz="1200" u="none" cap="none" strike="noStrike"/>
          </a:p>
        </p:txBody>
      </p:sp>
      <p:sp>
        <p:nvSpPr>
          <p:cNvPr id="101" name="Google Shape;101;p7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102" name="Google Shape;102;p7"/>
          <p:cNvSpPr txBox="1"/>
          <p:nvPr/>
        </p:nvSpPr>
        <p:spPr>
          <a:xfrm>
            <a:off x="711200" y="8890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Top, bottom, or straight through the middle?</a:t>
            </a:r>
            <a:endParaRPr b="0" i="0" sz="3400" u="none" cap="none" strike="noStrike"/>
          </a:p>
        </p:txBody>
      </p:sp>
      <p:sp>
        <p:nvSpPr>
          <p:cNvPr id="103" name="Google Shape;103;p7"/>
          <p:cNvSpPr txBox="1"/>
          <p:nvPr/>
        </p:nvSpPr>
        <p:spPr>
          <a:xfrm>
            <a:off x="711200" y="21336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Top-down</a:t>
            </a:r>
            <a:endParaRPr b="0" i="0" sz="2000" u="none" cap="none" strike="noStrike"/>
          </a:p>
        </p:txBody>
      </p:sp>
      <p:sp>
        <p:nvSpPr>
          <p:cNvPr id="104" name="Google Shape;104;p7"/>
          <p:cNvSpPr/>
          <p:nvPr/>
        </p:nvSpPr>
        <p:spPr>
          <a:xfrm>
            <a:off x="711200" y="2514600"/>
            <a:ext cx="812800" cy="635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4191000" y="2057400"/>
            <a:ext cx="7289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Start at the app (browser, email, printer software) and work down the ladder toward the cable.</a:t>
            </a:r>
            <a:endParaRPr b="0" i="0" sz="1400" u="none" cap="none" strike="noStrike"/>
          </a:p>
        </p:txBody>
      </p:sp>
      <p:sp>
        <p:nvSpPr>
          <p:cNvPr id="106" name="Google Shape;106;p7"/>
          <p:cNvSpPr txBox="1"/>
          <p:nvPr/>
        </p:nvSpPr>
        <p:spPr>
          <a:xfrm>
            <a:off x="4191000" y="2590800"/>
            <a:ext cx="728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Best when: one app misbehaves and everything else is fine.</a:t>
            </a:r>
            <a:endParaRPr b="0" i="0" sz="1250" u="none" cap="none" strike="noStrike"/>
          </a:p>
        </p:txBody>
      </p:sp>
      <p:sp>
        <p:nvSpPr>
          <p:cNvPr id="107" name="Google Shape;107;p7"/>
          <p:cNvSpPr txBox="1"/>
          <p:nvPr/>
        </p:nvSpPr>
        <p:spPr>
          <a:xfrm>
            <a:off x="711200" y="35306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Bottom-up</a:t>
            </a:r>
            <a:endParaRPr b="0" i="0" sz="2000" u="none" cap="none" strike="noStrike"/>
          </a:p>
        </p:txBody>
      </p:sp>
      <p:sp>
        <p:nvSpPr>
          <p:cNvPr id="108" name="Google Shape;108;p7"/>
          <p:cNvSpPr/>
          <p:nvPr/>
        </p:nvSpPr>
        <p:spPr>
          <a:xfrm>
            <a:off x="711200" y="3911600"/>
            <a:ext cx="812800" cy="635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4191000" y="3454400"/>
            <a:ext cx="7289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Start at the cable and the link light, then climb the ladder toward the app.</a:t>
            </a:r>
            <a:endParaRPr b="0" i="0" sz="1400" u="none" cap="none" strike="noStrike"/>
          </a:p>
        </p:txBody>
      </p:sp>
      <p:sp>
        <p:nvSpPr>
          <p:cNvPr id="110" name="Google Shape;110;p7"/>
          <p:cNvSpPr txBox="1"/>
          <p:nvPr/>
        </p:nvSpPr>
        <p:spPr>
          <a:xfrm>
            <a:off x="4191000" y="3987800"/>
            <a:ext cx="728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Best when: nothing works at all — a total outage.</a:t>
            </a:r>
            <a:endParaRPr b="0" i="0" sz="1250" u="none" cap="none" strike="noStrike"/>
          </a:p>
        </p:txBody>
      </p:sp>
      <p:sp>
        <p:nvSpPr>
          <p:cNvPr id="111" name="Google Shape;111;p7"/>
          <p:cNvSpPr txBox="1"/>
          <p:nvPr/>
        </p:nvSpPr>
        <p:spPr>
          <a:xfrm>
            <a:off x="711200" y="49276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Divide-and-conquer</a:t>
            </a:r>
            <a:endParaRPr b="0" i="0" sz="2000" u="none" cap="none" strike="noStrike"/>
          </a:p>
        </p:txBody>
      </p:sp>
      <p:sp>
        <p:nvSpPr>
          <p:cNvPr id="112" name="Google Shape;112;p7"/>
          <p:cNvSpPr/>
          <p:nvPr/>
        </p:nvSpPr>
        <p:spPr>
          <a:xfrm>
            <a:off x="711200" y="5308600"/>
            <a:ext cx="812800" cy="635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4191000" y="4851400"/>
            <a:ext cx="7289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Start in the middle with a ping test, then split the problem in half again and again.</a:t>
            </a:r>
            <a:endParaRPr b="0" i="0" sz="1400" u="none" cap="none" strike="noStrike"/>
          </a:p>
        </p:txBody>
      </p:sp>
      <p:sp>
        <p:nvSpPr>
          <p:cNvPr id="114" name="Google Shape;114;p7"/>
          <p:cNvSpPr txBox="1"/>
          <p:nvPr/>
        </p:nvSpPr>
        <p:spPr>
          <a:xfrm>
            <a:off x="4191000" y="5384800"/>
            <a:ext cx="728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Best when: you're not sure where to start — the pro's default.</a:t>
            </a:r>
            <a:endParaRPr b="0" i="0" sz="1250" u="none" cap="none" strike="noStrike"/>
          </a:p>
        </p:txBody>
      </p:sp>
      <p:sp>
        <p:nvSpPr>
          <p:cNvPr id="115" name="Google Shape;115;p7"/>
          <p:cNvSpPr/>
          <p:nvPr/>
        </p:nvSpPr>
        <p:spPr>
          <a:xfrm>
            <a:off x="711200" y="32004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"/>
          <p:cNvSpPr/>
          <p:nvPr/>
        </p:nvSpPr>
        <p:spPr>
          <a:xfrm>
            <a:off x="711200" y="45974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"/>
          <p:cNvSpPr txBox="1"/>
          <p:nvPr/>
        </p:nvSpPr>
        <p:spPr>
          <a:xfrm>
            <a:off x="711200" y="60706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Class call-out:</a:t>
            </a: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I describe a symptom — you call the direction you'd take, and why.</a:t>
            </a:r>
            <a:endParaRPr b="0" i="0" sz="1400" u="none" cap="none" strike="noStrike"/>
          </a:p>
        </p:txBody>
      </p:sp>
      <p:sp>
        <p:nvSpPr>
          <p:cNvPr id="118" name="Google Shape;118;p7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01 · PRACTICE</a:t>
            </a:r>
            <a:endParaRPr b="0" i="0" sz="1200" u="none" cap="none" strike="noStrike"/>
          </a:p>
        </p:txBody>
      </p:sp>
      <p:sp>
        <p:nvSpPr>
          <p:cNvPr id="124" name="Google Shape;124;p8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125" name="Google Shape;125;p8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Drill: how big is the blast radius?</a:t>
            </a:r>
            <a:endParaRPr b="0" i="0" sz="3600" u="none" cap="none" strike="noStrike"/>
          </a:p>
        </p:txBody>
      </p:sp>
      <p:sp>
        <p:nvSpPr>
          <p:cNvPr id="126" name="Google Shape;126;p8"/>
          <p:cNvSpPr txBox="1"/>
          <p:nvPr/>
        </p:nvSpPr>
        <p:spPr>
          <a:xfrm>
            <a:off x="711200" y="1905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Before you touch anything, ask:</a:t>
            </a:r>
            <a:endParaRPr b="0" i="0" sz="1300" u="none" cap="none" strike="noStrike"/>
          </a:p>
        </p:txBody>
      </p:sp>
      <p:sp>
        <p:nvSpPr>
          <p:cNvPr id="127" name="Google Shape;127;p8"/>
          <p:cNvSpPr txBox="1"/>
          <p:nvPr/>
        </p:nvSpPr>
        <p:spPr>
          <a:xfrm>
            <a:off x="711200" y="2260600"/>
            <a:ext cx="4953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b="0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One machine — or the whole room?</a:t>
            </a:r>
            <a:endParaRPr b="0" i="0" sz="15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b="0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One app — or every app?</a:t>
            </a:r>
            <a:endParaRPr b="0" i="0" sz="15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b="0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Wired, Wi-Fi, or both?</a:t>
            </a:r>
            <a:endParaRPr b="0" i="0" sz="15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b="0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Did it ever work? What changed?</a:t>
            </a:r>
            <a:endParaRPr b="0" i="0" sz="1550" u="none" cap="none" strike="noStrike"/>
          </a:p>
        </p:txBody>
      </p:sp>
      <p:sp>
        <p:nvSpPr>
          <p:cNvPr id="128" name="Google Shape;128;p8"/>
          <p:cNvSpPr txBox="1"/>
          <p:nvPr/>
        </p:nvSpPr>
        <p:spPr>
          <a:xfrm>
            <a:off x="711200" y="5232400"/>
            <a:ext cx="4953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Narrowing the scope is the core diagnostic skill — it turns “everything is broken” into a problem you can actually test.</a:t>
            </a:r>
            <a:endParaRPr b="0" i="0" sz="1300" u="none" cap="none" strike="noStrike"/>
          </a:p>
        </p:txBody>
      </p:sp>
      <p:sp>
        <p:nvSpPr>
          <p:cNvPr id="129" name="Google Shape;129;p8"/>
          <p:cNvSpPr/>
          <p:nvPr/>
        </p:nvSpPr>
        <p:spPr>
          <a:xfrm>
            <a:off x="6172200" y="1905000"/>
            <a:ext cx="5308600" cy="38100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6477000" y="21844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PRACTICE SCENARIO · ILLUSTRATIVE</a:t>
            </a:r>
            <a:endParaRPr b="0" i="0" sz="1150" u="none" cap="none" strike="noStrike"/>
          </a:p>
        </p:txBody>
      </p:sp>
      <p:sp>
        <p:nvSpPr>
          <p:cNvPr id="131" name="Google Shape;131;p8"/>
          <p:cNvSpPr txBox="1"/>
          <p:nvPr/>
        </p:nvSpPr>
        <p:spPr>
          <a:xfrm>
            <a:off x="6477000" y="2540000"/>
            <a:ext cx="4699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Three of thirty lab PCs can't reach the printer. The other 27 print fine. You changed nothing overnight — but the switch was replaced yesterday.</a:t>
            </a:r>
            <a:endParaRPr b="0" i="0" sz="1400" u="none" cap="none" strike="noStrike"/>
          </a:p>
        </p:txBody>
      </p:sp>
      <p:sp>
        <p:nvSpPr>
          <p:cNvPr id="132" name="Google Shape;132;p8"/>
          <p:cNvSpPr txBox="1"/>
          <p:nvPr/>
        </p:nvSpPr>
        <p:spPr>
          <a:xfrm>
            <a:off x="6477000" y="4292600"/>
            <a:ext cx="4699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What does the scope tell you — and what is your first test?</a:t>
            </a:r>
            <a:endParaRPr b="0" i="0" sz="1400" u="none" cap="none" strike="noStrike"/>
          </a:p>
        </p:txBody>
      </p:sp>
      <p:sp>
        <p:nvSpPr>
          <p:cNvPr id="133" name="Google Shape;133;p8"/>
          <p:cNvSpPr txBox="1"/>
          <p:nvPr/>
        </p:nvSpPr>
        <p:spPr>
          <a:xfrm>
            <a:off x="6477000" y="5029200"/>
            <a:ext cx="469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Done when:</a:t>
            </a:r>
            <a:r>
              <a:rPr b="0" i="0" lang="en-US" sz="12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you can say in one sentence what is affected, what is not, and your first test.</a:t>
            </a:r>
            <a:endParaRPr b="0" i="0" sz="1200" u="none" cap="none" strike="noStrike"/>
          </a:p>
        </p:txBody>
      </p:sp>
      <p:sp>
        <p:nvSpPr>
          <p:cNvPr id="134" name="Google Shape;134;p8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/>
        </p:nvSpPr>
        <p:spPr>
          <a:xfrm>
            <a:off x="7620000" y="889000"/>
            <a:ext cx="3860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02</a:t>
            </a:r>
            <a:endParaRPr b="0" i="0" sz="21000" u="none" cap="none" strike="noStrike"/>
          </a:p>
        </p:txBody>
      </p:sp>
      <p:sp>
        <p:nvSpPr>
          <p:cNvPr id="140" name="Google Shape;140;p9"/>
          <p:cNvSpPr/>
          <p:nvPr/>
        </p:nvSpPr>
        <p:spPr>
          <a:xfrm>
            <a:off x="10871200" y="4064000"/>
            <a:ext cx="609600" cy="431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711200" y="76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AA3F5"/>
                </a:solidFill>
                <a:latin typeface="Arial"/>
                <a:ea typeface="Arial"/>
                <a:cs typeface="Arial"/>
                <a:sym typeface="Arial"/>
              </a:rPr>
              <a:t>UNIT 02 · NETWORK MODEL</a:t>
            </a:r>
            <a:endParaRPr b="0" i="0" sz="1200" u="none" cap="none" strike="noStrike"/>
          </a:p>
        </p:txBody>
      </p:sp>
      <p:sp>
        <p:nvSpPr>
          <p:cNvPr id="142" name="Google Shape;142;p9"/>
          <p:cNvSpPr txBox="1"/>
          <p:nvPr/>
        </p:nvSpPr>
        <p:spPr>
          <a:xfrm>
            <a:off x="711200" y="1905000"/>
            <a:ext cx="660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READ THE</a:t>
            </a:r>
            <a:endParaRPr b="0" i="0" sz="1600" u="none" cap="none" strike="noStrike"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OSI LADDER</a:t>
            </a:r>
            <a:endParaRPr b="0" i="0" sz="1600" u="none" cap="none" strike="noStrike"/>
          </a:p>
        </p:txBody>
      </p:sp>
      <p:sp>
        <p:nvSpPr>
          <p:cNvPr id="143" name="Google Shape;143;p9"/>
          <p:cNvSpPr txBox="1"/>
          <p:nvPr/>
        </p:nvSpPr>
        <p:spPr>
          <a:xfrm>
            <a:off x="711200" y="3886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Four layers explain almost every network problem you'll meet on the job.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Learn the ladder once, and every symptom gets a home.</a:t>
            </a:r>
            <a:endParaRPr b="0" i="0" sz="1600" u="none" cap="none" strike="noStrike"/>
          </a:p>
        </p:txBody>
      </p:sp>
      <p:sp>
        <p:nvSpPr>
          <p:cNvPr id="144" name="Google Shape;144;p9"/>
          <p:cNvSpPr txBox="1"/>
          <p:nvPr/>
        </p:nvSpPr>
        <p:spPr>
          <a:xfrm>
            <a:off x="711200" y="55372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In this unit: layers 1–4 · matching symptoms to layers · the four-ping test</a:t>
            </a:r>
            <a:endParaRPr b="0" i="0" sz="1250" u="none" cap="none" strike="noStrike"/>
          </a:p>
        </p:txBody>
      </p:sp>
      <p:sp>
        <p:nvSpPr>
          <p:cNvPr id="145" name="Google Shape;145;p9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UNIT 02 · THE LADDER</a:t>
            </a:r>
            <a:endParaRPr b="0" i="0" sz="1200" u="none" cap="none" strike="noStrike"/>
          </a:p>
        </p:txBody>
      </p:sp>
      <p:sp>
        <p:nvSpPr>
          <p:cNvPr id="151" name="Google Shape;151;p10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152" name="Google Shape;152;p10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Troubleshoot from the bottom rung up.</a:t>
            </a:r>
            <a:endParaRPr b="0" i="0" sz="3600" u="none" cap="none" strike="noStrike"/>
          </a:p>
        </p:txBody>
      </p:sp>
      <p:sp>
        <p:nvSpPr>
          <p:cNvPr id="153" name="Google Shape;153;p10"/>
          <p:cNvSpPr txBox="1"/>
          <p:nvPr/>
        </p:nvSpPr>
        <p:spPr>
          <a:xfrm>
            <a:off x="711200" y="1625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The OSI model splits networking into 7 layers. On the job, layers 1–4 are where most faults live — so that's where this course stays.</a:t>
            </a:r>
            <a:endParaRPr b="0" i="0" sz="1300" u="none" cap="none" strike="noStrike"/>
          </a:p>
        </p:txBody>
      </p:sp>
      <p:sp>
        <p:nvSpPr>
          <p:cNvPr id="154" name="Google Shape;154;p10"/>
          <p:cNvSpPr/>
          <p:nvPr/>
        </p:nvSpPr>
        <p:spPr>
          <a:xfrm>
            <a:off x="2489200" y="2082800"/>
            <a:ext cx="5080000" cy="787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2717800" y="2184400"/>
            <a:ext cx="4648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L4 · TRANSPORT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9D4F5"/>
                </a:solidFill>
                <a:latin typeface="Arial"/>
                <a:ea typeface="Arial"/>
                <a:cs typeface="Arial"/>
                <a:sym typeface="Arial"/>
              </a:rPr>
              <a:t>TCP / UDP · ports · firewalls</a:t>
            </a:r>
            <a:endParaRPr b="0" i="0" sz="1600" u="none" cap="none" strike="noStrike"/>
          </a:p>
        </p:txBody>
      </p:sp>
      <p:sp>
        <p:nvSpPr>
          <p:cNvPr id="156" name="Google Shape;156;p10"/>
          <p:cNvSpPr txBox="1"/>
          <p:nvPr/>
        </p:nvSpPr>
        <p:spPr>
          <a:xfrm>
            <a:off x="7823200" y="2260600"/>
            <a:ext cx="3657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“Is the app's port open, or is a firewall blocking it?”</a:t>
            </a:r>
            <a:endParaRPr b="0" i="0" sz="1300" u="none" cap="none" strike="noStrike"/>
          </a:p>
        </p:txBody>
      </p:sp>
      <p:sp>
        <p:nvSpPr>
          <p:cNvPr id="157" name="Google Shape;157;p10"/>
          <p:cNvSpPr/>
          <p:nvPr/>
        </p:nvSpPr>
        <p:spPr>
          <a:xfrm>
            <a:off x="1981200" y="3048000"/>
            <a:ext cx="5588000" cy="787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2209800" y="3149600"/>
            <a:ext cx="5156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L3 · NETWORK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9D4F5"/>
                </a:solidFill>
                <a:latin typeface="Arial"/>
                <a:ea typeface="Arial"/>
                <a:cs typeface="Arial"/>
                <a:sym typeface="Arial"/>
              </a:rPr>
              <a:t>IP addresses · routers · DNS lookups</a:t>
            </a:r>
            <a:endParaRPr b="0" i="0" sz="1600" u="none" cap="none" strike="noStrike"/>
          </a:p>
        </p:txBody>
      </p:sp>
      <p:sp>
        <p:nvSpPr>
          <p:cNvPr id="159" name="Google Shape;159;p10"/>
          <p:cNvSpPr txBox="1"/>
          <p:nvPr/>
        </p:nvSpPr>
        <p:spPr>
          <a:xfrm>
            <a:off x="7823200" y="3225800"/>
            <a:ext cx="3657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“Can you ping the gateway? Does a name resolve to an IP?”</a:t>
            </a:r>
            <a:endParaRPr b="0" i="0" sz="1300" u="none" cap="none" strike="noStrike"/>
          </a:p>
        </p:txBody>
      </p:sp>
      <p:sp>
        <p:nvSpPr>
          <p:cNvPr id="160" name="Google Shape;160;p10"/>
          <p:cNvSpPr/>
          <p:nvPr/>
        </p:nvSpPr>
        <p:spPr>
          <a:xfrm>
            <a:off x="1473200" y="4013200"/>
            <a:ext cx="6096000" cy="787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1701800" y="4114800"/>
            <a:ext cx="5664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L2 · DATA LINK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9D4F5"/>
                </a:solidFill>
                <a:latin typeface="Arial"/>
                <a:ea typeface="Arial"/>
                <a:cs typeface="Arial"/>
                <a:sym typeface="Arial"/>
              </a:rPr>
              <a:t>switches · MAC addresses · VLANs</a:t>
            </a:r>
            <a:endParaRPr b="0" i="0" sz="1600" u="none" cap="none" strike="noStrike"/>
          </a:p>
        </p:txBody>
      </p:sp>
      <p:sp>
        <p:nvSpPr>
          <p:cNvPr id="162" name="Google Shape;162;p10"/>
          <p:cNvSpPr txBox="1"/>
          <p:nvPr/>
        </p:nvSpPr>
        <p:spPr>
          <a:xfrm>
            <a:off x="7823200" y="4191000"/>
            <a:ext cx="3657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“Can devices on the same switch see each other?”</a:t>
            </a:r>
            <a:endParaRPr b="0" i="0" sz="1300" u="none" cap="none" strike="noStrike"/>
          </a:p>
        </p:txBody>
      </p:sp>
      <p:sp>
        <p:nvSpPr>
          <p:cNvPr id="163" name="Google Shape;163;p10"/>
          <p:cNvSpPr/>
          <p:nvPr/>
        </p:nvSpPr>
        <p:spPr>
          <a:xfrm>
            <a:off x="965200" y="4978400"/>
            <a:ext cx="6604000" cy="787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1193800" y="5080000"/>
            <a:ext cx="6172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L1 · PHYSICAL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9D4F5"/>
                </a:solidFill>
                <a:latin typeface="Arial"/>
                <a:ea typeface="Arial"/>
                <a:cs typeface="Arial"/>
                <a:sym typeface="Arial"/>
              </a:rPr>
              <a:t>cables · NICs · Wi-Fi radio · link lights</a:t>
            </a:r>
            <a:endParaRPr b="0" i="0" sz="1600" u="none" cap="none" strike="noStrike"/>
          </a:p>
        </p:txBody>
      </p:sp>
      <p:sp>
        <p:nvSpPr>
          <p:cNvPr id="165" name="Google Shape;165;p10"/>
          <p:cNvSpPr txBox="1"/>
          <p:nvPr/>
        </p:nvSpPr>
        <p:spPr>
          <a:xfrm>
            <a:off x="7823200" y="5156200"/>
            <a:ext cx="3657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“Is it plugged in? Is the link light on?”</a:t>
            </a:r>
            <a:endParaRPr b="0" i="0" sz="1300" u="none" cap="none" strike="noStrike"/>
          </a:p>
        </p:txBody>
      </p:sp>
      <p:sp>
        <p:nvSpPr>
          <p:cNvPr id="166" name="Google Shape;166;p10"/>
          <p:cNvSpPr txBox="1"/>
          <p:nvPr/>
        </p:nvSpPr>
        <p:spPr>
          <a:xfrm>
            <a:off x="965200" y="58928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START AT L1</a:t>
            </a:r>
            <a:r>
              <a:rPr b="0" i="0" lang="en-US" sz="12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and climb only when the rung below checks out.</a:t>
            </a:r>
            <a:endParaRPr b="0" i="0" sz="1250" u="none" cap="none" strike="noStrike"/>
          </a:p>
        </p:txBody>
      </p:sp>
      <p:sp>
        <p:nvSpPr>
          <p:cNvPr id="167" name="Google Shape;167;p10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UNIT 02 · SYMPTOM → LAYER</a:t>
            </a:r>
            <a:endParaRPr b="0" i="0" sz="1200" u="none" cap="none" strike="noStrike"/>
          </a:p>
        </p:txBody>
      </p:sp>
      <p:sp>
        <p:nvSpPr>
          <p:cNvPr id="173" name="Google Shape;173;p11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174" name="Google Shape;174;p11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Every symptom has a home layer.</a:t>
            </a:r>
            <a:endParaRPr b="0" i="0" sz="3600" u="none" cap="none" strike="noStrike"/>
          </a:p>
        </p:txBody>
      </p:sp>
      <p:sp>
        <p:nvSpPr>
          <p:cNvPr id="175" name="Google Shape;175;p11"/>
          <p:cNvSpPr txBox="1"/>
          <p:nvPr/>
        </p:nvSpPr>
        <p:spPr>
          <a:xfrm>
            <a:off x="711200" y="1930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No link light, dead port</a:t>
            </a:r>
            <a:endParaRPr b="0" i="0" sz="1550" u="none" cap="none" strike="noStrike"/>
          </a:p>
        </p:txBody>
      </p:sp>
      <p:sp>
        <p:nvSpPr>
          <p:cNvPr id="176" name="Google Shape;176;p11"/>
          <p:cNvSpPr txBox="1"/>
          <p:nvPr/>
        </p:nvSpPr>
        <p:spPr>
          <a:xfrm>
            <a:off x="5867400" y="19304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/>
          </a:p>
        </p:txBody>
      </p:sp>
      <p:sp>
        <p:nvSpPr>
          <p:cNvPr id="177" name="Google Shape;177;p11"/>
          <p:cNvSpPr txBox="1"/>
          <p:nvPr/>
        </p:nvSpPr>
        <p:spPr>
          <a:xfrm>
            <a:off x="6350000" y="1879600"/>
            <a:ext cx="71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L1</a:t>
            </a:r>
            <a:endParaRPr b="0" i="0" sz="2400" u="none" cap="none" strike="noStrike"/>
          </a:p>
        </p:txBody>
      </p:sp>
      <p:sp>
        <p:nvSpPr>
          <p:cNvPr id="178" name="Google Shape;178;p11"/>
          <p:cNvSpPr txBox="1"/>
          <p:nvPr/>
        </p:nvSpPr>
        <p:spPr>
          <a:xfrm>
            <a:off x="7112000" y="19558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cable, NIC, or the wall jack</a:t>
            </a:r>
            <a:endParaRPr b="0" i="0" sz="1300" u="none" cap="none" strike="noStrike"/>
          </a:p>
        </p:txBody>
      </p:sp>
      <p:sp>
        <p:nvSpPr>
          <p:cNvPr id="179" name="Google Shape;179;p11"/>
          <p:cNvSpPr txBox="1"/>
          <p:nvPr/>
        </p:nvSpPr>
        <p:spPr>
          <a:xfrm>
            <a:off x="711200" y="2743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Same-switch devices can't see each other</a:t>
            </a:r>
            <a:endParaRPr b="0" i="0" sz="1550" u="none" cap="none" strike="noStrike"/>
          </a:p>
        </p:txBody>
      </p:sp>
      <p:sp>
        <p:nvSpPr>
          <p:cNvPr id="180" name="Google Shape;180;p11"/>
          <p:cNvSpPr txBox="1"/>
          <p:nvPr/>
        </p:nvSpPr>
        <p:spPr>
          <a:xfrm>
            <a:off x="5867400" y="27432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/>
          </a:p>
        </p:txBody>
      </p:sp>
      <p:sp>
        <p:nvSpPr>
          <p:cNvPr id="181" name="Google Shape;181;p11"/>
          <p:cNvSpPr txBox="1"/>
          <p:nvPr/>
        </p:nvSpPr>
        <p:spPr>
          <a:xfrm>
            <a:off x="6350000" y="2692400"/>
            <a:ext cx="71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L2</a:t>
            </a:r>
            <a:endParaRPr b="0" i="0" sz="2400" u="none" cap="none" strike="noStrike"/>
          </a:p>
        </p:txBody>
      </p:sp>
      <p:sp>
        <p:nvSpPr>
          <p:cNvPr id="182" name="Google Shape;182;p11"/>
          <p:cNvSpPr txBox="1"/>
          <p:nvPr/>
        </p:nvSpPr>
        <p:spPr>
          <a:xfrm>
            <a:off x="7112000" y="27686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switch or VLAN trouble</a:t>
            </a:r>
            <a:endParaRPr b="0" i="0" sz="1300" u="none" cap="none" strike="noStrike"/>
          </a:p>
        </p:txBody>
      </p:sp>
      <p:sp>
        <p:nvSpPr>
          <p:cNvPr id="183" name="Google Shape;183;p11"/>
          <p:cNvSpPr txBox="1"/>
          <p:nvPr/>
        </p:nvSpPr>
        <p:spPr>
          <a:xfrm>
            <a:off x="711200" y="3556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Can't ping the gateway; names won't resolve</a:t>
            </a:r>
            <a:endParaRPr b="0" i="0" sz="1550" u="none" cap="none" strike="noStrike"/>
          </a:p>
        </p:txBody>
      </p:sp>
      <p:sp>
        <p:nvSpPr>
          <p:cNvPr id="184" name="Google Shape;184;p11"/>
          <p:cNvSpPr txBox="1"/>
          <p:nvPr/>
        </p:nvSpPr>
        <p:spPr>
          <a:xfrm>
            <a:off x="5867400" y="35560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/>
          </a:p>
        </p:txBody>
      </p:sp>
      <p:sp>
        <p:nvSpPr>
          <p:cNvPr id="185" name="Google Shape;185;p11"/>
          <p:cNvSpPr txBox="1"/>
          <p:nvPr/>
        </p:nvSpPr>
        <p:spPr>
          <a:xfrm>
            <a:off x="6350000" y="3505200"/>
            <a:ext cx="71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L3</a:t>
            </a:r>
            <a:endParaRPr b="0" i="0" sz="2400" u="none" cap="none" strike="noStrike"/>
          </a:p>
        </p:txBody>
      </p:sp>
      <p:sp>
        <p:nvSpPr>
          <p:cNvPr id="186" name="Google Shape;186;p11"/>
          <p:cNvSpPr txBox="1"/>
          <p:nvPr/>
        </p:nvSpPr>
        <p:spPr>
          <a:xfrm>
            <a:off x="7112000" y="35814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IP config, routing, or DNS</a:t>
            </a:r>
            <a:endParaRPr b="0" i="0" sz="1300" u="none" cap="none" strike="noStrike"/>
          </a:p>
        </p:txBody>
      </p:sp>
      <p:sp>
        <p:nvSpPr>
          <p:cNvPr id="187" name="Google Shape;187;p11"/>
          <p:cNvSpPr txBox="1"/>
          <p:nvPr/>
        </p:nvSpPr>
        <p:spPr>
          <a:xfrm>
            <a:off x="711200" y="4368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One app is blocked, everything else works</a:t>
            </a:r>
            <a:endParaRPr b="0" i="0" sz="1550" u="none" cap="none" strike="noStrike"/>
          </a:p>
        </p:txBody>
      </p:sp>
      <p:sp>
        <p:nvSpPr>
          <p:cNvPr id="188" name="Google Shape;188;p11"/>
          <p:cNvSpPr txBox="1"/>
          <p:nvPr/>
        </p:nvSpPr>
        <p:spPr>
          <a:xfrm>
            <a:off x="5867400" y="43688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/>
          </a:p>
        </p:txBody>
      </p:sp>
      <p:sp>
        <p:nvSpPr>
          <p:cNvPr id="189" name="Google Shape;189;p11"/>
          <p:cNvSpPr txBox="1"/>
          <p:nvPr/>
        </p:nvSpPr>
        <p:spPr>
          <a:xfrm>
            <a:off x="6350000" y="4318000"/>
            <a:ext cx="71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L4</a:t>
            </a:r>
            <a:endParaRPr b="0" i="0" sz="2400" u="none" cap="none" strike="noStrike"/>
          </a:p>
        </p:txBody>
      </p:sp>
      <p:sp>
        <p:nvSpPr>
          <p:cNvPr id="190" name="Google Shape;190;p11"/>
          <p:cNvSpPr txBox="1"/>
          <p:nvPr/>
        </p:nvSpPr>
        <p:spPr>
          <a:xfrm>
            <a:off x="7112000" y="43942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a firewall rule or a closed port</a:t>
            </a:r>
            <a:endParaRPr b="0" i="0" sz="1300" u="none" cap="none" strike="noStrike"/>
          </a:p>
        </p:txBody>
      </p:sp>
      <p:sp>
        <p:nvSpPr>
          <p:cNvPr id="191" name="Google Shape;191;p11"/>
          <p:cNvSpPr txBox="1"/>
          <p:nvPr/>
        </p:nvSpPr>
        <p:spPr>
          <a:xfrm>
            <a:off x="711200" y="5181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Ping works, but browsing fails</a:t>
            </a:r>
            <a:endParaRPr b="0" i="0" sz="1550" u="none" cap="none" strike="noStrike"/>
          </a:p>
        </p:txBody>
      </p:sp>
      <p:sp>
        <p:nvSpPr>
          <p:cNvPr id="192" name="Google Shape;192;p11"/>
          <p:cNvSpPr txBox="1"/>
          <p:nvPr/>
        </p:nvSpPr>
        <p:spPr>
          <a:xfrm>
            <a:off x="5867400" y="51816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/>
          </a:p>
        </p:txBody>
      </p:sp>
      <p:sp>
        <p:nvSpPr>
          <p:cNvPr id="193" name="Google Shape;193;p11"/>
          <p:cNvSpPr txBox="1"/>
          <p:nvPr/>
        </p:nvSpPr>
        <p:spPr>
          <a:xfrm>
            <a:off x="6350000" y="51308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L5+</a:t>
            </a:r>
            <a:endParaRPr b="0" i="0" sz="2400" u="none" cap="none" strike="noStrike"/>
          </a:p>
        </p:txBody>
      </p:sp>
      <p:sp>
        <p:nvSpPr>
          <p:cNvPr id="194" name="Google Shape;194;p11"/>
          <p:cNvSpPr txBox="1"/>
          <p:nvPr/>
        </p:nvSpPr>
        <p:spPr>
          <a:xfrm>
            <a:off x="7112000" y="52070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proxy or browser config — Unit 05</a:t>
            </a:r>
            <a:endParaRPr b="0" i="0" sz="1300" u="none" cap="none" strike="noStrike"/>
          </a:p>
        </p:txBody>
      </p:sp>
      <p:sp>
        <p:nvSpPr>
          <p:cNvPr id="195" name="Google Shape;195;p11"/>
          <p:cNvSpPr/>
          <p:nvPr/>
        </p:nvSpPr>
        <p:spPr>
          <a:xfrm>
            <a:off x="711200" y="24892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"/>
          <p:cNvSpPr/>
          <p:nvPr/>
        </p:nvSpPr>
        <p:spPr>
          <a:xfrm>
            <a:off x="711200" y="3302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"/>
          <p:cNvSpPr/>
          <p:nvPr/>
        </p:nvSpPr>
        <p:spPr>
          <a:xfrm>
            <a:off x="711200" y="41148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1"/>
          <p:cNvSpPr/>
          <p:nvPr/>
        </p:nvSpPr>
        <p:spPr>
          <a:xfrm>
            <a:off x="711200" y="49276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"/>
          <p:cNvSpPr txBox="1"/>
          <p:nvPr/>
        </p:nvSpPr>
        <p:spPr>
          <a:xfrm>
            <a:off x="711200" y="59690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Class drill:</a:t>
            </a: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your instructor calls a symptom — you call the layer.</a:t>
            </a:r>
            <a:endParaRPr b="0" i="0" sz="1400" u="none" cap="none" strike="noStrike"/>
          </a:p>
        </p:txBody>
      </p:sp>
      <p:sp>
        <p:nvSpPr>
          <p:cNvPr id="200" name="Google Shape;200;p11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UNIT 02 · LIVE DEMO</a:t>
            </a:r>
            <a:endParaRPr b="0" i="0" sz="1200" u="none" cap="none" strike="noStrike"/>
          </a:p>
        </p:txBody>
      </p:sp>
      <p:sp>
        <p:nvSpPr>
          <p:cNvPr id="206" name="Google Shape;206;p12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207" name="Google Shape;207;p12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Four pings tell you where it broke.</a:t>
            </a:r>
            <a:endParaRPr b="0" i="0" sz="3600" u="none" cap="none" strike="noStrike"/>
          </a:p>
        </p:txBody>
      </p:sp>
      <p:sp>
        <p:nvSpPr>
          <p:cNvPr id="208" name="Google Shape;208;p12"/>
          <p:cNvSpPr txBox="1"/>
          <p:nvPr/>
        </p:nvSpPr>
        <p:spPr>
          <a:xfrm>
            <a:off x="711200" y="20066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1</a:t>
            </a:r>
            <a:endParaRPr b="0" i="0" sz="2600" u="none" cap="none" strike="noStrike"/>
          </a:p>
        </p:txBody>
      </p:sp>
      <p:sp>
        <p:nvSpPr>
          <p:cNvPr id="209" name="Google Shape;209;p12"/>
          <p:cNvSpPr txBox="1"/>
          <p:nvPr/>
        </p:nvSpPr>
        <p:spPr>
          <a:xfrm>
            <a:off x="1422400" y="2057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ping 127.0.0.1</a:t>
            </a:r>
            <a:endParaRPr b="0" i="0" sz="1550" u="none" cap="none" strike="noStrike"/>
          </a:p>
        </p:txBody>
      </p:sp>
      <p:sp>
        <p:nvSpPr>
          <p:cNvPr id="210" name="Google Shape;210;p12"/>
          <p:cNvSpPr txBox="1"/>
          <p:nvPr/>
        </p:nvSpPr>
        <p:spPr>
          <a:xfrm>
            <a:off x="5080000" y="2057400"/>
            <a:ext cx="6400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Your own network stack. Fails → the PC's TCP/IP is broken.</a:t>
            </a:r>
            <a:endParaRPr b="0" i="0" sz="1300" u="none" cap="none" strike="noStrike"/>
          </a:p>
        </p:txBody>
      </p:sp>
      <p:sp>
        <p:nvSpPr>
          <p:cNvPr id="211" name="Google Shape;211;p12"/>
          <p:cNvSpPr txBox="1"/>
          <p:nvPr/>
        </p:nvSpPr>
        <p:spPr>
          <a:xfrm>
            <a:off x="711200" y="27940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2</a:t>
            </a:r>
            <a:endParaRPr b="0" i="0" sz="2600" u="none" cap="none" strike="noStrike"/>
          </a:p>
        </p:txBody>
      </p:sp>
      <p:sp>
        <p:nvSpPr>
          <p:cNvPr id="212" name="Google Shape;212;p12"/>
          <p:cNvSpPr txBox="1"/>
          <p:nvPr/>
        </p:nvSpPr>
        <p:spPr>
          <a:xfrm>
            <a:off x="1422400" y="28448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ping </a:t>
            </a:r>
            <a:endParaRPr b="0" i="0" sz="1550" u="none" cap="none" strike="noStrike"/>
          </a:p>
        </p:txBody>
      </p:sp>
      <p:sp>
        <p:nvSpPr>
          <p:cNvPr id="213" name="Google Shape;213;p12"/>
          <p:cNvSpPr txBox="1"/>
          <p:nvPr/>
        </p:nvSpPr>
        <p:spPr>
          <a:xfrm>
            <a:off x="5080000" y="2844800"/>
            <a:ext cx="6400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Your local network. Fails → cable, Wi-Fi, switch, or IP config.</a:t>
            </a:r>
            <a:endParaRPr b="0" i="0" sz="1300" u="none" cap="none" strike="noStrike"/>
          </a:p>
        </p:txBody>
      </p:sp>
      <p:sp>
        <p:nvSpPr>
          <p:cNvPr id="214" name="Google Shape;214;p12"/>
          <p:cNvSpPr txBox="1"/>
          <p:nvPr/>
        </p:nvSpPr>
        <p:spPr>
          <a:xfrm>
            <a:off x="711200" y="3581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3</a:t>
            </a:r>
            <a:endParaRPr b="0" i="0" sz="2600" u="none" cap="none" strike="noStrike"/>
          </a:p>
        </p:txBody>
      </p:sp>
      <p:sp>
        <p:nvSpPr>
          <p:cNvPr id="215" name="Google Shape;215;p12"/>
          <p:cNvSpPr txBox="1"/>
          <p:nvPr/>
        </p:nvSpPr>
        <p:spPr>
          <a:xfrm>
            <a:off x="1422400" y="3632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ping 8.8.8.8</a:t>
            </a:r>
            <a:endParaRPr b="0" i="0" sz="1550" u="none" cap="none" strike="noStrike"/>
          </a:p>
        </p:txBody>
      </p:sp>
      <p:sp>
        <p:nvSpPr>
          <p:cNvPr id="216" name="Google Shape;216;p12"/>
          <p:cNvSpPr txBox="1"/>
          <p:nvPr/>
        </p:nvSpPr>
        <p:spPr>
          <a:xfrm>
            <a:off x="5080000" y="3632200"/>
            <a:ext cx="6400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The internet by IP. Fails → router, ISP, or gateway config (L3).</a:t>
            </a:r>
            <a:endParaRPr b="0" i="0" sz="1300" u="none" cap="none" strike="noStrike"/>
          </a:p>
        </p:txBody>
      </p:sp>
      <p:sp>
        <p:nvSpPr>
          <p:cNvPr id="217" name="Google Shape;217;p12"/>
          <p:cNvSpPr txBox="1"/>
          <p:nvPr/>
        </p:nvSpPr>
        <p:spPr>
          <a:xfrm>
            <a:off x="711200" y="4368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4</a:t>
            </a:r>
            <a:endParaRPr b="0" i="0" sz="2600" u="none" cap="none" strike="noStrike"/>
          </a:p>
        </p:txBody>
      </p:sp>
      <p:sp>
        <p:nvSpPr>
          <p:cNvPr id="218" name="Google Shape;218;p12"/>
          <p:cNvSpPr txBox="1"/>
          <p:nvPr/>
        </p:nvSpPr>
        <p:spPr>
          <a:xfrm>
            <a:off x="1422400" y="44196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ping google.com</a:t>
            </a:r>
            <a:endParaRPr b="0" i="0" sz="1550" u="none" cap="none" strike="noStrike"/>
          </a:p>
        </p:txBody>
      </p:sp>
      <p:sp>
        <p:nvSpPr>
          <p:cNvPr id="219" name="Google Shape;219;p12"/>
          <p:cNvSpPr txBox="1"/>
          <p:nvPr/>
        </p:nvSpPr>
        <p:spPr>
          <a:xfrm>
            <a:off x="5080000" y="4419600"/>
            <a:ext cx="6400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Adds DNS. Fails while step 3 passes → a DNS problem, not the network.</a:t>
            </a:r>
            <a:endParaRPr b="0" i="0" sz="1300" u="none" cap="none" strike="noStrike"/>
          </a:p>
        </p:txBody>
      </p:sp>
      <p:sp>
        <p:nvSpPr>
          <p:cNvPr id="220" name="Google Shape;220;p12"/>
          <p:cNvSpPr/>
          <p:nvPr/>
        </p:nvSpPr>
        <p:spPr>
          <a:xfrm>
            <a:off x="711200" y="26416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"/>
          <p:cNvSpPr/>
          <p:nvPr/>
        </p:nvSpPr>
        <p:spPr>
          <a:xfrm>
            <a:off x="711200" y="3429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2"/>
          <p:cNvSpPr/>
          <p:nvPr/>
        </p:nvSpPr>
        <p:spPr>
          <a:xfrm>
            <a:off x="711200" y="42164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2"/>
          <p:cNvSpPr txBox="1"/>
          <p:nvPr/>
        </p:nvSpPr>
        <p:spPr>
          <a:xfrm>
            <a:off x="711200" y="52832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The first ping that fails — names the layer.</a:t>
            </a:r>
            <a:endParaRPr b="0" i="0" sz="2200" u="none" cap="none" strike="noStrike"/>
          </a:p>
        </p:txBody>
      </p:sp>
      <p:sp>
        <p:nvSpPr>
          <p:cNvPr id="224" name="Google Shape;224;p12"/>
          <p:cNvSpPr/>
          <p:nvPr/>
        </p:nvSpPr>
        <p:spPr>
          <a:xfrm>
            <a:off x="711200" y="5765800"/>
            <a:ext cx="5461000" cy="76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711200" y="6121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Companion tools: ipconfig (your IP settings, L3) · tracert (the path packets take, L3) · Wireshark (see real packets — advanced demo).</a:t>
            </a:r>
            <a:endParaRPr b="0" i="0" sz="1250" u="none" cap="none" strike="noStrike"/>
          </a:p>
        </p:txBody>
      </p:sp>
      <p:sp>
        <p:nvSpPr>
          <p:cNvPr id="226" name="Google Shape;226;p12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02 · MYTH CHECK</a:t>
            </a:r>
            <a:endParaRPr b="0" i="0" sz="1200" u="none" cap="none" strike="noStrike"/>
          </a:p>
        </p:txBody>
      </p:sp>
      <p:sp>
        <p:nvSpPr>
          <p:cNvPr id="232" name="Google Shape;232;p13"/>
          <p:cNvSpPr txBox="1"/>
          <p:nvPr/>
        </p:nvSpPr>
        <p:spPr>
          <a:xfrm>
            <a:off x="711200" y="9144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Two myths to drop today.</a:t>
            </a:r>
            <a:endParaRPr b="0" i="0" sz="4000" u="none" cap="none" strike="noStrike"/>
          </a:p>
        </p:txBody>
      </p:sp>
      <p:sp>
        <p:nvSpPr>
          <p:cNvPr id="233" name="Google Shape;233;p13"/>
          <p:cNvSpPr txBox="1"/>
          <p:nvPr/>
        </p:nvSpPr>
        <p:spPr>
          <a:xfrm>
            <a:off x="711200" y="2032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MYTH 01</a:t>
            </a:r>
            <a:endParaRPr b="0" i="0" sz="2600" u="none" cap="none" strike="noStrike"/>
          </a:p>
        </p:txBody>
      </p:sp>
      <p:sp>
        <p:nvSpPr>
          <p:cNvPr id="234" name="Google Shape;234;p13"/>
          <p:cNvSpPr txBox="1"/>
          <p:nvPr/>
        </p:nvSpPr>
        <p:spPr>
          <a:xfrm>
            <a:off x="711200" y="24638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“The OSI model is what's actually running on the network.”</a:t>
            </a:r>
            <a:endParaRPr b="0" i="0" sz="1800" u="none" cap="none" strike="noStrike"/>
          </a:p>
        </p:txBody>
      </p:sp>
      <p:sp>
        <p:nvSpPr>
          <p:cNvPr id="235" name="Google Shape;235;p13"/>
          <p:cNvSpPr txBox="1"/>
          <p:nvPr/>
        </p:nvSpPr>
        <p:spPr>
          <a:xfrm>
            <a:off x="711200" y="2921000"/>
            <a:ext cx="107696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F04A"/>
                </a:solidFill>
                <a:latin typeface="Arial"/>
                <a:ea typeface="Arial"/>
                <a:cs typeface="Arial"/>
                <a:sym typeface="Arial"/>
              </a:rPr>
              <a:t>Truth:</a:t>
            </a:r>
            <a:r>
              <a:rPr b="0" i="0" lang="en-US" sz="13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 OSI is a reference model — a shared map for talking about networks. The internet actually runs on the simpler TCP/IP model. Use OSI as your troubleshooting map, not as a photograph of reality.</a:t>
            </a:r>
            <a:endParaRPr b="0" i="0" sz="1350" u="none" cap="none" strike="noStrike"/>
          </a:p>
        </p:txBody>
      </p:sp>
      <p:sp>
        <p:nvSpPr>
          <p:cNvPr id="236" name="Google Shape;236;p13"/>
          <p:cNvSpPr/>
          <p:nvPr/>
        </p:nvSpPr>
        <p:spPr>
          <a:xfrm>
            <a:off x="711200" y="40386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"/>
          <p:cNvSpPr txBox="1"/>
          <p:nvPr/>
        </p:nvSpPr>
        <p:spPr>
          <a:xfrm>
            <a:off x="711200" y="4318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MYTH 02</a:t>
            </a:r>
            <a:endParaRPr b="0" i="0" sz="2600" u="none" cap="none" strike="noStrike"/>
          </a:p>
        </p:txBody>
      </p:sp>
      <p:sp>
        <p:nvSpPr>
          <p:cNvPr id="238" name="Google Shape;238;p13"/>
          <p:cNvSpPr txBox="1"/>
          <p:nvPr/>
        </p:nvSpPr>
        <p:spPr>
          <a:xfrm>
            <a:off x="711200" y="47498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“Resetting the browser fixes network problems.”</a:t>
            </a:r>
            <a:endParaRPr b="0" i="0" sz="1800" u="none" cap="none" strike="noStrike"/>
          </a:p>
        </p:txBody>
      </p:sp>
      <p:sp>
        <p:nvSpPr>
          <p:cNvPr id="239" name="Google Shape;239;p13"/>
          <p:cNvSpPr txBox="1"/>
          <p:nvPr/>
        </p:nvSpPr>
        <p:spPr>
          <a:xfrm>
            <a:off x="711200" y="5207000"/>
            <a:ext cx="107696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F04A"/>
                </a:solidFill>
                <a:latin typeface="Arial"/>
                <a:ea typeface="Arial"/>
                <a:cs typeface="Arial"/>
                <a:sym typeface="Arial"/>
              </a:rPr>
              <a:t>Truth:</a:t>
            </a:r>
            <a:r>
              <a:rPr b="0" i="0" lang="en-US" sz="13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 a browser reset only touches settings above Layer 4. It cannot fix a cable, switch, IP, or port problem. Run the ping ladder first (Unit 02), then tune the browser (Unit 05).</a:t>
            </a:r>
            <a:endParaRPr b="0" i="0" sz="1350" u="none" cap="none" strike="noStrike"/>
          </a:p>
        </p:txBody>
      </p:sp>
      <p:sp>
        <p:nvSpPr>
          <p:cNvPr id="240" name="Google Shape;240;p13"/>
          <p:cNvSpPr/>
          <p:nvPr/>
        </p:nvSpPr>
        <p:spPr>
          <a:xfrm>
            <a:off x="10972800" y="6070600"/>
            <a:ext cx="508000" cy="3556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/>
        </p:nvSpPr>
        <p:spPr>
          <a:xfrm>
            <a:off x="7620000" y="889000"/>
            <a:ext cx="3860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03</a:t>
            </a:r>
            <a:endParaRPr b="0" i="0" sz="21000" u="none" cap="none" strike="noStrike"/>
          </a:p>
        </p:txBody>
      </p:sp>
      <p:sp>
        <p:nvSpPr>
          <p:cNvPr id="247" name="Google Shape;247;p14"/>
          <p:cNvSpPr/>
          <p:nvPr/>
        </p:nvSpPr>
        <p:spPr>
          <a:xfrm>
            <a:off x="10871200" y="4064000"/>
            <a:ext cx="609600" cy="431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711200" y="76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03 · WINDOWS TOOLS</a:t>
            </a:r>
            <a:endParaRPr b="0" i="0" sz="1200" u="none" cap="none" strike="noStrike"/>
          </a:p>
        </p:txBody>
      </p:sp>
      <p:sp>
        <p:nvSpPr>
          <p:cNvPr id="249" name="Google Shape;249;p14"/>
          <p:cNvSpPr txBox="1"/>
          <p:nvPr/>
        </p:nvSpPr>
        <p:spPr>
          <a:xfrm>
            <a:off x="711200" y="1905000"/>
            <a:ext cx="660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DRIVE THE</a:t>
            </a:r>
            <a:endParaRPr b="0" i="0" sz="1600" u="none" cap="none" strike="noStrike"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RUN MENU</a:t>
            </a:r>
            <a:endParaRPr b="0" i="0" sz="1600" u="none" cap="none" strike="noStrike"/>
          </a:p>
        </p:txBody>
      </p:sp>
      <p:sp>
        <p:nvSpPr>
          <p:cNvPr id="250" name="Google Shape;250;p14"/>
          <p:cNvSpPr txBox="1"/>
          <p:nvPr/>
        </p:nvSpPr>
        <p:spPr>
          <a:xfrm>
            <a:off x="711200" y="3886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Win+R: the fast lane to every admin tool you'll use this semester.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Pros don't hunt through menus — they type three letters and they're in.</a:t>
            </a:r>
            <a:endParaRPr b="0" i="0" sz="1600" u="none" cap="none" strike="noStrike"/>
          </a:p>
        </p:txBody>
      </p:sp>
      <p:sp>
        <p:nvSpPr>
          <p:cNvPr id="251" name="Google Shape;251;p14"/>
          <p:cNvSpPr txBox="1"/>
          <p:nvPr/>
        </p:nvSpPr>
        <p:spPr>
          <a:xfrm>
            <a:off x="711200" y="55372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In this unit: seven commands worth memorizing · .msc vs .cpl vs .exe</a:t>
            </a:r>
            <a:endParaRPr b="0" i="0" sz="1250" u="none" cap="none" strike="noStrike"/>
          </a:p>
        </p:txBody>
      </p:sp>
      <p:sp>
        <p:nvSpPr>
          <p:cNvPr id="252" name="Google Shape;252;p14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03 · CHEAT SHEET</a:t>
            </a:r>
            <a:endParaRPr b="0" i="0" sz="1200" u="none" cap="none" strike="noStrike"/>
          </a:p>
        </p:txBody>
      </p:sp>
      <p:sp>
        <p:nvSpPr>
          <p:cNvPr id="258" name="Google Shape;258;p15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259" name="Google Shape;259;p15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Seven commands worth memorizing.</a:t>
            </a:r>
            <a:endParaRPr b="0" i="0" sz="3600" u="none" cap="none" strike="noStrike"/>
          </a:p>
        </p:txBody>
      </p:sp>
      <p:sp>
        <p:nvSpPr>
          <p:cNvPr id="260" name="Google Shape;260;p15"/>
          <p:cNvSpPr txBox="1"/>
          <p:nvPr/>
        </p:nvSpPr>
        <p:spPr>
          <a:xfrm>
            <a:off x="711200" y="18542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endParaRPr b="0" i="0" sz="1500" u="none" cap="none" strike="noStrike"/>
          </a:p>
        </p:txBody>
      </p:sp>
      <p:sp>
        <p:nvSpPr>
          <p:cNvPr id="261" name="Google Shape;261;p15"/>
          <p:cNvSpPr txBox="1"/>
          <p:nvPr/>
        </p:nvSpPr>
        <p:spPr>
          <a:xfrm>
            <a:off x="3175000" y="18542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Command Prompt</a:t>
            </a:r>
            <a:endParaRPr b="0" i="0" sz="1450" u="none" cap="none" strike="noStrike"/>
          </a:p>
        </p:txBody>
      </p:sp>
      <p:sp>
        <p:nvSpPr>
          <p:cNvPr id="262" name="Google Shape;262;p15"/>
          <p:cNvSpPr txBox="1"/>
          <p:nvPr/>
        </p:nvSpPr>
        <p:spPr>
          <a:xfrm>
            <a:off x="6908800" y="18796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ping, ipconfig, tracert — Unit 02's tools</a:t>
            </a:r>
            <a:endParaRPr b="0" i="0" sz="1300" u="none" cap="none" strike="noStrike"/>
          </a:p>
        </p:txBody>
      </p:sp>
      <p:sp>
        <p:nvSpPr>
          <p:cNvPr id="263" name="Google Shape;263;p15"/>
          <p:cNvSpPr txBox="1"/>
          <p:nvPr/>
        </p:nvSpPr>
        <p:spPr>
          <a:xfrm>
            <a:off x="711200" y="24130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msconfig</a:t>
            </a:r>
            <a:endParaRPr b="0" i="0" sz="1500" u="none" cap="none" strike="noStrike"/>
          </a:p>
        </p:txBody>
      </p:sp>
      <p:sp>
        <p:nvSpPr>
          <p:cNvPr id="264" name="Google Shape;264;p15"/>
          <p:cNvSpPr txBox="1"/>
          <p:nvPr/>
        </p:nvSpPr>
        <p:spPr>
          <a:xfrm>
            <a:off x="3175000" y="2413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System Configuration</a:t>
            </a:r>
            <a:endParaRPr b="0" i="0" sz="1450" u="none" cap="none" strike="noStrike"/>
          </a:p>
        </p:txBody>
      </p:sp>
      <p:sp>
        <p:nvSpPr>
          <p:cNvPr id="265" name="Google Shape;265;p15"/>
          <p:cNvSpPr txBox="1"/>
          <p:nvPr/>
        </p:nvSpPr>
        <p:spPr>
          <a:xfrm>
            <a:off x="6908800" y="24384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startup and boot troubleshooting</a:t>
            </a:r>
            <a:endParaRPr b="0" i="0" sz="1300" u="none" cap="none" strike="noStrike"/>
          </a:p>
        </p:txBody>
      </p:sp>
      <p:sp>
        <p:nvSpPr>
          <p:cNvPr id="266" name="Google Shape;266;p15"/>
          <p:cNvSpPr txBox="1"/>
          <p:nvPr/>
        </p:nvSpPr>
        <p:spPr>
          <a:xfrm>
            <a:off x="711200" y="29718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services.msc</a:t>
            </a:r>
            <a:endParaRPr b="0" i="0" sz="1500" u="none" cap="none" strike="noStrike"/>
          </a:p>
        </p:txBody>
      </p:sp>
      <p:sp>
        <p:nvSpPr>
          <p:cNvPr id="267" name="Google Shape;267;p15"/>
          <p:cNvSpPr txBox="1"/>
          <p:nvPr/>
        </p:nvSpPr>
        <p:spPr>
          <a:xfrm>
            <a:off x="3175000" y="29718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1450" u="none" cap="none" strike="noStrike"/>
          </a:p>
        </p:txBody>
      </p:sp>
      <p:sp>
        <p:nvSpPr>
          <p:cNvPr id="268" name="Google Shape;268;p15"/>
          <p:cNvSpPr txBox="1"/>
          <p:nvPr/>
        </p:nvSpPr>
        <p:spPr>
          <a:xfrm>
            <a:off x="6908800" y="29972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start, stop, configure Windows services — Unit 04</a:t>
            </a:r>
            <a:endParaRPr b="0" i="0" sz="1300" u="none" cap="none" strike="noStrike"/>
          </a:p>
        </p:txBody>
      </p:sp>
      <p:sp>
        <p:nvSpPr>
          <p:cNvPr id="269" name="Google Shape;269;p15"/>
          <p:cNvSpPr txBox="1"/>
          <p:nvPr/>
        </p:nvSpPr>
        <p:spPr>
          <a:xfrm>
            <a:off x="711200" y="3530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eventvwr</a:t>
            </a:r>
            <a:endParaRPr b="0" i="0" sz="1500" u="none" cap="none" strike="noStrike"/>
          </a:p>
        </p:txBody>
      </p:sp>
      <p:sp>
        <p:nvSpPr>
          <p:cNvPr id="270" name="Google Shape;270;p15"/>
          <p:cNvSpPr txBox="1"/>
          <p:nvPr/>
        </p:nvSpPr>
        <p:spPr>
          <a:xfrm>
            <a:off x="3175000" y="3530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Event Viewer</a:t>
            </a:r>
            <a:endParaRPr b="0" i="0" sz="1450" u="none" cap="none" strike="noStrike"/>
          </a:p>
        </p:txBody>
      </p:sp>
      <p:sp>
        <p:nvSpPr>
          <p:cNvPr id="271" name="Google Shape;271;p15"/>
          <p:cNvSpPr txBox="1"/>
          <p:nvPr/>
        </p:nvSpPr>
        <p:spPr>
          <a:xfrm>
            <a:off x="6908800" y="35560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the PC's own log book — Unit 04</a:t>
            </a:r>
            <a:endParaRPr b="0" i="0" sz="1300" u="none" cap="none" strike="noStrike"/>
          </a:p>
        </p:txBody>
      </p:sp>
      <p:sp>
        <p:nvSpPr>
          <p:cNvPr id="272" name="Google Shape;272;p15"/>
          <p:cNvSpPr txBox="1"/>
          <p:nvPr/>
        </p:nvSpPr>
        <p:spPr>
          <a:xfrm>
            <a:off x="711200" y="40894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devmgmt.msc</a:t>
            </a:r>
            <a:endParaRPr b="0" i="0" sz="1500" u="none" cap="none" strike="noStrike"/>
          </a:p>
        </p:txBody>
      </p:sp>
      <p:sp>
        <p:nvSpPr>
          <p:cNvPr id="273" name="Google Shape;273;p15"/>
          <p:cNvSpPr txBox="1"/>
          <p:nvPr/>
        </p:nvSpPr>
        <p:spPr>
          <a:xfrm>
            <a:off x="3175000" y="4089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Device Manager</a:t>
            </a:r>
            <a:endParaRPr b="0" i="0" sz="1450" u="none" cap="none" strike="noStrike"/>
          </a:p>
        </p:txBody>
      </p:sp>
      <p:sp>
        <p:nvSpPr>
          <p:cNvPr id="274" name="Google Shape;274;p15"/>
          <p:cNvSpPr txBox="1"/>
          <p:nvPr/>
        </p:nvSpPr>
        <p:spPr>
          <a:xfrm>
            <a:off x="6908800" y="41148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drivers and hardware — Layer 1's home on Windows</a:t>
            </a:r>
            <a:endParaRPr b="0" i="0" sz="1300" u="none" cap="none" strike="noStrike"/>
          </a:p>
        </p:txBody>
      </p:sp>
      <p:sp>
        <p:nvSpPr>
          <p:cNvPr id="275" name="Google Shape;275;p15"/>
          <p:cNvSpPr txBox="1"/>
          <p:nvPr/>
        </p:nvSpPr>
        <p:spPr>
          <a:xfrm>
            <a:off x="711200" y="46482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ncpa.cpl</a:t>
            </a:r>
            <a:endParaRPr b="0" i="0" sz="1500" u="none" cap="none" strike="noStrike"/>
          </a:p>
        </p:txBody>
      </p:sp>
      <p:sp>
        <p:nvSpPr>
          <p:cNvPr id="276" name="Google Shape;276;p15"/>
          <p:cNvSpPr txBox="1"/>
          <p:nvPr/>
        </p:nvSpPr>
        <p:spPr>
          <a:xfrm>
            <a:off x="3175000" y="46482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Network Connections</a:t>
            </a:r>
            <a:endParaRPr b="0" i="0" sz="1450" u="none" cap="none" strike="noStrike"/>
          </a:p>
        </p:txBody>
      </p:sp>
      <p:sp>
        <p:nvSpPr>
          <p:cNvPr id="277" name="Google Shape;277;p15"/>
          <p:cNvSpPr txBox="1"/>
          <p:nvPr/>
        </p:nvSpPr>
        <p:spPr>
          <a:xfrm>
            <a:off x="6908800" y="46736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adapters and IP settings</a:t>
            </a:r>
            <a:endParaRPr b="0" i="0" sz="1300" u="none" cap="none" strike="noStrike"/>
          </a:p>
        </p:txBody>
      </p:sp>
      <p:sp>
        <p:nvSpPr>
          <p:cNvPr id="278" name="Google Shape;278;p15"/>
          <p:cNvSpPr txBox="1"/>
          <p:nvPr/>
        </p:nvSpPr>
        <p:spPr>
          <a:xfrm>
            <a:off x="711200" y="52070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inetcpl.cpl</a:t>
            </a:r>
            <a:endParaRPr b="0" i="0" sz="1500" u="none" cap="none" strike="noStrike"/>
          </a:p>
        </p:txBody>
      </p:sp>
      <p:sp>
        <p:nvSpPr>
          <p:cNvPr id="279" name="Google Shape;279;p15"/>
          <p:cNvSpPr txBox="1"/>
          <p:nvPr/>
        </p:nvSpPr>
        <p:spPr>
          <a:xfrm>
            <a:off x="3175000" y="5207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Internet Options</a:t>
            </a:r>
            <a:endParaRPr b="0" i="0" sz="1450" u="none" cap="none" strike="noStrike"/>
          </a:p>
        </p:txBody>
      </p:sp>
      <p:sp>
        <p:nvSpPr>
          <p:cNvPr id="280" name="Google Shape;280;p15"/>
          <p:cNvSpPr txBox="1"/>
          <p:nvPr/>
        </p:nvSpPr>
        <p:spPr>
          <a:xfrm>
            <a:off x="6908800" y="52324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browser and proxy settings — Unit 05</a:t>
            </a:r>
            <a:endParaRPr b="0" i="0" sz="1300" u="none" cap="none" strike="noStrike"/>
          </a:p>
        </p:txBody>
      </p:sp>
      <p:sp>
        <p:nvSpPr>
          <p:cNvPr id="281" name="Google Shape;281;p15"/>
          <p:cNvSpPr/>
          <p:nvPr/>
        </p:nvSpPr>
        <p:spPr>
          <a:xfrm>
            <a:off x="711200" y="2286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5"/>
          <p:cNvSpPr/>
          <p:nvPr/>
        </p:nvSpPr>
        <p:spPr>
          <a:xfrm>
            <a:off x="711200" y="28448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5"/>
          <p:cNvSpPr/>
          <p:nvPr/>
        </p:nvSpPr>
        <p:spPr>
          <a:xfrm>
            <a:off x="711200" y="34036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"/>
          <p:cNvSpPr/>
          <p:nvPr/>
        </p:nvSpPr>
        <p:spPr>
          <a:xfrm>
            <a:off x="711200" y="39624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5"/>
          <p:cNvSpPr/>
          <p:nvPr/>
        </p:nvSpPr>
        <p:spPr>
          <a:xfrm>
            <a:off x="711200" y="45212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"/>
          <p:cNvSpPr/>
          <p:nvPr/>
        </p:nvSpPr>
        <p:spPr>
          <a:xfrm>
            <a:off x="711200" y="5080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5"/>
          <p:cNvSpPr txBox="1"/>
          <p:nvPr/>
        </p:nvSpPr>
        <p:spPr>
          <a:xfrm>
            <a:off x="711200" y="5918200"/>
            <a:ext cx="10414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Your task:</a:t>
            </a: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start your own cheat sheet this week — add every new run command you meet.</a:t>
            </a:r>
            <a:endParaRPr b="0" i="0" sz="1400" u="none" cap="none" strike="noStrike"/>
          </a:p>
        </p:txBody>
      </p:sp>
      <p:sp>
        <p:nvSpPr>
          <p:cNvPr id="288" name="Google Shape;288;p15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03 · CONCEPT</a:t>
            </a:r>
            <a:endParaRPr b="0" i="0" sz="1200" u="none" cap="none" strike="noStrike"/>
          </a:p>
        </p:txBody>
      </p:sp>
      <p:sp>
        <p:nvSpPr>
          <p:cNvPr id="294" name="Google Shape;294;p16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295" name="Google Shape;295;p16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Same tool, three doors.</a:t>
            </a:r>
            <a:endParaRPr b="0" i="0" sz="3600" u="none" cap="none" strike="noStrike"/>
          </a:p>
        </p:txBody>
      </p:sp>
      <p:sp>
        <p:nvSpPr>
          <p:cNvPr id="296" name="Google Shape;296;p16"/>
          <p:cNvSpPr txBox="1"/>
          <p:nvPr/>
        </p:nvSpPr>
        <p:spPr>
          <a:xfrm>
            <a:off x="711200" y="1905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DEMO — OPEN EVENT VIEWER THREE WAYS</a:t>
            </a:r>
            <a:endParaRPr b="0" i="0" sz="1150" u="none" cap="none" strike="noStrike"/>
          </a:p>
        </p:txBody>
      </p:sp>
      <p:sp>
        <p:nvSpPr>
          <p:cNvPr id="297" name="Google Shape;297;p16"/>
          <p:cNvSpPr txBox="1"/>
          <p:nvPr/>
        </p:nvSpPr>
        <p:spPr>
          <a:xfrm>
            <a:off x="711200" y="23368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1</a:t>
            </a:r>
            <a:endParaRPr b="0" i="0" sz="2400" u="none" cap="none" strike="noStrike"/>
          </a:p>
        </p:txBody>
      </p:sp>
      <p:sp>
        <p:nvSpPr>
          <p:cNvPr id="298" name="Google Shape;298;p16"/>
          <p:cNvSpPr txBox="1"/>
          <p:nvPr/>
        </p:nvSpPr>
        <p:spPr>
          <a:xfrm>
            <a:off x="1320800" y="2387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Start menu → type “Event Viewer”</a:t>
            </a:r>
            <a:endParaRPr b="0" i="0" sz="1500" u="none" cap="none" strike="noStrike"/>
          </a:p>
        </p:txBody>
      </p:sp>
      <p:sp>
        <p:nvSpPr>
          <p:cNvPr id="299" name="Google Shape;299;p16"/>
          <p:cNvSpPr txBox="1"/>
          <p:nvPr/>
        </p:nvSpPr>
        <p:spPr>
          <a:xfrm>
            <a:off x="711200" y="2870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2</a:t>
            </a:r>
            <a:endParaRPr b="0" i="0" sz="2400" u="none" cap="none" strike="noStrike"/>
          </a:p>
        </p:txBody>
      </p:sp>
      <p:sp>
        <p:nvSpPr>
          <p:cNvPr id="300" name="Google Shape;300;p16"/>
          <p:cNvSpPr txBox="1"/>
          <p:nvPr/>
        </p:nvSpPr>
        <p:spPr>
          <a:xfrm>
            <a:off x="1320800" y="2921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Win+R → eventvwr</a:t>
            </a:r>
            <a:endParaRPr b="0" i="0" sz="1500" u="none" cap="none" strike="noStrike"/>
          </a:p>
        </p:txBody>
      </p:sp>
      <p:sp>
        <p:nvSpPr>
          <p:cNvPr id="301" name="Google Shape;301;p16"/>
          <p:cNvSpPr txBox="1"/>
          <p:nvPr/>
        </p:nvSpPr>
        <p:spPr>
          <a:xfrm>
            <a:off x="711200" y="34036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3</a:t>
            </a:r>
            <a:endParaRPr b="0" i="0" sz="2400" u="none" cap="none" strike="noStrike"/>
          </a:p>
        </p:txBody>
      </p:sp>
      <p:sp>
        <p:nvSpPr>
          <p:cNvPr id="302" name="Google Shape;302;p16"/>
          <p:cNvSpPr txBox="1"/>
          <p:nvPr/>
        </p:nvSpPr>
        <p:spPr>
          <a:xfrm>
            <a:off x="1320800" y="34544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Command line → eventvwr</a:t>
            </a:r>
            <a:endParaRPr b="0" i="0" sz="1500" u="none" cap="none" strike="noStrike"/>
          </a:p>
        </p:txBody>
      </p:sp>
      <p:sp>
        <p:nvSpPr>
          <p:cNvPr id="303" name="Google Shape;303;p16"/>
          <p:cNvSpPr txBox="1"/>
          <p:nvPr/>
        </p:nvSpPr>
        <p:spPr>
          <a:xfrm>
            <a:off x="711200" y="4064000"/>
            <a:ext cx="508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All three open the exact same console. The Run box is simply the fastest door — and it works even when the Start menu is the thing that's broken.</a:t>
            </a:r>
            <a:endParaRPr b="0" i="0" sz="1350" u="none" cap="none" strike="noStrike"/>
          </a:p>
        </p:txBody>
      </p:sp>
      <p:sp>
        <p:nvSpPr>
          <p:cNvPr id="304" name="Google Shape;304;p16"/>
          <p:cNvSpPr txBox="1"/>
          <p:nvPr/>
        </p:nvSpPr>
        <p:spPr>
          <a:xfrm>
            <a:off x="6604000" y="19050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DECODER — WHAT THE ENDINGS MEAN</a:t>
            </a:r>
            <a:endParaRPr b="0" i="0" sz="1150" u="none" cap="none" strike="noStrike"/>
          </a:p>
        </p:txBody>
      </p:sp>
      <p:sp>
        <p:nvSpPr>
          <p:cNvPr id="305" name="Google Shape;305;p16"/>
          <p:cNvSpPr txBox="1"/>
          <p:nvPr/>
        </p:nvSpPr>
        <p:spPr>
          <a:xfrm>
            <a:off x="6604000" y="2336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.msc</a:t>
            </a:r>
            <a:endParaRPr b="0" i="0" sz="1500" u="none" cap="none" strike="noStrike"/>
          </a:p>
        </p:txBody>
      </p:sp>
      <p:sp>
        <p:nvSpPr>
          <p:cNvPr id="306" name="Google Shape;306;p16"/>
          <p:cNvSpPr txBox="1"/>
          <p:nvPr/>
        </p:nvSpPr>
        <p:spPr>
          <a:xfrm>
            <a:off x="7721600" y="2349500"/>
            <a:ext cx="375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management consoles (services.msc)</a:t>
            </a:r>
            <a:endParaRPr b="0" i="0" sz="1350" u="none" cap="none" strike="noStrike"/>
          </a:p>
        </p:txBody>
      </p:sp>
      <p:sp>
        <p:nvSpPr>
          <p:cNvPr id="307" name="Google Shape;307;p16"/>
          <p:cNvSpPr txBox="1"/>
          <p:nvPr/>
        </p:nvSpPr>
        <p:spPr>
          <a:xfrm>
            <a:off x="6604000" y="284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.cpl</a:t>
            </a:r>
            <a:endParaRPr b="0" i="0" sz="1500" u="none" cap="none" strike="noStrike"/>
          </a:p>
        </p:txBody>
      </p:sp>
      <p:sp>
        <p:nvSpPr>
          <p:cNvPr id="308" name="Google Shape;308;p16"/>
          <p:cNvSpPr txBox="1"/>
          <p:nvPr/>
        </p:nvSpPr>
        <p:spPr>
          <a:xfrm>
            <a:off x="7721600" y="2857500"/>
            <a:ext cx="375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Control Panel applets (ncpa.cpl)</a:t>
            </a:r>
            <a:endParaRPr b="0" i="0" sz="1350" u="none" cap="none" strike="noStrike"/>
          </a:p>
        </p:txBody>
      </p:sp>
      <p:sp>
        <p:nvSpPr>
          <p:cNvPr id="309" name="Google Shape;309;p16"/>
          <p:cNvSpPr txBox="1"/>
          <p:nvPr/>
        </p:nvSpPr>
        <p:spPr>
          <a:xfrm>
            <a:off x="6604000" y="3352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.exe</a:t>
            </a:r>
            <a:endParaRPr b="0" i="0" sz="1500" u="none" cap="none" strike="noStrike"/>
          </a:p>
        </p:txBody>
      </p:sp>
      <p:sp>
        <p:nvSpPr>
          <p:cNvPr id="310" name="Google Shape;310;p16"/>
          <p:cNvSpPr txBox="1"/>
          <p:nvPr/>
        </p:nvSpPr>
        <p:spPr>
          <a:xfrm>
            <a:off x="7721600" y="3365500"/>
            <a:ext cx="3759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 program — notepad, cmd</a:t>
            </a:r>
            <a:endParaRPr b="0" i="0" sz="1350" u="none" cap="none" strike="noStrike"/>
          </a:p>
        </p:txBody>
      </p:sp>
      <p:sp>
        <p:nvSpPr>
          <p:cNvPr id="311" name="Google Shape;311;p16"/>
          <p:cNvSpPr/>
          <p:nvPr/>
        </p:nvSpPr>
        <p:spPr>
          <a:xfrm>
            <a:off x="6604000" y="4013200"/>
            <a:ext cx="4876800" cy="13970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6858000" y="42164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MYTH BUSTED</a:t>
            </a:r>
            <a:endParaRPr b="0" i="0" sz="1100" u="none" cap="none" strike="noStrike"/>
          </a:p>
        </p:txBody>
      </p:sp>
      <p:sp>
        <p:nvSpPr>
          <p:cNvPr id="313" name="Google Shape;313;p16"/>
          <p:cNvSpPr txBox="1"/>
          <p:nvPr/>
        </p:nvSpPr>
        <p:spPr>
          <a:xfrm>
            <a:off x="6858000" y="4495800"/>
            <a:ext cx="4368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The Run box doesn't just launch programs — it opens management consoles and control panels too.</a:t>
            </a:r>
            <a:endParaRPr b="0" i="0" sz="1300" u="none" cap="none" strike="noStrike"/>
          </a:p>
        </p:txBody>
      </p:sp>
      <p:sp>
        <p:nvSpPr>
          <p:cNvPr id="314" name="Google Shape;314;p16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 txBox="1"/>
          <p:nvPr/>
        </p:nvSpPr>
        <p:spPr>
          <a:xfrm>
            <a:off x="7620000" y="889000"/>
            <a:ext cx="3860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04</a:t>
            </a:r>
            <a:endParaRPr b="0" i="0" sz="21000" u="none" cap="none" strike="noStrike"/>
          </a:p>
        </p:txBody>
      </p:sp>
      <p:sp>
        <p:nvSpPr>
          <p:cNvPr id="320" name="Google Shape;320;p17"/>
          <p:cNvSpPr/>
          <p:nvPr/>
        </p:nvSpPr>
        <p:spPr>
          <a:xfrm>
            <a:off x="10871200" y="4064000"/>
            <a:ext cx="609600" cy="431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711200" y="76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AA3F5"/>
                </a:solidFill>
                <a:latin typeface="Arial"/>
                <a:ea typeface="Arial"/>
                <a:cs typeface="Arial"/>
                <a:sym typeface="Arial"/>
              </a:rPr>
              <a:t>UNIT 04 · WINDOWS TOOLS</a:t>
            </a:r>
            <a:endParaRPr b="0" i="0" sz="1200" u="none" cap="none" strike="noStrike"/>
          </a:p>
        </p:txBody>
      </p:sp>
      <p:sp>
        <p:nvSpPr>
          <p:cNvPr id="322" name="Google Shape;322;p17"/>
          <p:cNvSpPr txBox="1"/>
          <p:nvPr/>
        </p:nvSpPr>
        <p:spPr>
          <a:xfrm>
            <a:off x="711200" y="1905000"/>
            <a:ext cx="660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TRIAGE WITH</a:t>
            </a:r>
            <a:endParaRPr b="0" i="0" sz="1600" u="none" cap="none" strike="noStrike"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WINDOWS TOOLS</a:t>
            </a:r>
            <a:endParaRPr b="0" i="0" sz="1600" u="none" cap="none" strike="noStrike"/>
          </a:p>
        </p:txBody>
      </p:sp>
      <p:sp>
        <p:nvSpPr>
          <p:cNvPr id="323" name="Google Shape;323;p17"/>
          <p:cNvSpPr txBox="1"/>
          <p:nvPr/>
        </p:nvSpPr>
        <p:spPr>
          <a:xfrm>
            <a:off x="711200" y="3886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Task Manager, Services, and Event Viewer.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See what's running, what's stopped, and what went wrong — in that order.</a:t>
            </a:r>
            <a:endParaRPr b="0" i="0" sz="1600" u="none" cap="none" strike="noStrike"/>
          </a:p>
        </p:txBody>
      </p:sp>
      <p:sp>
        <p:nvSpPr>
          <p:cNvPr id="324" name="Google Shape;324;p17"/>
          <p:cNvSpPr txBox="1"/>
          <p:nvPr/>
        </p:nvSpPr>
        <p:spPr>
          <a:xfrm>
            <a:off x="711200" y="55372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In this unit: find the resource hog · restart a service · read the logs</a:t>
            </a:r>
            <a:endParaRPr b="0" i="0" sz="1250" u="none" cap="none" strike="noStrike"/>
          </a:p>
        </p:txBody>
      </p:sp>
      <p:sp>
        <p:nvSpPr>
          <p:cNvPr id="325" name="Google Shape;325;p17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UNIT 04 · TASK MANAGER</a:t>
            </a:r>
            <a:endParaRPr b="0" i="0" sz="1200" u="none" cap="none" strike="noStrike"/>
          </a:p>
        </p:txBody>
      </p:sp>
      <p:sp>
        <p:nvSpPr>
          <p:cNvPr id="331" name="Google Shape;331;p18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332" name="Google Shape;332;p18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Task Manager: who's eating the PC?</a:t>
            </a:r>
            <a:endParaRPr b="0" i="0" sz="3600" u="none" cap="none" strike="noStrike"/>
          </a:p>
        </p:txBody>
      </p:sp>
      <p:sp>
        <p:nvSpPr>
          <p:cNvPr id="333" name="Google Shape;333;p18"/>
          <p:cNvSpPr txBox="1"/>
          <p:nvPr/>
        </p:nvSpPr>
        <p:spPr>
          <a:xfrm>
            <a:off x="711200" y="16510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Open it: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Ctrl+Shift+Esc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or type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taskmgr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in the Run box (Unit 03).</a:t>
            </a:r>
            <a:endParaRPr b="0" i="0" sz="1300" u="none" cap="none" strike="noStrike"/>
          </a:p>
        </p:txBody>
      </p:sp>
      <p:sp>
        <p:nvSpPr>
          <p:cNvPr id="334" name="Google Shape;334;p18"/>
          <p:cNvSpPr txBox="1"/>
          <p:nvPr/>
        </p:nvSpPr>
        <p:spPr>
          <a:xfrm>
            <a:off x="711200" y="2184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1</a:t>
            </a:r>
            <a:endParaRPr b="0" i="0" sz="2600" u="none" cap="none" strike="noStrike"/>
          </a:p>
        </p:txBody>
      </p:sp>
      <p:sp>
        <p:nvSpPr>
          <p:cNvPr id="335" name="Google Shape;335;p18"/>
          <p:cNvSpPr txBox="1"/>
          <p:nvPr/>
        </p:nvSpPr>
        <p:spPr>
          <a:xfrm>
            <a:off x="1422400" y="2235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Processes tab</a:t>
            </a:r>
            <a:endParaRPr b="0" i="0" sz="1600" u="none" cap="none" strike="noStrike"/>
          </a:p>
        </p:txBody>
      </p:sp>
      <p:sp>
        <p:nvSpPr>
          <p:cNvPr id="336" name="Google Shape;336;p18"/>
          <p:cNvSpPr txBox="1"/>
          <p:nvPr/>
        </p:nvSpPr>
        <p:spPr>
          <a:xfrm>
            <a:off x="4953000" y="223520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Sort by CPU, Memory, or Disk to find the resource hog.</a:t>
            </a:r>
            <a:endParaRPr b="0" i="0" sz="1300" u="none" cap="none" strike="noStrike"/>
          </a:p>
        </p:txBody>
      </p:sp>
      <p:sp>
        <p:nvSpPr>
          <p:cNvPr id="337" name="Google Shape;337;p18"/>
          <p:cNvSpPr txBox="1"/>
          <p:nvPr/>
        </p:nvSpPr>
        <p:spPr>
          <a:xfrm>
            <a:off x="711200" y="2946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2</a:t>
            </a:r>
            <a:endParaRPr b="0" i="0" sz="2600" u="none" cap="none" strike="noStrike"/>
          </a:p>
        </p:txBody>
      </p:sp>
      <p:sp>
        <p:nvSpPr>
          <p:cNvPr id="338" name="Google Shape;338;p18"/>
          <p:cNvSpPr txBox="1"/>
          <p:nvPr/>
        </p:nvSpPr>
        <p:spPr>
          <a:xfrm>
            <a:off x="1422400" y="2997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Startup tab</a:t>
            </a:r>
            <a:endParaRPr b="0" i="0" sz="1600" u="none" cap="none" strike="noStrike"/>
          </a:p>
        </p:txBody>
      </p:sp>
      <p:sp>
        <p:nvSpPr>
          <p:cNvPr id="339" name="Google Shape;339;p18"/>
          <p:cNvSpPr txBox="1"/>
          <p:nvPr/>
        </p:nvSpPr>
        <p:spPr>
          <a:xfrm>
            <a:off x="4953000" y="299720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Disable high-impact apps that slow every boot.</a:t>
            </a:r>
            <a:endParaRPr b="0" i="0" sz="1300" u="none" cap="none" strike="noStrike"/>
          </a:p>
        </p:txBody>
      </p:sp>
      <p:sp>
        <p:nvSpPr>
          <p:cNvPr id="340" name="Google Shape;340;p18"/>
          <p:cNvSpPr txBox="1"/>
          <p:nvPr/>
        </p:nvSpPr>
        <p:spPr>
          <a:xfrm>
            <a:off x="711200" y="3708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3</a:t>
            </a:r>
            <a:endParaRPr b="0" i="0" sz="2600" u="none" cap="none" strike="noStrike"/>
          </a:p>
        </p:txBody>
      </p:sp>
      <p:sp>
        <p:nvSpPr>
          <p:cNvPr id="341" name="Google Shape;341;p18"/>
          <p:cNvSpPr txBox="1"/>
          <p:nvPr/>
        </p:nvSpPr>
        <p:spPr>
          <a:xfrm>
            <a:off x="1422400" y="3759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End task</a:t>
            </a:r>
            <a:endParaRPr b="0" i="0" sz="1600" u="none" cap="none" strike="noStrike"/>
          </a:p>
        </p:txBody>
      </p:sp>
      <p:sp>
        <p:nvSpPr>
          <p:cNvPr id="342" name="Google Shape;342;p18"/>
          <p:cNvSpPr txBox="1"/>
          <p:nvPr/>
        </p:nvSpPr>
        <p:spPr>
          <a:xfrm>
            <a:off x="4953000" y="375920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The safe way to kill a frozen app — after you've looked.</a:t>
            </a:r>
            <a:endParaRPr b="0" i="0" sz="1300" u="none" cap="none" strike="noStrike"/>
          </a:p>
        </p:txBody>
      </p:sp>
      <p:sp>
        <p:nvSpPr>
          <p:cNvPr id="343" name="Google Shape;343;p18"/>
          <p:cNvSpPr/>
          <p:nvPr/>
        </p:nvSpPr>
        <p:spPr>
          <a:xfrm>
            <a:off x="711200" y="2794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8"/>
          <p:cNvSpPr/>
          <p:nvPr/>
        </p:nvSpPr>
        <p:spPr>
          <a:xfrm>
            <a:off x="711200" y="3556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8"/>
          <p:cNvSpPr/>
          <p:nvPr/>
        </p:nvSpPr>
        <p:spPr>
          <a:xfrm>
            <a:off x="711200" y="4597400"/>
            <a:ext cx="10769600" cy="13716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/>
          <p:cNvSpPr txBox="1"/>
          <p:nvPr/>
        </p:nvSpPr>
        <p:spPr>
          <a:xfrm>
            <a:off x="1016000" y="4826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MYTH CHECK — BASELINE FIRST</a:t>
            </a:r>
            <a:endParaRPr b="0" i="0" sz="1150" u="none" cap="none" strike="noStrike"/>
          </a:p>
        </p:txBody>
      </p:sp>
      <p:sp>
        <p:nvSpPr>
          <p:cNvPr id="347" name="Google Shape;347;p18"/>
          <p:cNvSpPr txBox="1"/>
          <p:nvPr/>
        </p:nvSpPr>
        <p:spPr>
          <a:xfrm>
            <a:off x="1016000" y="51308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High CPU isn't always bad. A busy PC isn't automatically a broken PC — know the machine's normal baseline first, then compare.</a:t>
            </a:r>
            <a:endParaRPr b="0" i="0" sz="1400" u="none" cap="none" strike="noStrike"/>
          </a:p>
        </p:txBody>
      </p:sp>
      <p:sp>
        <p:nvSpPr>
          <p:cNvPr id="348" name="Google Shape;348;p18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UNIT 04 · SERVICES</a:t>
            </a:r>
            <a:endParaRPr b="0" i="0" sz="1200" u="none" cap="none" strike="noStrike"/>
          </a:p>
        </p:txBody>
      </p:sp>
      <p:sp>
        <p:nvSpPr>
          <p:cNvPr id="354" name="Google Shape;354;p19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355" name="Google Shape;355;p19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Services: the apps with no window.</a:t>
            </a:r>
            <a:endParaRPr b="0" i="0" sz="3600" u="none" cap="none" strike="noStrike"/>
          </a:p>
        </p:txBody>
      </p:sp>
      <p:sp>
        <p:nvSpPr>
          <p:cNvPr id="356" name="Google Shape;356;p19"/>
          <p:cNvSpPr txBox="1"/>
          <p:nvPr/>
        </p:nvSpPr>
        <p:spPr>
          <a:xfrm>
            <a:off x="711200" y="165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Open it: Win+R →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services.msc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· right-click a service to start, stop, or restart it.</a:t>
            </a:r>
            <a:endParaRPr b="0" i="0" sz="1300" u="none" cap="none" strike="noStrike"/>
          </a:p>
        </p:txBody>
      </p:sp>
      <p:sp>
        <p:nvSpPr>
          <p:cNvPr id="357" name="Google Shape;357;p19"/>
          <p:cNvSpPr txBox="1"/>
          <p:nvPr/>
        </p:nvSpPr>
        <p:spPr>
          <a:xfrm>
            <a:off x="711200" y="21082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STARTUP TYPES — WHEN DOES IT RUN?</a:t>
            </a:r>
            <a:endParaRPr b="0" i="0" sz="1150" u="none" cap="none" strike="noStrike"/>
          </a:p>
        </p:txBody>
      </p:sp>
      <p:sp>
        <p:nvSpPr>
          <p:cNvPr id="358" name="Google Shape;358;p19"/>
          <p:cNvSpPr txBox="1"/>
          <p:nvPr/>
        </p:nvSpPr>
        <p:spPr>
          <a:xfrm>
            <a:off x="711200" y="24892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Automatic</a:t>
            </a:r>
            <a:r>
              <a:rPr b="0" i="0" lang="en-US" sz="14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starts with Windows, always on</a:t>
            </a:r>
            <a:endParaRPr b="0" i="0" sz="1400" u="none" cap="none" strike="noStrike"/>
          </a:p>
        </p:txBody>
      </p:sp>
      <p:sp>
        <p:nvSpPr>
          <p:cNvPr id="359" name="Google Shape;359;p19"/>
          <p:cNvSpPr txBox="1"/>
          <p:nvPr/>
        </p:nvSpPr>
        <p:spPr>
          <a:xfrm>
            <a:off x="711200" y="29464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Automatic (Delayed)</a:t>
            </a:r>
            <a:r>
              <a:rPr b="0" i="0" lang="en-US" sz="14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starts shortly after boot</a:t>
            </a:r>
            <a:endParaRPr b="0" i="0" sz="1400" u="none" cap="none" strike="noStrike"/>
          </a:p>
        </p:txBody>
      </p:sp>
      <p:sp>
        <p:nvSpPr>
          <p:cNvPr id="360" name="Google Shape;360;p19"/>
          <p:cNvSpPr txBox="1"/>
          <p:nvPr/>
        </p:nvSpPr>
        <p:spPr>
          <a:xfrm>
            <a:off x="711200" y="34036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r>
              <a:rPr b="0" i="0" lang="en-US" sz="14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runs only when something asks for it</a:t>
            </a:r>
            <a:endParaRPr b="0" i="0" sz="1400" u="none" cap="none" strike="noStrike"/>
          </a:p>
        </p:txBody>
      </p:sp>
      <p:sp>
        <p:nvSpPr>
          <p:cNvPr id="361" name="Google Shape;361;p19"/>
          <p:cNvSpPr txBox="1"/>
          <p:nvPr/>
        </p:nvSpPr>
        <p:spPr>
          <a:xfrm>
            <a:off x="711200" y="38608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Disabled</a:t>
            </a:r>
            <a:r>
              <a:rPr b="0" i="0" lang="en-US" sz="14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never runs (don't set this if you're unsure)</a:t>
            </a:r>
            <a:endParaRPr b="0" i="0" sz="1400" u="none" cap="none" strike="noStrike"/>
          </a:p>
        </p:txBody>
      </p:sp>
      <p:sp>
        <p:nvSpPr>
          <p:cNvPr id="362" name="Google Shape;362;p19"/>
          <p:cNvSpPr txBox="1"/>
          <p:nvPr/>
        </p:nvSpPr>
        <p:spPr>
          <a:xfrm>
            <a:off x="711200" y="45212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Before you stop anything: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services depend on each other. Check the Dependencies tab first — stopping one service can quietly break three others.</a:t>
            </a:r>
            <a:endParaRPr b="0" i="0" sz="1300" u="none" cap="none" strike="noStrike"/>
          </a:p>
        </p:txBody>
      </p:sp>
      <p:sp>
        <p:nvSpPr>
          <p:cNvPr id="363" name="Google Shape;363;p19"/>
          <p:cNvSpPr/>
          <p:nvPr/>
        </p:nvSpPr>
        <p:spPr>
          <a:xfrm>
            <a:off x="7239000" y="1905000"/>
            <a:ext cx="4241800" cy="38100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7543800" y="2184400"/>
            <a:ext cx="36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F04A"/>
                </a:solidFill>
                <a:latin typeface="Arial"/>
                <a:ea typeface="Arial"/>
                <a:cs typeface="Arial"/>
                <a:sym typeface="Arial"/>
              </a:rPr>
              <a:t>CLASS DEMO</a:t>
            </a:r>
            <a:endParaRPr b="0" i="0" sz="1150" u="none" cap="none" strike="noStrike"/>
          </a:p>
        </p:txBody>
      </p:sp>
      <p:sp>
        <p:nvSpPr>
          <p:cNvPr id="365" name="Google Shape;365;p19"/>
          <p:cNvSpPr txBox="1"/>
          <p:nvPr/>
        </p:nvSpPr>
        <p:spPr>
          <a:xfrm>
            <a:off x="7543800" y="2540000"/>
            <a:ext cx="36322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Stop the </a:t>
            </a:r>
            <a:r>
              <a:rPr b="1" i="0" lang="en-US" sz="15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Print Spooler</a:t>
            </a:r>
            <a:r>
              <a:rPr b="0" i="0" lang="en-US" sz="15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 service.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Try to print — it fails.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Restart the service — printing returns.</a:t>
            </a:r>
            <a:endParaRPr b="0" i="0" sz="1500" u="none" cap="none" strike="noStrike"/>
          </a:p>
        </p:txBody>
      </p:sp>
      <p:sp>
        <p:nvSpPr>
          <p:cNvPr id="366" name="Google Shape;366;p19"/>
          <p:cNvSpPr txBox="1"/>
          <p:nvPr/>
        </p:nvSpPr>
        <p:spPr>
          <a:xfrm>
            <a:off x="7543800" y="4597400"/>
            <a:ext cx="3632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9D4F5"/>
                </a:solidFill>
                <a:latin typeface="Arial"/>
                <a:ea typeface="Arial"/>
                <a:cs typeface="Arial"/>
                <a:sym typeface="Arial"/>
              </a:rPr>
              <a:t>Nothing changed except the service. That's how you prove a cause instead of guessing one.</a:t>
            </a:r>
            <a:endParaRPr b="0" i="0" sz="1250" u="none" cap="none" strike="noStrike"/>
          </a:p>
        </p:txBody>
      </p:sp>
      <p:sp>
        <p:nvSpPr>
          <p:cNvPr id="367" name="Google Shape;367;p19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UNIT 04 · EVENT VIEWER</a:t>
            </a:r>
            <a:endParaRPr b="0" i="0" sz="1200" u="none" cap="none" strike="noStrike"/>
          </a:p>
        </p:txBody>
      </p:sp>
      <p:sp>
        <p:nvSpPr>
          <p:cNvPr id="373" name="Google Shape;373;p20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374" name="Google Shape;374;p20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Event Viewer: the PC's flight recorder.</a:t>
            </a:r>
            <a:endParaRPr b="0" i="0" sz="3600" u="none" cap="none" strike="noStrike"/>
          </a:p>
        </p:txBody>
      </p:sp>
      <p:sp>
        <p:nvSpPr>
          <p:cNvPr id="375" name="Google Shape;375;p20"/>
          <p:cNvSpPr txBox="1"/>
          <p:nvPr/>
        </p:nvSpPr>
        <p:spPr>
          <a:xfrm>
            <a:off x="711200" y="165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Open it: Win+R →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eventvwr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→ Windows Logs</a:t>
            </a:r>
            <a:endParaRPr b="0" i="0" sz="1300" u="none" cap="none" strike="noStrike"/>
          </a:p>
        </p:txBody>
      </p:sp>
      <p:sp>
        <p:nvSpPr>
          <p:cNvPr id="376" name="Google Shape;376;p20"/>
          <p:cNvSpPr txBox="1"/>
          <p:nvPr/>
        </p:nvSpPr>
        <p:spPr>
          <a:xfrm>
            <a:off x="711200" y="2108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THE THREE LOGS THAT MATTER</a:t>
            </a:r>
            <a:endParaRPr b="0" i="0" sz="1150" u="none" cap="none" strike="noStrike"/>
          </a:p>
        </p:txBody>
      </p:sp>
      <p:sp>
        <p:nvSpPr>
          <p:cNvPr id="377" name="Google Shape;377;p20"/>
          <p:cNvSpPr txBox="1"/>
          <p:nvPr/>
        </p:nvSpPr>
        <p:spPr>
          <a:xfrm>
            <a:off x="711200" y="24892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550" u="none" cap="none" strike="noStrike"/>
          </a:p>
        </p:txBody>
      </p:sp>
      <p:sp>
        <p:nvSpPr>
          <p:cNvPr id="378" name="Google Shape;378;p20"/>
          <p:cNvSpPr txBox="1"/>
          <p:nvPr/>
        </p:nvSpPr>
        <p:spPr>
          <a:xfrm>
            <a:off x="2870200" y="25146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app crashes and errors</a:t>
            </a:r>
            <a:endParaRPr b="0" i="0" sz="1300" u="none" cap="none" strike="noStrike"/>
          </a:p>
        </p:txBody>
      </p:sp>
      <p:sp>
        <p:nvSpPr>
          <p:cNvPr id="379" name="Google Shape;379;p20"/>
          <p:cNvSpPr txBox="1"/>
          <p:nvPr/>
        </p:nvSpPr>
        <p:spPr>
          <a:xfrm>
            <a:off x="711200" y="30480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1550" u="none" cap="none" strike="noStrike"/>
          </a:p>
        </p:txBody>
      </p:sp>
      <p:sp>
        <p:nvSpPr>
          <p:cNvPr id="380" name="Google Shape;380;p20"/>
          <p:cNvSpPr txBox="1"/>
          <p:nvPr/>
        </p:nvSpPr>
        <p:spPr>
          <a:xfrm>
            <a:off x="2870200" y="30734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Windows itself: drivers, services, boot</a:t>
            </a:r>
            <a:endParaRPr b="0" i="0" sz="1300" u="none" cap="none" strike="noStrike"/>
          </a:p>
        </p:txBody>
      </p:sp>
      <p:sp>
        <p:nvSpPr>
          <p:cNvPr id="381" name="Google Shape;381;p20"/>
          <p:cNvSpPr txBox="1"/>
          <p:nvPr/>
        </p:nvSpPr>
        <p:spPr>
          <a:xfrm>
            <a:off x="711200" y="36068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1550" u="none" cap="none" strike="noStrike"/>
          </a:p>
        </p:txBody>
      </p:sp>
      <p:sp>
        <p:nvSpPr>
          <p:cNvPr id="382" name="Google Shape;382;p20"/>
          <p:cNvSpPr txBox="1"/>
          <p:nvPr/>
        </p:nvSpPr>
        <p:spPr>
          <a:xfrm>
            <a:off x="2870200" y="36322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logons and access attempts</a:t>
            </a:r>
            <a:endParaRPr b="0" i="0" sz="1300" u="none" cap="none" strike="noStrike"/>
          </a:p>
        </p:txBody>
      </p:sp>
      <p:sp>
        <p:nvSpPr>
          <p:cNvPr id="383" name="Google Shape;383;p20"/>
          <p:cNvSpPr txBox="1"/>
          <p:nvPr/>
        </p:nvSpPr>
        <p:spPr>
          <a:xfrm>
            <a:off x="6858000" y="21082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HOW TO READ AN EVENT</a:t>
            </a:r>
            <a:endParaRPr b="0" i="0" sz="1150" u="none" cap="none" strike="noStrike"/>
          </a:p>
        </p:txBody>
      </p:sp>
      <p:sp>
        <p:nvSpPr>
          <p:cNvPr id="384" name="Google Shape;384;p20"/>
          <p:cNvSpPr txBox="1"/>
          <p:nvPr/>
        </p:nvSpPr>
        <p:spPr>
          <a:xfrm>
            <a:off x="6858000" y="2463800"/>
            <a:ext cx="46228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Level</a:t>
            </a: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— Information, Warning, Error, Critical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Event ID</a:t>
            </a: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— the error's fingerprint; search it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— line events up with the incident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— hide the noise, keep Errors only</a:t>
            </a:r>
            <a:endParaRPr b="0" i="0" sz="1300" u="none" cap="none" strike="noStrike"/>
          </a:p>
        </p:txBody>
      </p:sp>
      <p:sp>
        <p:nvSpPr>
          <p:cNvPr id="385" name="Google Shape;385;p20"/>
          <p:cNvSpPr txBox="1"/>
          <p:nvPr/>
        </p:nvSpPr>
        <p:spPr>
          <a:xfrm>
            <a:off x="711200" y="49022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Logs are evidence — not noise.</a:t>
            </a:r>
            <a:endParaRPr b="0" i="0" sz="1900" u="none" cap="none" strike="noStrike"/>
          </a:p>
        </p:txBody>
      </p:sp>
      <p:sp>
        <p:nvSpPr>
          <p:cNvPr id="386" name="Google Shape;386;p20"/>
          <p:cNvSpPr/>
          <p:nvPr/>
        </p:nvSpPr>
        <p:spPr>
          <a:xfrm>
            <a:off x="711200" y="5308600"/>
            <a:ext cx="3175000" cy="76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 txBox="1"/>
          <p:nvPr/>
        </p:nvSpPr>
        <p:spPr>
          <a:xfrm>
            <a:off x="711200" y="55880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To reconstruct an incident: open the System log, filter to the time things went wrong, and read upward from the first Error. You'll do exactly this in the capstone — and quote it in your log book (Unit 06).</a:t>
            </a:r>
            <a:endParaRPr b="0" i="0" sz="1350" u="none" cap="none" strike="noStrike"/>
          </a:p>
        </p:txBody>
      </p:sp>
      <p:sp>
        <p:nvSpPr>
          <p:cNvPr id="388" name="Google Shape;388;p20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/>
          <p:cNvSpPr txBox="1"/>
          <p:nvPr/>
        </p:nvSpPr>
        <p:spPr>
          <a:xfrm>
            <a:off x="7620000" y="889000"/>
            <a:ext cx="3860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0" u="none" cap="none" strike="noStrike">
                <a:solidFill>
                  <a:srgbClr val="F05A38"/>
                </a:solidFill>
                <a:latin typeface="Jersey 15"/>
                <a:ea typeface="Jersey 15"/>
                <a:cs typeface="Jersey 15"/>
                <a:sym typeface="Jersey 15"/>
              </a:rPr>
              <a:t>05</a:t>
            </a:r>
            <a:endParaRPr b="0" i="0" sz="21000" u="none" cap="none" strike="noStrike"/>
          </a:p>
        </p:txBody>
      </p:sp>
      <p:sp>
        <p:nvSpPr>
          <p:cNvPr id="394" name="Google Shape;394;p21"/>
          <p:cNvSpPr/>
          <p:nvPr/>
        </p:nvSpPr>
        <p:spPr>
          <a:xfrm>
            <a:off x="10871200" y="4064000"/>
            <a:ext cx="609600" cy="431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711200" y="76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05 · BROWSER SETTINGS</a:t>
            </a:r>
            <a:endParaRPr b="0" i="0" sz="1200" u="none" cap="none" strike="noStrike"/>
          </a:p>
        </p:txBody>
      </p:sp>
      <p:sp>
        <p:nvSpPr>
          <p:cNvPr id="396" name="Google Shape;396;p21"/>
          <p:cNvSpPr txBox="1"/>
          <p:nvPr/>
        </p:nvSpPr>
        <p:spPr>
          <a:xfrm>
            <a:off x="711200" y="1905000"/>
            <a:ext cx="660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TUNE INTERNET</a:t>
            </a:r>
            <a:endParaRPr b="0" i="0" sz="1600" u="none" cap="none" strike="noStrike"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OPTIONS</a:t>
            </a:r>
            <a:endParaRPr b="0" i="0" sz="1600" u="none" cap="none" strike="noStrike"/>
          </a:p>
        </p:txBody>
      </p:sp>
      <p:sp>
        <p:nvSpPr>
          <p:cNvPr id="397" name="Google Shape;397;p21"/>
          <p:cNvSpPr txBox="1"/>
          <p:nvPr/>
        </p:nvSpPr>
        <p:spPr>
          <a:xfrm>
            <a:off x="711200" y="3886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inetcpl.cpl — where browser, cache, and proxy settings live.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The network can be perfect while the browser still fails. This is where you look next.</a:t>
            </a:r>
            <a:endParaRPr b="0" i="0" sz="1600" u="none" cap="none" strike="noStrike"/>
          </a:p>
        </p:txBody>
      </p:sp>
      <p:sp>
        <p:nvSpPr>
          <p:cNvPr id="398" name="Google Shape;398;p21"/>
          <p:cNvSpPr txBox="1"/>
          <p:nvPr/>
        </p:nvSpPr>
        <p:spPr>
          <a:xfrm>
            <a:off x="711200" y="55372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In this unit: the six tabs · the bogus-proxy pitfall · when a reset helps (and when it can't)</a:t>
            </a:r>
            <a:endParaRPr b="0" i="0" sz="1250" u="none" cap="none" strike="noStrike"/>
          </a:p>
        </p:txBody>
      </p:sp>
      <p:sp>
        <p:nvSpPr>
          <p:cNvPr id="399" name="Google Shape;399;p21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UNIT 05 · INTERNET OPTIONS</a:t>
            </a:r>
            <a:endParaRPr b="0" i="0" sz="1200" u="none" cap="none" strike="noStrike"/>
          </a:p>
        </p:txBody>
      </p:sp>
      <p:sp>
        <p:nvSpPr>
          <p:cNvPr id="405" name="Google Shape;405;p22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406" name="Google Shape;406;p22"/>
          <p:cNvSpPr txBox="1"/>
          <p:nvPr/>
        </p:nvSpPr>
        <p:spPr>
          <a:xfrm>
            <a:off x="711200" y="8890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Ping works, but the browser doesn't? Look here.</a:t>
            </a:r>
            <a:endParaRPr b="0" i="0" sz="3300" u="none" cap="none" strike="noStrike"/>
          </a:p>
        </p:txBody>
      </p:sp>
      <p:sp>
        <p:nvSpPr>
          <p:cNvPr id="407" name="Google Shape;407;p22"/>
          <p:cNvSpPr txBox="1"/>
          <p:nvPr/>
        </p:nvSpPr>
        <p:spPr>
          <a:xfrm>
            <a:off x="711200" y="1600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Open it: Win+R →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inetcpl.cpl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the six tabs below.</a:t>
            </a:r>
            <a:endParaRPr b="0" i="0" sz="1300" u="none" cap="none" strike="noStrike"/>
          </a:p>
        </p:txBody>
      </p:sp>
      <p:sp>
        <p:nvSpPr>
          <p:cNvPr id="408" name="Google Shape;408;p22"/>
          <p:cNvSpPr txBox="1"/>
          <p:nvPr/>
        </p:nvSpPr>
        <p:spPr>
          <a:xfrm>
            <a:off x="711200" y="2032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General</a:t>
            </a:r>
            <a:endParaRPr b="0" i="0" sz="1500" u="none" cap="none" strike="noStrike"/>
          </a:p>
        </p:txBody>
      </p:sp>
      <p:sp>
        <p:nvSpPr>
          <p:cNvPr id="409" name="Google Shape;409;p22"/>
          <p:cNvSpPr txBox="1"/>
          <p:nvPr/>
        </p:nvSpPr>
        <p:spPr>
          <a:xfrm>
            <a:off x="2692400" y="20447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homepage and cached files (clear cache)</a:t>
            </a:r>
            <a:endParaRPr b="0" i="0" sz="1250" u="none" cap="none" strike="noStrike"/>
          </a:p>
        </p:txBody>
      </p:sp>
      <p:sp>
        <p:nvSpPr>
          <p:cNvPr id="410" name="Google Shape;410;p22"/>
          <p:cNvSpPr txBox="1"/>
          <p:nvPr/>
        </p:nvSpPr>
        <p:spPr>
          <a:xfrm>
            <a:off x="711200" y="25146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1500" u="none" cap="none" strike="noStrike"/>
          </a:p>
        </p:txBody>
      </p:sp>
      <p:sp>
        <p:nvSpPr>
          <p:cNvPr id="411" name="Google Shape;411;p22"/>
          <p:cNvSpPr txBox="1"/>
          <p:nvPr/>
        </p:nvSpPr>
        <p:spPr>
          <a:xfrm>
            <a:off x="2692400" y="25273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trust zones for websites</a:t>
            </a:r>
            <a:endParaRPr b="0" i="0" sz="1250" u="none" cap="none" strike="noStrike"/>
          </a:p>
        </p:txBody>
      </p:sp>
      <p:sp>
        <p:nvSpPr>
          <p:cNvPr id="412" name="Google Shape;412;p22"/>
          <p:cNvSpPr txBox="1"/>
          <p:nvPr/>
        </p:nvSpPr>
        <p:spPr>
          <a:xfrm>
            <a:off x="711200" y="29972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endParaRPr b="0" i="0" sz="1500" u="none" cap="none" strike="noStrike"/>
          </a:p>
        </p:txBody>
      </p:sp>
      <p:sp>
        <p:nvSpPr>
          <p:cNvPr id="413" name="Google Shape;413;p22"/>
          <p:cNvSpPr txBox="1"/>
          <p:nvPr/>
        </p:nvSpPr>
        <p:spPr>
          <a:xfrm>
            <a:off x="2692400" y="30099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cookies and pop-up blocking</a:t>
            </a:r>
            <a:endParaRPr b="0" i="0" sz="1250" u="none" cap="none" strike="noStrike"/>
          </a:p>
        </p:txBody>
      </p:sp>
      <p:sp>
        <p:nvSpPr>
          <p:cNvPr id="414" name="Google Shape;414;p22"/>
          <p:cNvSpPr txBox="1"/>
          <p:nvPr/>
        </p:nvSpPr>
        <p:spPr>
          <a:xfrm>
            <a:off x="711200" y="34798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b="0" i="0" sz="1500" u="none" cap="none" strike="noStrike"/>
          </a:p>
        </p:txBody>
      </p:sp>
      <p:sp>
        <p:nvSpPr>
          <p:cNvPr id="415" name="Google Shape;415;p22"/>
          <p:cNvSpPr txBox="1"/>
          <p:nvPr/>
        </p:nvSpPr>
        <p:spPr>
          <a:xfrm>
            <a:off x="2692400" y="34925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LAN settings — </a:t>
            </a:r>
            <a:r>
              <a:rPr b="1" i="0" lang="en-US" sz="12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the proxy lives here</a:t>
            </a:r>
            <a:endParaRPr b="0" i="0" sz="1250" u="none" cap="none" strike="noStrike"/>
          </a:p>
        </p:txBody>
      </p:sp>
      <p:sp>
        <p:nvSpPr>
          <p:cNvPr id="416" name="Google Shape;416;p22"/>
          <p:cNvSpPr txBox="1"/>
          <p:nvPr/>
        </p:nvSpPr>
        <p:spPr>
          <a:xfrm>
            <a:off x="711200" y="39624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Programs</a:t>
            </a:r>
            <a:endParaRPr b="0" i="0" sz="1500" u="none" cap="none" strike="noStrike"/>
          </a:p>
        </p:txBody>
      </p:sp>
      <p:sp>
        <p:nvSpPr>
          <p:cNvPr id="417" name="Google Shape;417;p22"/>
          <p:cNvSpPr txBox="1"/>
          <p:nvPr/>
        </p:nvSpPr>
        <p:spPr>
          <a:xfrm>
            <a:off x="2692400" y="39751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default browser and add-ons</a:t>
            </a:r>
            <a:endParaRPr b="0" i="0" sz="1250" u="none" cap="none" strike="noStrike"/>
          </a:p>
        </p:txBody>
      </p:sp>
      <p:sp>
        <p:nvSpPr>
          <p:cNvPr id="418" name="Google Shape;418;p22"/>
          <p:cNvSpPr txBox="1"/>
          <p:nvPr/>
        </p:nvSpPr>
        <p:spPr>
          <a:xfrm>
            <a:off x="711200" y="4445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Advanced</a:t>
            </a:r>
            <a:endParaRPr b="0" i="0" sz="1500" u="none" cap="none" strike="noStrike"/>
          </a:p>
        </p:txBody>
      </p:sp>
      <p:sp>
        <p:nvSpPr>
          <p:cNvPr id="419" name="Google Shape;419;p22"/>
          <p:cNvSpPr txBox="1"/>
          <p:nvPr/>
        </p:nvSpPr>
        <p:spPr>
          <a:xfrm>
            <a:off x="2692400" y="44577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deep settings and the big Reset button</a:t>
            </a:r>
            <a:endParaRPr b="0" i="0" sz="1250" u="none" cap="none" strike="noStrike"/>
          </a:p>
        </p:txBody>
      </p:sp>
      <p:sp>
        <p:nvSpPr>
          <p:cNvPr id="420" name="Google Shape;420;p22"/>
          <p:cNvSpPr/>
          <p:nvPr/>
        </p:nvSpPr>
        <p:spPr>
          <a:xfrm>
            <a:off x="711200" y="2413000"/>
            <a:ext cx="5537200" cy="25400"/>
          </a:xfrm>
          <a:custGeom>
            <a:rect b="b" l="l" r="r" t="t"/>
            <a:pathLst>
              <a:path extrusionOk="0" h="2" w="436">
                <a:moveTo>
                  <a:pt x="0" y="1"/>
                </a:moveTo>
                <a:lnTo>
                  <a:pt x="436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2"/>
          <p:cNvSpPr/>
          <p:nvPr/>
        </p:nvSpPr>
        <p:spPr>
          <a:xfrm>
            <a:off x="711200" y="2895600"/>
            <a:ext cx="5537200" cy="25400"/>
          </a:xfrm>
          <a:custGeom>
            <a:rect b="b" l="l" r="r" t="t"/>
            <a:pathLst>
              <a:path extrusionOk="0" h="2" w="436">
                <a:moveTo>
                  <a:pt x="0" y="1"/>
                </a:moveTo>
                <a:lnTo>
                  <a:pt x="436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2"/>
          <p:cNvSpPr/>
          <p:nvPr/>
        </p:nvSpPr>
        <p:spPr>
          <a:xfrm>
            <a:off x="711200" y="3378200"/>
            <a:ext cx="5537200" cy="25400"/>
          </a:xfrm>
          <a:custGeom>
            <a:rect b="b" l="l" r="r" t="t"/>
            <a:pathLst>
              <a:path extrusionOk="0" h="2" w="436">
                <a:moveTo>
                  <a:pt x="0" y="1"/>
                </a:moveTo>
                <a:lnTo>
                  <a:pt x="436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22"/>
          <p:cNvSpPr/>
          <p:nvPr/>
        </p:nvSpPr>
        <p:spPr>
          <a:xfrm>
            <a:off x="711200" y="3860800"/>
            <a:ext cx="5537200" cy="25400"/>
          </a:xfrm>
          <a:custGeom>
            <a:rect b="b" l="l" r="r" t="t"/>
            <a:pathLst>
              <a:path extrusionOk="0" h="2" w="436">
                <a:moveTo>
                  <a:pt x="0" y="1"/>
                </a:moveTo>
                <a:lnTo>
                  <a:pt x="436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2"/>
          <p:cNvSpPr/>
          <p:nvPr/>
        </p:nvSpPr>
        <p:spPr>
          <a:xfrm>
            <a:off x="711200" y="4343400"/>
            <a:ext cx="5537200" cy="25400"/>
          </a:xfrm>
          <a:custGeom>
            <a:rect b="b" l="l" r="r" t="t"/>
            <a:pathLst>
              <a:path extrusionOk="0" h="2" w="436">
                <a:moveTo>
                  <a:pt x="0" y="1"/>
                </a:moveTo>
                <a:lnTo>
                  <a:pt x="436" y="1"/>
                </a:lnTo>
              </a:path>
            </a:pathLst>
          </a:custGeom>
          <a:noFill/>
          <a:ln cap="rnd" cmpd="sng" w="12700">
            <a:solidFill>
              <a:srgbClr val="D8CBB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2"/>
          <p:cNvSpPr/>
          <p:nvPr/>
        </p:nvSpPr>
        <p:spPr>
          <a:xfrm>
            <a:off x="6858000" y="1905000"/>
            <a:ext cx="4622800" cy="21336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7137400" y="21336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THE CLASSIC TICKET — CLASS DEMO</a:t>
            </a:r>
            <a:endParaRPr b="0" i="0" sz="1150" u="none" cap="none" strike="noStrike"/>
          </a:p>
        </p:txBody>
      </p:sp>
      <p:sp>
        <p:nvSpPr>
          <p:cNvPr id="427" name="Google Shape;427;p22"/>
          <p:cNvSpPr txBox="1"/>
          <p:nvPr/>
        </p:nvSpPr>
        <p:spPr>
          <a:xfrm>
            <a:off x="7137400" y="2463800"/>
            <a:ext cx="4064000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A bogus proxy entry breaks all browsing — sometimes left behind by malware.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Fix:</a:t>
            </a:r>
            <a:r>
              <a:rPr b="0" i="0" lang="en-US" sz="14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 Connections → LAN settings → uncheck the proxy server.</a:t>
            </a:r>
            <a:endParaRPr b="0" i="0" sz="1400" u="none" cap="none" strike="noStrike"/>
          </a:p>
        </p:txBody>
      </p:sp>
      <p:sp>
        <p:nvSpPr>
          <p:cNvPr id="428" name="Google Shape;428;p22"/>
          <p:cNvSpPr txBox="1"/>
          <p:nvPr/>
        </p:nvSpPr>
        <p:spPr>
          <a:xfrm>
            <a:off x="6858000" y="4343400"/>
            <a:ext cx="4622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Browser problems live above Layer 4.</a:t>
            </a:r>
            <a:endParaRPr b="0" i="0" sz="1450" u="none" cap="none" strike="noStrike"/>
          </a:p>
        </p:txBody>
      </p:sp>
      <p:sp>
        <p:nvSpPr>
          <p:cNvPr id="429" name="Google Shape;429;p22"/>
          <p:cNvSpPr txBox="1"/>
          <p:nvPr/>
        </p:nvSpPr>
        <p:spPr>
          <a:xfrm>
            <a:off x="6858000" y="4876800"/>
            <a:ext cx="462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If the ping ladder (Unit 02) passes, suspect DNS → proxy → browser config, in that order.</a:t>
            </a:r>
            <a:endParaRPr b="0" i="0" sz="1300" u="none" cap="none" strike="noStrike"/>
          </a:p>
        </p:txBody>
      </p:sp>
      <p:sp>
        <p:nvSpPr>
          <p:cNvPr id="430" name="Google Shape;430;p22"/>
          <p:cNvSpPr txBox="1"/>
          <p:nvPr/>
        </p:nvSpPr>
        <p:spPr>
          <a:xfrm>
            <a:off x="711200" y="59182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Myth check: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“Reset Internet settings” can't fix a cable, switch, or IP problem — run the ladder first.</a:t>
            </a:r>
            <a:endParaRPr b="0" i="0" sz="1300" u="none" cap="none" strike="noStrike"/>
          </a:p>
        </p:txBody>
      </p:sp>
      <p:sp>
        <p:nvSpPr>
          <p:cNvPr id="431" name="Google Shape;431;p22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/>
        </p:nvSpPr>
        <p:spPr>
          <a:xfrm>
            <a:off x="7620000" y="889000"/>
            <a:ext cx="3860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0" u="none" cap="none" strike="noStrike">
                <a:solidFill>
                  <a:srgbClr val="2557D6"/>
                </a:solidFill>
                <a:latin typeface="Jersey 15"/>
                <a:ea typeface="Jersey 15"/>
                <a:cs typeface="Jersey 15"/>
                <a:sym typeface="Jersey 15"/>
              </a:rPr>
              <a:t>06</a:t>
            </a:r>
            <a:endParaRPr b="0" i="0" sz="21000" u="none" cap="none" strike="noStrike"/>
          </a:p>
        </p:txBody>
      </p:sp>
      <p:sp>
        <p:nvSpPr>
          <p:cNvPr id="437" name="Google Shape;437;p23"/>
          <p:cNvSpPr/>
          <p:nvPr/>
        </p:nvSpPr>
        <p:spPr>
          <a:xfrm>
            <a:off x="10871200" y="4064000"/>
            <a:ext cx="609600" cy="431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711200" y="76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AA3F5"/>
                </a:solidFill>
                <a:latin typeface="Arial"/>
                <a:ea typeface="Arial"/>
                <a:cs typeface="Arial"/>
                <a:sym typeface="Arial"/>
              </a:rPr>
              <a:t>UNIT 06 · HELP DESK</a:t>
            </a:r>
            <a:endParaRPr b="0" i="0" sz="1200" u="none" cap="none" strike="noStrike"/>
          </a:p>
        </p:txBody>
      </p:sp>
      <p:sp>
        <p:nvSpPr>
          <p:cNvPr id="439" name="Google Shape;439;p23"/>
          <p:cNvSpPr txBox="1"/>
          <p:nvPr/>
        </p:nvSpPr>
        <p:spPr>
          <a:xfrm>
            <a:off x="711200" y="1905000"/>
            <a:ext cx="6604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LOG IT AT</a:t>
            </a:r>
            <a:endParaRPr b="0" i="0" sz="1600" u="none" cap="none" strike="noStrike"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THE HELP DESK</a:t>
            </a:r>
            <a:endParaRPr b="0" i="0" sz="1600" u="none" cap="none" strike="noStrike"/>
          </a:p>
        </p:txBody>
      </p:sp>
      <p:sp>
        <p:nvSpPr>
          <p:cNvPr id="440" name="Google Shape;440;p23"/>
          <p:cNvSpPr txBox="1"/>
          <p:nvPr/>
        </p:nvSpPr>
        <p:spPr>
          <a:xfrm>
            <a:off x="711200" y="3886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The fix isn't finished until it's written down.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Remember step 6 of the method? This unit is where “document” becomes a habit.</a:t>
            </a:r>
            <a:endParaRPr b="0" i="0" sz="1600" u="none" cap="none" strike="noStrike"/>
          </a:p>
        </p:txBody>
      </p:sp>
      <p:sp>
        <p:nvSpPr>
          <p:cNvPr id="441" name="Google Shape;441;p23"/>
          <p:cNvSpPr txBox="1"/>
          <p:nvPr/>
        </p:nvSpPr>
        <p:spPr>
          <a:xfrm>
            <a:off x="711200" y="55372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In this unit: the six-line log entry · log book vs. ticket system · clean handoffs to tier 2</a:t>
            </a:r>
            <a:endParaRPr b="0" i="0" sz="1250" u="none" cap="none" strike="noStrike"/>
          </a:p>
        </p:txBody>
      </p:sp>
      <p:sp>
        <p:nvSpPr>
          <p:cNvPr id="442" name="Google Shape;442;p23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"/>
          <p:cNvSpPr txBox="1"/>
          <p:nvPr/>
        </p:nvSpPr>
        <p:spPr>
          <a:xfrm>
            <a:off x="7112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UNIT 06 · RECORD KEEPING</a:t>
            </a:r>
            <a:endParaRPr b="0" i="0" sz="1200" u="none" cap="none" strike="noStrike"/>
          </a:p>
        </p:txBody>
      </p:sp>
      <p:sp>
        <p:nvSpPr>
          <p:cNvPr id="448" name="Google Shape;448;p24"/>
          <p:cNvSpPr txBox="1"/>
          <p:nvPr/>
        </p:nvSpPr>
        <p:spPr>
          <a:xfrm>
            <a:off x="7061200" y="5588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TROUBLESHOOTING 101</a:t>
            </a:r>
            <a:endParaRPr b="0" i="0" sz="1050" u="none" cap="none" strike="noStrike"/>
          </a:p>
        </p:txBody>
      </p:sp>
      <p:sp>
        <p:nvSpPr>
          <p:cNvPr id="449" name="Google Shape;449;p24"/>
          <p:cNvSpPr txBox="1"/>
          <p:nvPr/>
        </p:nvSpPr>
        <p:spPr>
          <a:xfrm>
            <a:off x="711200" y="889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 good log entry has six lines.</a:t>
            </a:r>
            <a:endParaRPr b="0" i="0" sz="3600" u="none" cap="none" strike="noStrike"/>
          </a:p>
        </p:txBody>
      </p:sp>
      <p:sp>
        <p:nvSpPr>
          <p:cNvPr id="450" name="Google Shape;450;p24"/>
          <p:cNvSpPr txBox="1"/>
          <p:nvPr/>
        </p:nvSpPr>
        <p:spPr>
          <a:xfrm>
            <a:off x="711200" y="1854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1 · WHO</a:t>
            </a:r>
            <a:r>
              <a:rPr b="0" i="0" lang="en-US" sz="14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who reported it, and where</a:t>
            </a:r>
            <a:endParaRPr b="0" i="0" sz="1450" u="none" cap="none" strike="noStrike"/>
          </a:p>
        </p:txBody>
      </p:sp>
      <p:sp>
        <p:nvSpPr>
          <p:cNvPr id="451" name="Google Shape;451;p24"/>
          <p:cNvSpPr txBox="1"/>
          <p:nvPr/>
        </p:nvSpPr>
        <p:spPr>
          <a:xfrm>
            <a:off x="711200" y="2413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2 · WHEN</a:t>
            </a:r>
            <a:r>
              <a:rPr b="0" i="0" lang="en-US" sz="14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date and time it happened</a:t>
            </a:r>
            <a:endParaRPr b="0" i="0" sz="1450" u="none" cap="none" strike="noStrike"/>
          </a:p>
        </p:txBody>
      </p:sp>
      <p:sp>
        <p:nvSpPr>
          <p:cNvPr id="452" name="Google Shape;452;p24"/>
          <p:cNvSpPr txBox="1"/>
          <p:nvPr/>
        </p:nvSpPr>
        <p:spPr>
          <a:xfrm>
            <a:off x="711200" y="2971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3 · SYMPTOM</a:t>
            </a:r>
            <a:r>
              <a:rPr b="0" i="0" lang="en-US" sz="14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in the user's own words</a:t>
            </a:r>
            <a:endParaRPr b="0" i="0" sz="1450" u="none" cap="none" strike="noStrike"/>
          </a:p>
        </p:txBody>
      </p:sp>
      <p:sp>
        <p:nvSpPr>
          <p:cNvPr id="453" name="Google Shape;453;p24"/>
          <p:cNvSpPr txBox="1"/>
          <p:nvPr/>
        </p:nvSpPr>
        <p:spPr>
          <a:xfrm>
            <a:off x="711200" y="353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4 · TRIED</a:t>
            </a:r>
            <a:r>
              <a:rPr b="0" i="0" lang="en-US" sz="14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every test and change you made</a:t>
            </a:r>
            <a:endParaRPr b="0" i="0" sz="1450" u="none" cap="none" strike="noStrike"/>
          </a:p>
        </p:txBody>
      </p:sp>
      <p:sp>
        <p:nvSpPr>
          <p:cNvPr id="454" name="Google Shape;454;p24"/>
          <p:cNvSpPr txBox="1"/>
          <p:nvPr/>
        </p:nvSpPr>
        <p:spPr>
          <a:xfrm>
            <a:off x="711200" y="4089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5 · RESULT</a:t>
            </a:r>
            <a:r>
              <a:rPr b="0" i="0" lang="en-US" sz="14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what each attempt did</a:t>
            </a:r>
            <a:endParaRPr b="0" i="0" sz="1450" u="none" cap="none" strike="noStrike"/>
          </a:p>
        </p:txBody>
      </p:sp>
      <p:sp>
        <p:nvSpPr>
          <p:cNvPr id="455" name="Google Shape;455;p24"/>
          <p:cNvSpPr txBox="1"/>
          <p:nvPr/>
        </p:nvSpPr>
        <p:spPr>
          <a:xfrm>
            <a:off x="711200" y="4648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6 · NEXT STEP</a:t>
            </a:r>
            <a:r>
              <a:rPr b="0" i="0" lang="en-US" sz="14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— fixed, monitoring, or escalate</a:t>
            </a:r>
            <a:endParaRPr b="0" i="0" sz="1450" u="none" cap="none" strike="noStrike"/>
          </a:p>
        </p:txBody>
      </p:sp>
      <p:sp>
        <p:nvSpPr>
          <p:cNvPr id="456" name="Google Shape;456;p24"/>
          <p:cNvSpPr/>
          <p:nvPr/>
        </p:nvSpPr>
        <p:spPr>
          <a:xfrm>
            <a:off x="6350000" y="1778000"/>
            <a:ext cx="5130800" cy="26670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4"/>
          <p:cNvSpPr txBox="1"/>
          <p:nvPr/>
        </p:nvSpPr>
        <p:spPr>
          <a:xfrm>
            <a:off x="6629400" y="19812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EXAMPLE ENTRY · ILLUSTRATIVE</a:t>
            </a:r>
            <a:endParaRPr b="0" i="0" sz="1100" u="none" cap="none" strike="noStrike"/>
          </a:p>
        </p:txBody>
      </p:sp>
      <p:sp>
        <p:nvSpPr>
          <p:cNvPr id="458" name="Google Shape;458;p24"/>
          <p:cNvSpPr txBox="1"/>
          <p:nvPr/>
        </p:nvSpPr>
        <p:spPr>
          <a:xfrm>
            <a:off x="6629400" y="2286000"/>
            <a:ext cx="4572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MAR 4 · 10:15</a:t>
            </a: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— J. Rivera, Room 204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“Wi-Fi drops every few minutes.”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Pinged gateway: OK. Pinged 8.8.8.8: drops.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Replaced patch cable at wall jack → stable 2 hrs.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Next:</a:t>
            </a:r>
            <a:r>
              <a:rPr b="0" i="0" lang="en-US" sz="13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monitor tomorrow; escalate if it recurs.</a:t>
            </a:r>
            <a:endParaRPr b="0" i="0" sz="1300" u="none" cap="none" strike="noStrike"/>
          </a:p>
        </p:txBody>
      </p:sp>
      <p:sp>
        <p:nvSpPr>
          <p:cNvPr id="459" name="Google Shape;459;p24"/>
          <p:cNvSpPr txBox="1"/>
          <p:nvPr/>
        </p:nvSpPr>
        <p:spPr>
          <a:xfrm>
            <a:off x="6350000" y="4749800"/>
            <a:ext cx="5130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 ticket system is a log book with search.</a:t>
            </a:r>
            <a:endParaRPr b="0" i="0" sz="1450" u="none" cap="none" strike="noStrike"/>
          </a:p>
        </p:txBody>
      </p:sp>
      <p:sp>
        <p:nvSpPr>
          <p:cNvPr id="460" name="Google Shape;460;p24"/>
          <p:cNvSpPr txBox="1"/>
          <p:nvPr/>
        </p:nvSpPr>
        <p:spPr>
          <a:xfrm>
            <a:off x="6350000" y="5105400"/>
            <a:ext cx="5130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Same six lines, plus fields: category, priority, status, resolution.</a:t>
            </a:r>
            <a:endParaRPr b="0" i="0" sz="1250" u="none" cap="none" strike="noStrike"/>
          </a:p>
        </p:txBody>
      </p:sp>
      <p:sp>
        <p:nvSpPr>
          <p:cNvPr id="461" name="Google Shape;461;p24"/>
          <p:cNvSpPr txBox="1"/>
          <p:nvPr/>
        </p:nvSpPr>
        <p:spPr>
          <a:xfrm>
            <a:off x="711200" y="5283200"/>
            <a:ext cx="508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Escalation etiquette: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before handing a ticket to tier 2, record everything you tried — so nobody repeats your work.</a:t>
            </a:r>
            <a:endParaRPr b="0" i="0" sz="1300" u="none" cap="none" strike="noStrike"/>
          </a:p>
        </p:txBody>
      </p:sp>
      <p:sp>
        <p:nvSpPr>
          <p:cNvPr id="462" name="Google Shape;462;p24"/>
          <p:cNvSpPr txBox="1"/>
          <p:nvPr/>
        </p:nvSpPr>
        <p:spPr>
          <a:xfrm>
            <a:off x="6350000" y="58674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Arial"/>
                <a:ea typeface="Arial"/>
                <a:cs typeface="Arial"/>
                <a:sym typeface="Arial"/>
              </a:rPr>
              <a:t>The knowledge loop:</a:t>
            </a:r>
            <a:r>
              <a:rPr b="0" i="0" lang="en-US" sz="13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 today's log entry is tomorrow's first-line fix.</a:t>
            </a:r>
            <a:endParaRPr b="0" i="0" sz="1300" u="none" cap="none" strike="noStrike"/>
          </a:p>
        </p:txBody>
      </p:sp>
      <p:sp>
        <p:nvSpPr>
          <p:cNvPr id="463" name="Google Shape;463;p24"/>
          <p:cNvSpPr txBox="1"/>
          <p:nvPr/>
        </p:nvSpPr>
        <p:spPr>
          <a:xfrm>
            <a:off x="10922000" y="6451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A726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/>
          <p:nvPr/>
        </p:nvSpPr>
        <p:spPr>
          <a:xfrm>
            <a:off x="711200" y="60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TRANSFER · YOUR FIELD KIT</a:t>
            </a:r>
            <a:endParaRPr b="0" i="0" sz="1200" u="none" cap="none" strike="noStrike"/>
          </a:p>
        </p:txBody>
      </p:sp>
      <p:sp>
        <p:nvSpPr>
          <p:cNvPr id="469" name="Google Shape;469;p25"/>
          <p:cNvSpPr txBox="1"/>
          <p:nvPr/>
        </p:nvSpPr>
        <p:spPr>
          <a:xfrm>
            <a:off x="711200" y="9652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CARRY THESE FOUR THINGS.</a:t>
            </a:r>
            <a:endParaRPr b="0" i="0" sz="4200" u="none" cap="none" strike="noStrike"/>
          </a:p>
        </p:txBody>
      </p:sp>
      <p:sp>
        <p:nvSpPr>
          <p:cNvPr id="470" name="Google Shape;470;p25"/>
          <p:cNvSpPr txBox="1"/>
          <p:nvPr/>
        </p:nvSpPr>
        <p:spPr>
          <a:xfrm>
            <a:off x="711200" y="2032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THE 6 STEPS</a:t>
            </a:r>
            <a:endParaRPr b="0" i="0" sz="1700" u="none" cap="none" strike="noStrike"/>
          </a:p>
        </p:txBody>
      </p:sp>
      <p:sp>
        <p:nvSpPr>
          <p:cNvPr id="471" name="Google Shape;471;p25"/>
          <p:cNvSpPr txBox="1"/>
          <p:nvPr/>
        </p:nvSpPr>
        <p:spPr>
          <a:xfrm>
            <a:off x="4521200" y="20574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identify → theory → test → plan → verify → document</a:t>
            </a:r>
            <a:endParaRPr b="0" i="0" sz="1400" u="none" cap="none" strike="noStrike"/>
          </a:p>
        </p:txBody>
      </p:sp>
      <p:sp>
        <p:nvSpPr>
          <p:cNvPr id="472" name="Google Shape;472;p25"/>
          <p:cNvSpPr txBox="1"/>
          <p:nvPr/>
        </p:nvSpPr>
        <p:spPr>
          <a:xfrm>
            <a:off x="711200" y="27432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THE PING LADDER</a:t>
            </a:r>
            <a:endParaRPr b="0" i="0" sz="1700" u="none" cap="none" strike="noStrike"/>
          </a:p>
        </p:txBody>
      </p:sp>
      <p:sp>
        <p:nvSpPr>
          <p:cNvPr id="473" name="Google Shape;473;p25"/>
          <p:cNvSpPr txBox="1"/>
          <p:nvPr/>
        </p:nvSpPr>
        <p:spPr>
          <a:xfrm>
            <a:off x="4521200" y="27686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127.0.0.1 → gateway → 8.8.8.8 → google.com</a:t>
            </a:r>
            <a:endParaRPr b="0" i="0" sz="1400" u="none" cap="none" strike="noStrike"/>
          </a:p>
        </p:txBody>
      </p:sp>
      <p:sp>
        <p:nvSpPr>
          <p:cNvPr id="474" name="Google Shape;474;p25"/>
          <p:cNvSpPr txBox="1"/>
          <p:nvPr/>
        </p:nvSpPr>
        <p:spPr>
          <a:xfrm>
            <a:off x="711200" y="34544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THE RUN COMMANDS</a:t>
            </a:r>
            <a:endParaRPr b="0" i="0" sz="1700" u="none" cap="none" strike="noStrike"/>
          </a:p>
        </p:txBody>
      </p:sp>
      <p:sp>
        <p:nvSpPr>
          <p:cNvPr id="475" name="Google Shape;475;p25"/>
          <p:cNvSpPr txBox="1"/>
          <p:nvPr/>
        </p:nvSpPr>
        <p:spPr>
          <a:xfrm>
            <a:off x="4521200" y="34798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cmd · services.msc · eventvwr · inetcpl.cpl (+3 more in Unit 03)</a:t>
            </a:r>
            <a:endParaRPr b="0" i="0" sz="1400" u="none" cap="none" strike="noStrike"/>
          </a:p>
        </p:txBody>
      </p:sp>
      <p:sp>
        <p:nvSpPr>
          <p:cNvPr id="476" name="Google Shape;476;p25"/>
          <p:cNvSpPr txBox="1"/>
          <p:nvPr/>
        </p:nvSpPr>
        <p:spPr>
          <a:xfrm>
            <a:off x="711200" y="41656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05A38"/>
                </a:solidFill>
                <a:latin typeface="Arial"/>
                <a:ea typeface="Arial"/>
                <a:cs typeface="Arial"/>
                <a:sym typeface="Arial"/>
              </a:rPr>
              <a:t>THE 6-LINE LOG</a:t>
            </a:r>
            <a:endParaRPr b="0" i="0" sz="1700" u="none" cap="none" strike="noStrike"/>
          </a:p>
        </p:txBody>
      </p:sp>
      <p:sp>
        <p:nvSpPr>
          <p:cNvPr id="477" name="Google Shape;477;p25"/>
          <p:cNvSpPr txBox="1"/>
          <p:nvPr/>
        </p:nvSpPr>
        <p:spPr>
          <a:xfrm>
            <a:off x="4521200" y="4191000"/>
            <a:ext cx="695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who · when · symptom · tried · result · next step</a:t>
            </a:r>
            <a:endParaRPr b="0" i="0" sz="1400" u="none" cap="none" strike="noStrike"/>
          </a:p>
        </p:txBody>
      </p:sp>
      <p:sp>
        <p:nvSpPr>
          <p:cNvPr id="478" name="Google Shape;478;p25"/>
          <p:cNvSpPr/>
          <p:nvPr/>
        </p:nvSpPr>
        <p:spPr>
          <a:xfrm>
            <a:off x="711200" y="25908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5"/>
          <p:cNvSpPr/>
          <p:nvPr/>
        </p:nvSpPr>
        <p:spPr>
          <a:xfrm>
            <a:off x="711200" y="33020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5"/>
          <p:cNvSpPr/>
          <p:nvPr/>
        </p:nvSpPr>
        <p:spPr>
          <a:xfrm>
            <a:off x="711200" y="4013200"/>
            <a:ext cx="10769600" cy="25400"/>
          </a:xfrm>
          <a:custGeom>
            <a:rect b="b" l="l" r="r" t="t"/>
            <a:pathLst>
              <a:path extrusionOk="0" h="2" w="848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cap="rnd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25"/>
          <p:cNvSpPr txBox="1"/>
          <p:nvPr/>
        </p:nvSpPr>
        <p:spPr>
          <a:xfrm>
            <a:off x="711200" y="48768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That's the whole course on one card: a method, a ladder, a toolbox, and a habit. Everything else is practice.</a:t>
            </a:r>
            <a:endParaRPr b="0" i="0" sz="1400" u="none" cap="none" strike="noStrike"/>
          </a:p>
        </p:txBody>
      </p:sp>
      <p:sp>
        <p:nvSpPr>
          <p:cNvPr id="482" name="Google Shape;482;p25"/>
          <p:cNvSpPr/>
          <p:nvPr/>
        </p:nvSpPr>
        <p:spPr>
          <a:xfrm>
            <a:off x="0" y="5867400"/>
            <a:ext cx="12192000" cy="711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711200" y="5867400"/>
            <a:ext cx="10769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Arial"/>
                <a:ea typeface="Arial"/>
                <a:cs typeface="Arial"/>
                <a:sym typeface="Arial"/>
              </a:rPr>
              <a:t>KEEP A LOG BOOK AT EVERY LAB — START THIS WEEK</a:t>
            </a:r>
            <a:endParaRPr b="0" i="0" sz="1800" u="none" cap="none" strike="noStrike"/>
          </a:p>
        </p:txBody>
      </p:sp>
      <p:sp>
        <p:nvSpPr>
          <p:cNvPr id="484" name="Google Shape;484;p25"/>
          <p:cNvSpPr txBox="1"/>
          <p:nvPr/>
        </p:nvSpPr>
        <p:spPr>
          <a:xfrm>
            <a:off x="10922000" y="6629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